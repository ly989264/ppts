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本页先建立双方的视角边界。业务侧只知道 Redis 服务地址，并感知端到端时延、错误、超时、重试和连接池等待。业务侧不知道内部的 Proxy、Shard，也不知道某一次请求落到哪个内部组件。后续排查中，客户只需要提供业务侧可见证据，内部链路由 Redis 产品侧排查人员完成还原。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这一页讲清三个指标各自承担的含义。Average 描述整体平均成本，P99 描述尾部边界，Max 描述单次极值。P99 不是孤立指标，必须和 QPS、窗口内请求数、命令类型一起看。低 QPS 场景不会凭空制造慢请求，但样本少时，一个慢命令或者一次抖动就可能成为 P99 或 Max，因此要延长窗口并按命令拆分。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P99 对业务的主要影响来自尾部请求占用连接、线程和并发额度。请求开始排队后，少量慢请求会拖住后续请求，超时又会触发重试，重试会增加进入流量，队列继续增长。排查中要同时看 offered QPS、完成 QPS、队列深度、错误、超时和重试。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业务侧端到端时延包含连接池等待、业务运行时、外部接入链路和 Redis 产品内部处理等多段成本。Redis 产品内部再拆成入口处理、排队、RPC、Shard 排队和执行。不同层的 P99 不能相加，因为它们通常来自不同请求。定位时要用分层 P99 找额外耗时在哪一段。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四个观测面分别回答不同问题。业务体验面说明客户真实感知，Proxy 面说明入口与 RPC 状态，Shard 面说明分片排队和执行，系统与网络面说明主机和链路事件。只有同一时间、同一命令、同一范围的数据才能放在一起比较。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四阶段流程的核心是先把业务侧现象固定住，再查产品监控。第一阶段要确认绝对时间、影响范围、指标口径、错误和业务变更。第二阶段查看 Redis 产品侧监控。第三阶段建立证据链和待验证项。第四阶段向客户说明事实、边界、动作和复测方式。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服务整体下钻时不要只看集群平均值。空间对比最关键：一整行变热通常指向某个入口处理范围，一整列变热通常指向某个分片处理范围，全局变热才更像整体容量或基础设施问题。热力图只是定位图，不是最终根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分析原因前先按指标形态分型。全体时延同升通常指向容量和排队。Average 正常但 P99 与 Max 升高，常见于少量慢请求、局部节点或周期事件。P99 接近 Max 且 QPS 低，要优先确认样本数。P99 下降但超时上升，要确认统计口径是否把超时请求排除在外。随后沿链路定位额外耗时边界。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回复要控制在事实、边界、动作和复测四类信息。内部组件名称可以用于工单和复盘，对客户侧要转成可验证语言。回复中不要使用绝对化判断，要说明测量边界、证据强度和后续动作。复测要保持负载、命令比例和请求规模可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品侧常见问题可以先按空间形态归类。一整列变热优先检查对应分片，一整行变热优先检查对应入口，全局同升优先检查容量和基础设施。周期尖峰、切换恢复、网络或主机抖动需要把事件时间线叠加到时延曲线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业务使用方式会影响单次请求成本和流量形态。大对象和复杂命令增加执行、编码和网络传输成本；热 Key 和数据倾斜导致局部分片排队；短连接和连接池不足会在业务端和入口处引入额外等待；大批量和 fan-out 容易等待最慢分片；短超时和高频重试会放大进入流量；集中 TTL 会造成回源和写入洪峰。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第一题的关键是样本量和命令拆分。每分钟 60 次请求时，单分钟 P99 很可能等于窗口内最慢请求。本例的慢请求来自 HGETALL 和大响应，治理动作应优先限制大范围读取和大对象返回。第二题的关键是空间定位和排队拆分。所有入口到同一分片变慢，且排队 P99 远高于执行 P99，说明主要额外耗时在局部数据处理范围的排队。客户回复应使用“局部数据处理范围出现排队”这类表述。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10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P99 TRAINING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420624" y="65836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P99 时延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20624" y="123444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从客户现象到内部定位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0624" y="1719072"/>
            <a:ext cx="2926080" cy="310896"/>
          </a:xfrm>
          <a:prstGeom prst="rect">
            <a:avLst/>
          </a:prstGeom>
          <a:solidFill>
            <a:srgbClr val="1D4ED8"/>
          </a:solidFill>
          <a:ln w="10160">
            <a:solidFill>
              <a:srgbClr val="1D4ED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一套可复用的测量、排查与沟通方法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43000" y="20299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业务侧可见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406640" y="17099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产品内部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16752" y="1828800"/>
            <a:ext cx="0" cy="3639312"/>
          </a:xfrm>
          <a:prstGeom prst="line">
            <a:avLst/>
          </a:prstGeom>
          <a:noFill/>
          <a:ln w="1524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824728" y="5449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产品边界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49808" y="2359152"/>
            <a:ext cx="1234440" cy="566928"/>
          </a:xfrm>
          <a:prstGeom prst="rect">
            <a:avLst/>
          </a:prstGeom>
          <a:solidFill>
            <a:srgbClr val="0E1E3C"/>
          </a:solidFill>
          <a:ln w="12700">
            <a:solidFill>
              <a:srgbClr val="3B82F6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业务应用 / SDK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75688" y="2514600"/>
            <a:ext cx="210312" cy="256032"/>
          </a:xfrm>
          <a:prstGeom prst="chevron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04872" y="2359152"/>
            <a:ext cx="868680" cy="566928"/>
          </a:xfrm>
          <a:prstGeom prst="rect">
            <a:avLst/>
          </a:prstGeom>
          <a:solidFill>
            <a:srgbClr val="0E1E3C"/>
          </a:solidFill>
          <a:ln w="12700">
            <a:solidFill>
              <a:srgbClr val="3B82F6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服务地址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01568" y="2514600"/>
            <a:ext cx="210312" cy="256032"/>
          </a:xfrm>
          <a:prstGeom prst="chevron">
            <a:avLst/>
          </a:prstGeom>
          <a:solidFill>
            <a:srgbClr val="96A3B7"/>
          </a:solidFill>
          <a:ln w="12700">
            <a:solidFill>
              <a:srgbClr val="96A3B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86200" y="2359152"/>
            <a:ext cx="658368" cy="566928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629400" y="1965960"/>
            <a:ext cx="960120" cy="438912"/>
          </a:xfrm>
          <a:prstGeom prst="rect">
            <a:avLst/>
          </a:prstGeom>
          <a:solidFill>
            <a:srgbClr val="231B4D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1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509760" y="1965960"/>
            <a:ext cx="960120" cy="438912"/>
          </a:xfrm>
          <a:prstGeom prst="rect">
            <a:avLst/>
          </a:prstGeom>
          <a:solidFill>
            <a:srgbClr val="231B4D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1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629400" y="2788920"/>
            <a:ext cx="960120" cy="438912"/>
          </a:xfrm>
          <a:prstGeom prst="rect">
            <a:avLst/>
          </a:prstGeom>
          <a:solidFill>
            <a:srgbClr val="231B4D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509760" y="2788920"/>
            <a:ext cx="960120" cy="438912"/>
          </a:xfrm>
          <a:prstGeom prst="rect">
            <a:avLst/>
          </a:prstGeom>
          <a:solidFill>
            <a:srgbClr val="231B4D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29400" y="3611880"/>
            <a:ext cx="960120" cy="438912"/>
          </a:xfrm>
          <a:prstGeom prst="rect">
            <a:avLst/>
          </a:prstGeom>
          <a:solidFill>
            <a:srgbClr val="231B4D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509760" y="3611880"/>
            <a:ext cx="960120" cy="438912"/>
          </a:xfrm>
          <a:prstGeom prst="rect">
            <a:avLst/>
          </a:prstGeom>
          <a:solidFill>
            <a:srgbClr val="231B4D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3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2642616"/>
            <a:ext cx="2057400" cy="-457200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7589520" y="2185416"/>
            <a:ext cx="1920240" cy="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589520" y="2185416"/>
            <a:ext cx="1920240" cy="82296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589520" y="2185416"/>
            <a:ext cx="1920240" cy="164592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4572000" y="2642616"/>
            <a:ext cx="2057400" cy="365760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589520" y="3008376"/>
            <a:ext cx="1920240" cy="-82296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7589520" y="3008376"/>
            <a:ext cx="1920240" cy="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7589520" y="3008376"/>
            <a:ext cx="1920240" cy="82296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4572000" y="2642616"/>
            <a:ext cx="2057400" cy="1188720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589520" y="3831336"/>
            <a:ext cx="1920240" cy="-164592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7589520" y="3831336"/>
            <a:ext cx="1920240" cy="-82296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7589520" y="3831336"/>
            <a:ext cx="1920240" cy="0"/>
          </a:xfrm>
          <a:prstGeom prst="line">
            <a:avLst/>
          </a:prstGeom>
          <a:noFill/>
          <a:ln w="6350">
            <a:solidFill>
              <a:srgbClr val="3B316B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420624" y="4617720"/>
            <a:ext cx="4617720" cy="713232"/>
          </a:xfrm>
          <a:prstGeom prst="roundRect">
            <a:avLst>
              <a:gd name="adj" fmla="val 10256"/>
            </a:avLst>
          </a:prstGeom>
          <a:solidFill>
            <a:srgbClr val="0D1628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5216" y="47365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业务侧能提供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585216" y="4983480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端到端时延 · 超时 · 重试 · 连接池等待 · 命令与数据规模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6446520" y="4617720"/>
            <a:ext cx="4800600" cy="713232"/>
          </a:xfrm>
          <a:prstGeom prst="roundRect">
            <a:avLst>
              <a:gd name="adj" fmla="val 10256"/>
            </a:avLst>
          </a:prstGeom>
          <a:solidFill>
            <a:srgbClr val="120F28"/>
          </a:solidFill>
          <a:ln w="12700">
            <a:solidFill>
              <a:srgbClr val="4C1D9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11112" y="473659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b="1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产品侧内部定位</a:t>
            </a:r>
            <a:endParaRPr lang="en-US" sz="760" dirty="0"/>
          </a:p>
        </p:txBody>
      </p:sp>
      <p:sp>
        <p:nvSpPr>
          <p:cNvPr id="41" name="Text 39"/>
          <p:cNvSpPr/>
          <p:nvPr/>
        </p:nvSpPr>
        <p:spPr>
          <a:xfrm>
            <a:off x="6611112" y="4983480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7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入口 · 队列 · RPC · 分片执行 · 系统与网络</a:t>
            </a:r>
            <a:endParaRPr lang="en-US" sz="870" dirty="0"/>
          </a:p>
        </p:txBody>
      </p:sp>
      <p:sp>
        <p:nvSpPr>
          <p:cNvPr id="42" name="Text 40"/>
          <p:cNvSpPr/>
          <p:nvPr/>
        </p:nvSpPr>
        <p:spPr>
          <a:xfrm>
            <a:off x="1965960" y="591616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业务侧不知道连接落到哪个 Proxy，也不知道访问哪个 Shard。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1 · 理解 P99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P99：最慢 1% 请求的边界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Average 看主体成本，P99 看尾部边界，Max 看单次极值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6217920" cy="4023360"/>
          </a:xfrm>
          <a:prstGeom prst="roundRect">
            <a:avLst>
              <a:gd name="adj" fmla="val 1818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737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P99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508760" y="17099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ms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04672" y="21214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 99% 的请求不超过 8 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6988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71016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95044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19072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67128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91156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15184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9212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63240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87268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11296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35324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59352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83380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07408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31436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55464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79492" y="260604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6988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71016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95044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719072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43100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67128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91156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15184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39212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63240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87268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11296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735324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959352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183380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07408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31436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55464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079492" y="28437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6988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271016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95044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719072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943100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167128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391156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615184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839212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63240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287268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511296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735324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959352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83380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407408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1436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855464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079492" y="308152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22960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46988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271016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495044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719072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943100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67128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91156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615184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839212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63240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287268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511296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735324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959352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183380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407408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631436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855464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079492" y="3319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22960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46988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271016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495044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719072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943100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67128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91156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615184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839212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63240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287268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1296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735324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959352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183380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407408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631436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855464" y="355701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079492" y="3557016"/>
            <a:ext cx="64008" cy="640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001082" y="2523744"/>
            <a:ext cx="0" cy="1289304"/>
          </a:xfrm>
          <a:prstGeom prst="line">
            <a:avLst/>
          </a:prstGeom>
          <a:noFill/>
          <a:ln w="13970">
            <a:solidFill>
              <a:srgbClr val="F59E0B"/>
            </a:solidFill>
            <a:prstDash val="solid"/>
            <a:headEnd type="none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348554" y="2542032"/>
            <a:ext cx="658368" cy="219456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尾部 1%</a:t>
            </a:r>
            <a:endParaRPr lang="en-US" sz="680" dirty="0"/>
          </a:p>
        </p:txBody>
      </p:sp>
      <p:sp>
        <p:nvSpPr>
          <p:cNvPr id="115" name="Text 113"/>
          <p:cNvSpPr/>
          <p:nvPr/>
        </p:nvSpPr>
        <p:spPr>
          <a:xfrm>
            <a:off x="914400" y="42519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1234440" y="4334256"/>
            <a:ext cx="4416552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17" name="Text 115"/>
          <p:cNvSpPr/>
          <p:nvPr/>
        </p:nvSpPr>
        <p:spPr>
          <a:xfrm>
            <a:off x="5715000" y="42519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7315200" y="1417320"/>
            <a:ext cx="3886200" cy="804672"/>
          </a:xfrm>
          <a:prstGeom prst="roundRect">
            <a:avLst>
              <a:gd name="adj" fmla="val 9091"/>
            </a:avLst>
          </a:prstGeom>
          <a:solidFill>
            <a:srgbClr val="0B2020"/>
          </a:solidFill>
          <a:ln w="12700">
            <a:solidFill>
              <a:srgbClr val="145A44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315200" y="1417320"/>
            <a:ext cx="3886200" cy="502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61504" y="1545336"/>
            <a:ext cx="3593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Average</a:t>
            </a:r>
            <a:endParaRPr lang="en-US" sz="1150" dirty="0"/>
          </a:p>
        </p:txBody>
      </p:sp>
      <p:sp>
        <p:nvSpPr>
          <p:cNvPr id="121" name="Text 119"/>
          <p:cNvSpPr/>
          <p:nvPr/>
        </p:nvSpPr>
        <p:spPr>
          <a:xfrm>
            <a:off x="7461504" y="1874520"/>
            <a:ext cx="359359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主体流量的平均成本</a:t>
            </a:r>
            <a:endParaRPr lang="en-US" sz="860" dirty="0"/>
          </a:p>
        </p:txBody>
      </p:sp>
      <p:sp>
        <p:nvSpPr>
          <p:cNvPr id="122" name="Shape 120"/>
          <p:cNvSpPr/>
          <p:nvPr/>
        </p:nvSpPr>
        <p:spPr>
          <a:xfrm>
            <a:off x="7315200" y="2414016"/>
            <a:ext cx="3886200" cy="804672"/>
          </a:xfrm>
          <a:prstGeom prst="roundRect">
            <a:avLst>
              <a:gd name="adj" fmla="val 9091"/>
            </a:avLst>
          </a:prstGeom>
          <a:solidFill>
            <a:srgbClr val="0A1930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315200" y="2414016"/>
            <a:ext cx="388620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61504" y="2542032"/>
            <a:ext cx="3593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P99</a:t>
            </a:r>
            <a:endParaRPr lang="en-US" sz="1150" dirty="0"/>
          </a:p>
        </p:txBody>
      </p:sp>
      <p:sp>
        <p:nvSpPr>
          <p:cNvPr id="125" name="Text 123"/>
          <p:cNvSpPr/>
          <p:nvPr/>
        </p:nvSpPr>
        <p:spPr>
          <a:xfrm>
            <a:off x="7461504" y="2871216"/>
            <a:ext cx="359359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最慢 1% 的边界</a:t>
            </a:r>
            <a:endParaRPr lang="en-US" sz="860" dirty="0"/>
          </a:p>
        </p:txBody>
      </p:sp>
      <p:sp>
        <p:nvSpPr>
          <p:cNvPr id="126" name="Shape 124"/>
          <p:cNvSpPr/>
          <p:nvPr/>
        </p:nvSpPr>
        <p:spPr>
          <a:xfrm>
            <a:off x="7315200" y="3410712"/>
            <a:ext cx="3886200" cy="804672"/>
          </a:xfrm>
          <a:prstGeom prst="roundRect">
            <a:avLst>
              <a:gd name="adj" fmla="val 9091"/>
            </a:avLst>
          </a:prstGeom>
          <a:solidFill>
            <a:srgbClr val="281319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315200" y="3410712"/>
            <a:ext cx="388620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461504" y="3538728"/>
            <a:ext cx="3593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Max</a:t>
            </a:r>
            <a:endParaRPr lang="en-US" sz="1150" dirty="0"/>
          </a:p>
        </p:txBody>
      </p:sp>
      <p:sp>
        <p:nvSpPr>
          <p:cNvPr id="129" name="Text 127"/>
          <p:cNvSpPr/>
          <p:nvPr/>
        </p:nvSpPr>
        <p:spPr>
          <a:xfrm>
            <a:off x="7461504" y="3867912"/>
            <a:ext cx="359359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窗口内最慢一次</a:t>
            </a:r>
            <a:endParaRPr lang="en-US" sz="860" dirty="0"/>
          </a:p>
        </p:txBody>
      </p:sp>
      <p:sp>
        <p:nvSpPr>
          <p:cNvPr id="130" name="Shape 128"/>
          <p:cNvSpPr/>
          <p:nvPr/>
        </p:nvSpPr>
        <p:spPr>
          <a:xfrm>
            <a:off x="7315200" y="4645152"/>
            <a:ext cx="3886200" cy="786384"/>
          </a:xfrm>
          <a:prstGeom prst="roundRect">
            <a:avLst>
              <a:gd name="adj" fmla="val 9302"/>
            </a:avLst>
          </a:prstGeom>
          <a:solidFill>
            <a:srgbClr val="2A1E0A"/>
          </a:solidFill>
          <a:ln w="12700">
            <a:solidFill>
              <a:srgbClr val="895B09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479792" y="47731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低 QPS 的特殊现象</a:t>
            </a:r>
            <a:endParaRPr lang="en-US" sz="780" dirty="0"/>
          </a:p>
        </p:txBody>
      </p:sp>
      <p:sp>
        <p:nvSpPr>
          <p:cNvPr id="132" name="Text 130"/>
          <p:cNvSpPr/>
          <p:nvPr/>
        </p:nvSpPr>
        <p:spPr>
          <a:xfrm>
            <a:off x="7479792" y="50017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低 QPS 只是让样本变少；一个慢请求更容易成为 P99 或 Max。</a:t>
            </a:r>
            <a:endParaRPr lang="en-US" sz="830" dirty="0"/>
          </a:p>
        </p:txBody>
      </p:sp>
      <p:sp>
        <p:nvSpPr>
          <p:cNvPr id="133" name="Shape 131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P99 要和 Average、Max、QPS、样本量放在同一窗口内解读。</a:t>
            </a:r>
            <a:endParaRPr lang="en-US" sz="750" dirty="0"/>
          </a:p>
        </p:txBody>
      </p:sp>
      <p:sp>
        <p:nvSpPr>
          <p:cNvPr id="135" name="Text 133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1 · 理解 P99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排队会把局部抖动放大成广泛超时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少量慢请求长期占用连接和并发额度，队列会放大尾时延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5669280" cy="4434840"/>
          </a:xfrm>
          <a:prstGeom prst="roundRect">
            <a:avLst>
              <a:gd name="adj" fmla="val 1649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276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排队放大链路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121408"/>
            <a:ext cx="2103120" cy="310896"/>
          </a:xfrm>
          <a:prstGeom prst="rect">
            <a:avLst/>
          </a:prstGeom>
          <a:solidFill>
            <a:srgbClr val="2B2109"/>
          </a:solidFill>
          <a:ln w="1270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慢请求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1901952" y="244144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651760"/>
            <a:ext cx="2103120" cy="310896"/>
          </a:xfrm>
          <a:prstGeom prst="rect">
            <a:avLst/>
          </a:prstGeom>
          <a:solidFill>
            <a:srgbClr val="2B2109"/>
          </a:solidFill>
          <a:ln w="1270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并发占用增加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1901952" y="297180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182112"/>
            <a:ext cx="2103120" cy="310896"/>
          </a:xfrm>
          <a:prstGeom prst="rect">
            <a:avLst/>
          </a:prstGeom>
          <a:solidFill>
            <a:srgbClr val="2B2109"/>
          </a:solidFill>
          <a:ln w="1270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队列增长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1901952" y="3502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712464"/>
            <a:ext cx="2103120" cy="310896"/>
          </a:xfrm>
          <a:prstGeom prst="rect">
            <a:avLst/>
          </a:prstGeom>
          <a:solidFill>
            <a:srgbClr val="2B1116"/>
          </a:solidFill>
          <a:ln w="12700">
            <a:solidFill>
              <a:srgbClr val="EF444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超时 / 重试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1901952" y="403250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4242816"/>
            <a:ext cx="2103120" cy="310896"/>
          </a:xfrm>
          <a:prstGeom prst="rect">
            <a:avLst/>
          </a:prstGeom>
          <a:solidFill>
            <a:srgbClr val="2B1116"/>
          </a:solidFill>
          <a:ln w="12700">
            <a:solidFill>
              <a:srgbClr val="EF444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进入流量增加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1901952" y="45628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773168"/>
            <a:ext cx="2103120" cy="310896"/>
          </a:xfrm>
          <a:prstGeom prst="rect">
            <a:avLst/>
          </a:prstGeom>
          <a:solidFill>
            <a:srgbClr val="2B1116"/>
          </a:solidFill>
          <a:ln w="1270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队列继续增长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3429000" y="21396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22D3E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核心信号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2450592"/>
            <a:ext cx="2240280" cy="292608"/>
          </a:xfrm>
          <a:prstGeom prst="rect">
            <a:avLst/>
          </a:prstGeom>
          <a:solidFill>
            <a:srgbClr val="14243F"/>
          </a:solidFill>
          <a:ln w="10160">
            <a:solidFill>
              <a:srgbClr val="22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22D3E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Offered QPS &gt; 完成 QPS</a:t>
            </a:r>
            <a:endParaRPr lang="en-US" sz="740" dirty="0"/>
          </a:p>
        </p:txBody>
      </p:sp>
      <p:sp>
        <p:nvSpPr>
          <p:cNvPr id="24" name="Text 22"/>
          <p:cNvSpPr/>
          <p:nvPr/>
        </p:nvSpPr>
        <p:spPr>
          <a:xfrm>
            <a:off x="3429000" y="2980944"/>
            <a:ext cx="2240280" cy="292608"/>
          </a:xfrm>
          <a:prstGeom prst="rect">
            <a:avLst/>
          </a:prstGeom>
          <a:solidFill>
            <a:srgbClr val="221C10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队列深度持续增长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3429000" y="3511296"/>
            <a:ext cx="2240280" cy="292608"/>
          </a:xfrm>
          <a:prstGeom prst="rect">
            <a:avLst/>
          </a:prstGeom>
          <a:solidFill>
            <a:srgbClr val="221C10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 / 超时 / 重试同步上升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3401568" y="4251960"/>
            <a:ext cx="2331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执行时延没有明显变长时，排队仍然能让端到端 P99 快速恶化。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446520" y="1417320"/>
            <a:ext cx="5230368" cy="4434840"/>
          </a:xfrm>
          <a:prstGeom prst="roundRect">
            <a:avLst>
              <a:gd name="adj" fmla="val 1649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9984" y="16276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队列增长时，P99 同步抬升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903720" y="4736592"/>
            <a:ext cx="4343400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6903720" y="4736592"/>
            <a:ext cx="0" cy="-260604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8412480" y="49011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时间 / 压力窗口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766560" y="190195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队列 / P99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232904" y="4535424"/>
            <a:ext cx="274320" cy="201168"/>
          </a:xfrm>
          <a:prstGeom prst="rect">
            <a:avLst/>
          </a:prstGeom>
          <a:solidFill>
            <a:srgbClr val="1D4ED8">
              <a:alpha val="85000"/>
            </a:srgbClr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71816" y="4480560"/>
            <a:ext cx="274320" cy="256032"/>
          </a:xfrm>
          <a:prstGeom prst="rect">
            <a:avLst/>
          </a:prstGeom>
          <a:solidFill>
            <a:srgbClr val="1D4ED8">
              <a:alpha val="85000"/>
            </a:srgbClr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10728" y="4443984"/>
            <a:ext cx="274320" cy="292608"/>
          </a:xfrm>
          <a:prstGeom prst="rect">
            <a:avLst/>
          </a:prstGeom>
          <a:solidFill>
            <a:srgbClr val="1D4ED8">
              <a:alpha val="85000"/>
            </a:srgbClr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549640" y="4297680"/>
            <a:ext cx="274320" cy="4389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988552" y="4078224"/>
            <a:ext cx="27432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27464" y="3749040"/>
            <a:ext cx="274320" cy="9875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866376" y="3319272"/>
            <a:ext cx="27432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305288" y="2743200"/>
            <a:ext cx="274320" cy="19933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370064" y="4535424"/>
            <a:ext cx="438912" cy="-18288"/>
          </a:xfrm>
          <a:prstGeom prst="line">
            <a:avLst/>
          </a:prstGeom>
          <a:noFill/>
          <a:ln w="20320">
            <a:solidFill>
              <a:srgbClr val="EF4444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7808976" y="4517136"/>
            <a:ext cx="438912" cy="-54864"/>
          </a:xfrm>
          <a:prstGeom prst="line">
            <a:avLst/>
          </a:prstGeom>
          <a:noFill/>
          <a:ln w="20320">
            <a:solidFill>
              <a:srgbClr val="EF4444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247888" y="4462272"/>
            <a:ext cx="438912" cy="-164592"/>
          </a:xfrm>
          <a:prstGeom prst="line">
            <a:avLst/>
          </a:prstGeom>
          <a:noFill/>
          <a:ln w="20320">
            <a:solidFill>
              <a:srgbClr val="EF4444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8686800" y="4297680"/>
            <a:ext cx="438912" cy="-292608"/>
          </a:xfrm>
          <a:prstGeom prst="line">
            <a:avLst/>
          </a:prstGeom>
          <a:noFill/>
          <a:ln w="20320">
            <a:solidFill>
              <a:srgbClr val="EF4444"/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125712" y="4005072"/>
            <a:ext cx="438912" cy="-411480"/>
          </a:xfrm>
          <a:prstGeom prst="line">
            <a:avLst/>
          </a:prstGeom>
          <a:noFill/>
          <a:ln w="20320">
            <a:solidFill>
              <a:srgbClr val="EF4444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9564624" y="3593592"/>
            <a:ext cx="438912" cy="-594360"/>
          </a:xfrm>
          <a:prstGeom prst="line">
            <a:avLst/>
          </a:prstGeom>
          <a:noFill/>
          <a:ln w="20320">
            <a:solidFill>
              <a:srgbClr val="EF4444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0003536" y="2999232"/>
            <a:ext cx="438912" cy="-658368"/>
          </a:xfrm>
          <a:prstGeom prst="line">
            <a:avLst/>
          </a:prstGeom>
          <a:noFill/>
          <a:ln w="20320">
            <a:solidFill>
              <a:srgbClr val="EF4444"/>
            </a:solidFill>
            <a:prstDash val="solid"/>
            <a:headEnd type="none"/>
            <a:tailEnd type="none"/>
          </a:ln>
        </p:spPr>
      </p:sp>
      <p:sp>
        <p:nvSpPr>
          <p:cNvPr id="48" name="Text 46"/>
          <p:cNvSpPr/>
          <p:nvPr/>
        </p:nvSpPr>
        <p:spPr>
          <a:xfrm>
            <a:off x="7315200" y="2313432"/>
            <a:ext cx="731520" cy="219456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队列长度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138160" y="2313432"/>
            <a:ext cx="457200" cy="219456"/>
          </a:xfrm>
          <a:prstGeom prst="rect">
            <a:avLst/>
          </a:prstGeom>
          <a:solidFill>
            <a:srgbClr val="EF4444"/>
          </a:solidFill>
          <a:ln w="10160">
            <a:solidFill>
              <a:srgbClr val="EF444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P99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6812280" y="5239512"/>
            <a:ext cx="4251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结论：P99 突然恶化时，先确认队列和重试是否在同一窗口上升。</a:t>
            </a:r>
            <a:endParaRPr lang="en-US" sz="840" dirty="0"/>
          </a:p>
        </p:txBody>
      </p:sp>
      <p:sp>
        <p:nvSpPr>
          <p:cNvPr id="51" name="Shape 49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判断尾时延时，必须同时看错误、超时、重试和队列。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2 · P99 的测量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同一个请求，需要测量多段时延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业务端到端反映体验；Proxy、RPC、Shard 用于定位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11183112" cy="4526280"/>
          </a:xfrm>
          <a:prstGeom prst="roundRect">
            <a:avLst>
              <a:gd name="adj" fmla="val 1616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73352"/>
            <a:ext cx="1828800" cy="256032"/>
          </a:xfrm>
          <a:prstGeom prst="rect">
            <a:avLst/>
          </a:prstGeom>
          <a:solidFill>
            <a:srgbClr val="1D4ED8"/>
          </a:solidFill>
          <a:ln w="10160">
            <a:solidFill>
              <a:srgbClr val="1D4ED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业务侧端到端测量范围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914400" y="2011680"/>
            <a:ext cx="992124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86968" y="1965960"/>
            <a:ext cx="4572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808208" y="1965960"/>
            <a:ext cx="4572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4754880"/>
            <a:ext cx="1828800" cy="256032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产品内部测量范围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4434840" y="4526280"/>
            <a:ext cx="539496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841248" y="2468880"/>
            <a:ext cx="960120" cy="694944"/>
          </a:xfrm>
          <a:prstGeom prst="rect">
            <a:avLst/>
          </a:prstGeom>
          <a:solidFill>
            <a:srgbClr val="0D1B34"/>
          </a:solidFill>
          <a:ln w="12700">
            <a:solidFill>
              <a:srgbClr val="1D4ED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连接池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等待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1874520" y="2697480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48840" y="2468880"/>
            <a:ext cx="960120" cy="694944"/>
          </a:xfrm>
          <a:prstGeom prst="rect">
            <a:avLst/>
          </a:prstGeom>
          <a:solidFill>
            <a:srgbClr val="0D1B34"/>
          </a:solidFill>
          <a:ln w="12700">
            <a:solidFill>
              <a:srgbClr val="1D4ED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外部网络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/ LB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3182112" y="2697480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56432" y="2468880"/>
            <a:ext cx="960120" cy="694944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489704" y="2697480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64024" y="2468880"/>
            <a:ext cx="960120" cy="694944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处理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5797296" y="2697480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71616" y="2468880"/>
            <a:ext cx="960120" cy="694944"/>
          </a:xfrm>
          <a:prstGeom prst="rect">
            <a:avLst/>
          </a:prstGeom>
          <a:solidFill>
            <a:srgbClr val="082F39"/>
          </a:solidFill>
          <a:ln w="12700">
            <a:solidFill>
              <a:srgbClr val="22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RPC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104888" y="2697480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79208" y="2468880"/>
            <a:ext cx="960120" cy="694944"/>
          </a:xfrm>
          <a:prstGeom prst="rect">
            <a:avLst/>
          </a:prstGeom>
          <a:solidFill>
            <a:srgbClr val="2B2109"/>
          </a:solidFill>
          <a:ln w="1270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412480" y="2697480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0" y="2468880"/>
            <a:ext cx="960120" cy="694944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9720072" y="2697480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94392" y="2468880"/>
            <a:ext cx="960120" cy="694944"/>
          </a:xfrm>
          <a:prstGeom prst="rect">
            <a:avLst/>
          </a:prstGeom>
          <a:solidFill>
            <a:srgbClr val="171530"/>
          </a:solidFill>
          <a:ln w="1270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响应</a:t>
            </a:r>
            <a:endParaRPr lang="en-US" sz="8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返回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3456432" y="3520440"/>
            <a:ext cx="1417320" cy="237744"/>
          </a:xfrm>
          <a:prstGeom prst="rect">
            <a:avLst/>
          </a:prstGeom>
          <a:solidFill>
            <a:srgbClr val="392466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总时延</a:t>
            </a:r>
            <a:endParaRPr lang="en-US" sz="680" dirty="0"/>
          </a:p>
        </p:txBody>
      </p:sp>
      <p:sp>
        <p:nvSpPr>
          <p:cNvPr id="32" name="Shape 30"/>
          <p:cNvSpPr/>
          <p:nvPr/>
        </p:nvSpPr>
        <p:spPr>
          <a:xfrm>
            <a:off x="3502152" y="3401568"/>
            <a:ext cx="2176272" cy="0"/>
          </a:xfrm>
          <a:prstGeom prst="line">
            <a:avLst/>
          </a:prstGeom>
          <a:noFill/>
          <a:ln w="16510">
            <a:solidFill>
              <a:srgbClr val="7C3AED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6163056" y="3520440"/>
            <a:ext cx="1188720" cy="237744"/>
          </a:xfrm>
          <a:prstGeom prst="rect">
            <a:avLst/>
          </a:prstGeom>
          <a:solidFill>
            <a:srgbClr val="083344"/>
          </a:solidFill>
          <a:ln w="10160">
            <a:solidFill>
              <a:srgbClr val="22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22D3E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↔ Shard RPC</a:t>
            </a:r>
            <a:endParaRPr lang="en-US" sz="680" dirty="0"/>
          </a:p>
        </p:txBody>
      </p:sp>
      <p:sp>
        <p:nvSpPr>
          <p:cNvPr id="34" name="Shape 32"/>
          <p:cNvSpPr/>
          <p:nvPr/>
        </p:nvSpPr>
        <p:spPr>
          <a:xfrm>
            <a:off x="6117336" y="3401568"/>
            <a:ext cx="868680" cy="0"/>
          </a:xfrm>
          <a:prstGeom prst="line">
            <a:avLst/>
          </a:prstGeom>
          <a:noFill/>
          <a:ln w="16510">
            <a:solidFill>
              <a:srgbClr val="22D3EE"/>
            </a:solidFill>
            <a:prstDash val="solid"/>
            <a:headEnd type="none"/>
            <a:tailEnd type="none"/>
          </a:ln>
        </p:spPr>
      </p:sp>
      <p:sp>
        <p:nvSpPr>
          <p:cNvPr id="35" name="Text 33"/>
          <p:cNvSpPr/>
          <p:nvPr/>
        </p:nvSpPr>
        <p:spPr>
          <a:xfrm>
            <a:off x="7690104" y="3520440"/>
            <a:ext cx="1417320" cy="237744"/>
          </a:xfrm>
          <a:prstGeom prst="rect">
            <a:avLst/>
          </a:prstGeom>
          <a:solidFill>
            <a:srgbClr val="2B2109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Shard：排队 + 执行</a:t>
            </a:r>
            <a:endParaRPr lang="en-US" sz="680" dirty="0"/>
          </a:p>
        </p:txBody>
      </p:sp>
      <p:sp>
        <p:nvSpPr>
          <p:cNvPr id="36" name="Shape 34"/>
          <p:cNvSpPr/>
          <p:nvPr/>
        </p:nvSpPr>
        <p:spPr>
          <a:xfrm>
            <a:off x="7424928" y="3401568"/>
            <a:ext cx="2176272" cy="0"/>
          </a:xfrm>
          <a:prstGeom prst="line">
            <a:avLst/>
          </a:prstGeom>
          <a:noFill/>
          <a:ln w="16510">
            <a:solidFill>
              <a:srgbClr val="F59E0B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1874520" y="5166360"/>
            <a:ext cx="4206240" cy="310896"/>
          </a:xfrm>
          <a:prstGeom prst="rect">
            <a:avLst/>
          </a:prstGeom>
          <a:solidFill>
            <a:srgbClr val="2A1118"/>
          </a:solidFill>
          <a:ln w="12700">
            <a:solidFill>
              <a:srgbClr val="7F1D1D"/>
            </a:solidFill>
          </a:ln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P99 + Shard P99  ≠  端到端 P99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55080" y="51846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不同层的 P99 往往来自不同请求；分层 P99 只用于定位。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端到端 P99 直接从端到端分布计算；分层 P99 只用于定位。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2 · P99 的测量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四个观测面，覆盖完整时延链路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同一故障窗口内，四个观测面必须一起看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1508760"/>
            <a:ext cx="4800600" cy="1664208"/>
          </a:xfrm>
          <a:prstGeom prst="roundRect">
            <a:avLst>
              <a:gd name="adj" fmla="val 4396"/>
            </a:avLst>
          </a:prstGeom>
          <a:solidFill>
            <a:srgbClr val="0D1B34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508760"/>
            <a:ext cx="480060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7373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业务体验面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05256" y="21762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21305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端到端时延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905256" y="24688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24231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连接池等待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05256" y="2761488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271576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 / 超时 / 重试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6793992" y="1508760"/>
            <a:ext cx="4800600" cy="1664208"/>
          </a:xfrm>
          <a:prstGeom prst="roundRect">
            <a:avLst>
              <a:gd name="adj" fmla="val 4396"/>
            </a:avLst>
          </a:prstGeom>
          <a:solidFill>
            <a:srgbClr val="17153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93992" y="1508760"/>
            <a:ext cx="480060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50024" y="17373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面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104888" y="2176272"/>
            <a:ext cx="64008" cy="640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1305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104888" y="2468880"/>
            <a:ext cx="64008" cy="640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4231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本地处理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7104888" y="2761488"/>
            <a:ext cx="64008" cy="640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71576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到各 Shard 的 RPC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94360" y="3703320"/>
            <a:ext cx="4800600" cy="1664208"/>
          </a:xfrm>
          <a:prstGeom prst="roundRect">
            <a:avLst>
              <a:gd name="adj" fmla="val 4396"/>
            </a:avLst>
          </a:prstGeom>
          <a:solidFill>
            <a:srgbClr val="17153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703320"/>
            <a:ext cx="480060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0392" y="3931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面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5256" y="4370832"/>
            <a:ext cx="64008" cy="640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9848" y="432511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排队与执行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905256" y="4663440"/>
            <a:ext cx="64008" cy="640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9848" y="46177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命令 / Key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905256" y="4956048"/>
            <a:ext cx="64008" cy="640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491032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后台任务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6793992" y="3703320"/>
            <a:ext cx="4800600" cy="1664208"/>
          </a:xfrm>
          <a:prstGeom prst="roundRect">
            <a:avLst>
              <a:gd name="adj" fmla="val 4396"/>
            </a:avLst>
          </a:prstGeom>
          <a:solidFill>
            <a:srgbClr val="2119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93992" y="3703320"/>
            <a:ext cx="48006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50024" y="393192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系统与网络面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104888" y="4370832"/>
            <a:ext cx="64008" cy="640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69480" y="432511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CPU 限流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7104888" y="4663440"/>
            <a:ext cx="64008" cy="640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69480" y="46177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重传 / 带宽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7104888" y="4956048"/>
            <a:ext cx="64008" cy="640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69480" y="491032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磁盘 / 内存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5504688" y="2926080"/>
            <a:ext cx="1152144" cy="1152144"/>
          </a:xfrm>
          <a:prstGeom prst="ellipse">
            <a:avLst/>
          </a:prstGeom>
          <a:solidFill>
            <a:srgbClr val="111D32"/>
          </a:solidFill>
          <a:ln w="15240">
            <a:solidFill>
              <a:srgbClr val="33415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28" y="3127248"/>
            <a:ext cx="969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同一时间</a:t>
            </a:r>
            <a:endParaRPr lang="en-US" sz="9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同一命令</a:t>
            </a:r>
            <a:endParaRPr lang="en-US" sz="9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同一范围</a:t>
            </a:r>
            <a:endParaRPr lang="en-US" sz="980" dirty="0"/>
          </a:p>
        </p:txBody>
      </p:sp>
      <p:sp>
        <p:nvSpPr>
          <p:cNvPr id="47" name="Shape 45"/>
          <p:cNvSpPr/>
          <p:nvPr/>
        </p:nvSpPr>
        <p:spPr>
          <a:xfrm>
            <a:off x="5394960" y="3108960"/>
            <a:ext cx="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5394960" y="3383280"/>
            <a:ext cx="0" cy="0"/>
          </a:xfrm>
          <a:prstGeom prst="line">
            <a:avLst/>
          </a:prstGeom>
          <a:noFill/>
          <a:ln w="635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业务侧提供可见证据；Redis 产品侧补齐内部三个观测面。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3 · 排查流程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P99 排查固定为四个阶段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顺序固定，可以减少时间错位、口径混用和提前归因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1874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0D1B34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98448" y="2103120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确认时间与现象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1298448" y="254203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输出：故障信息卡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3136392" y="2459736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1874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4448" y="2103120"/>
            <a:ext cx="384048" cy="384048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0" y="2103120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查看产品监控</a:t>
            </a:r>
            <a:endParaRPr lang="en-US" sz="1130" dirty="0"/>
          </a:p>
        </p:txBody>
      </p:sp>
      <p:sp>
        <p:nvSpPr>
          <p:cNvPr id="17" name="Text 15"/>
          <p:cNvSpPr/>
          <p:nvPr/>
        </p:nvSpPr>
        <p:spPr>
          <a:xfrm>
            <a:off x="4114800" y="254203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输出：异常节点与事件图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5952744" y="2459736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99632" y="1874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1118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103120"/>
            <a:ext cx="384048" cy="384048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31152" y="2103120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分析原因 / 定位边界</a:t>
            </a:r>
            <a:endParaRPr lang="en-US" sz="1130" dirty="0"/>
          </a:p>
        </p:txBody>
      </p:sp>
      <p:sp>
        <p:nvSpPr>
          <p:cNvPr id="22" name="Text 20"/>
          <p:cNvSpPr/>
          <p:nvPr/>
        </p:nvSpPr>
        <p:spPr>
          <a:xfrm>
            <a:off x="6931152" y="254203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输出：证据链 + 待验证项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8769096" y="2459736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15984" y="187452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0A231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2103120"/>
            <a:ext cx="384048" cy="384048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747504" y="2103120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回复 / 澄清 / 复测</a:t>
            </a:r>
            <a:endParaRPr lang="en-US" sz="1130" dirty="0"/>
          </a:p>
        </p:txBody>
      </p:sp>
      <p:sp>
        <p:nvSpPr>
          <p:cNvPr id="27" name="Text 25"/>
          <p:cNvSpPr/>
          <p:nvPr/>
        </p:nvSpPr>
        <p:spPr>
          <a:xfrm>
            <a:off x="9747504" y="254203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输出：动作 + 闭环结论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621792" y="4069080"/>
            <a:ext cx="10972800" cy="1170432"/>
          </a:xfrm>
          <a:prstGeom prst="roundRect">
            <a:avLst>
              <a:gd name="adj" fmla="val 6250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42976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向客户确认的信息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96112" y="4709160"/>
            <a:ext cx="1417320" cy="310896"/>
          </a:xfrm>
          <a:prstGeom prst="rect">
            <a:avLst/>
          </a:prstGeom>
          <a:solidFill>
            <a:srgbClr val="14243F"/>
          </a:solidFill>
          <a:ln w="10160">
            <a:solidFill>
              <a:srgbClr val="22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22D3E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绝对时间 / 时区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2478024" y="4709160"/>
            <a:ext cx="960120" cy="310896"/>
          </a:xfrm>
          <a:prstGeom prst="rect">
            <a:avLst/>
          </a:prstGeom>
          <a:solidFill>
            <a:srgbClr val="14243F"/>
          </a:solidFill>
          <a:ln w="10160">
            <a:solidFill>
              <a:srgbClr val="22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22D3E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影响范围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3602736" y="4709160"/>
            <a:ext cx="1993392" cy="310896"/>
          </a:xfrm>
          <a:prstGeom prst="rect">
            <a:avLst/>
          </a:prstGeom>
          <a:solidFill>
            <a:srgbClr val="2119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Average / P99 / Max / QPS</a:t>
            </a:r>
            <a:endParaRPr lang="en-US" sz="740" dirty="0"/>
          </a:p>
        </p:txBody>
      </p:sp>
      <p:sp>
        <p:nvSpPr>
          <p:cNvPr id="33" name="Text 31"/>
          <p:cNvSpPr/>
          <p:nvPr/>
        </p:nvSpPr>
        <p:spPr>
          <a:xfrm>
            <a:off x="5760720" y="4709160"/>
            <a:ext cx="1508760" cy="310896"/>
          </a:xfrm>
          <a:prstGeom prst="rect">
            <a:avLst/>
          </a:prstGeom>
          <a:solidFill>
            <a:srgbClr val="2119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 / 超时 / 重试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7434072" y="4709160"/>
            <a:ext cx="1417320" cy="310896"/>
          </a:xfrm>
          <a:prstGeom prst="rect">
            <a:avLst/>
          </a:prstGeom>
          <a:solidFill>
            <a:srgbClr val="231B4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命令 / 数据规模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9015984" y="4709160"/>
            <a:ext cx="987552" cy="310896"/>
          </a:xfrm>
          <a:prstGeom prst="rect">
            <a:avLst/>
          </a:prstGeom>
          <a:solidFill>
            <a:srgbClr val="231B4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业务变更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651760" y="5559552"/>
            <a:ext cx="6949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业务侧不知道 Proxy、Shard 或内部节点信息；内部定位由 Redis 产品侧完成。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四阶段：确认现象 → 查看监控 → 定位边界 → 回复复测。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3 · 排查流程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从服务整体下钻到 Proxy、Shard 和系统事件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集群平均值只能提供入口线索，定位依赖空间对比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3886200" cy="4526280"/>
          </a:xfrm>
          <a:prstGeom prst="roundRect">
            <a:avLst>
              <a:gd name="adj" fmla="val 1882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64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下钻路径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066544"/>
            <a:ext cx="2907792" cy="329184"/>
          </a:xfrm>
          <a:prstGeom prst="rect">
            <a:avLst/>
          </a:prstGeom>
          <a:solidFill>
            <a:srgbClr val="0D1B34"/>
          </a:solidFill>
          <a:ln w="12700">
            <a:solidFill>
              <a:srgbClr val="3B82F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服务整体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33272" y="243230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P99 / QPS / 错误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1069848" y="2779776"/>
            <a:ext cx="2907792" cy="329184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 Proxy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234440" y="31455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 / 本地处理 / RPC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1271016" y="3493008"/>
            <a:ext cx="2907792" cy="329184"/>
          </a:xfrm>
          <a:prstGeom prst="rect">
            <a:avLst/>
          </a:prstGeom>
          <a:solidFill>
            <a:srgbClr val="2B2109"/>
          </a:solidFill>
          <a:ln w="12700">
            <a:solidFill>
              <a:srgbClr val="F59E0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 Shard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35608" y="3858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 / 执行 / 资源</a:t>
            </a:r>
            <a:endParaRPr lang="en-US" sz="760" dirty="0"/>
          </a:p>
        </p:txBody>
      </p:sp>
      <p:sp>
        <p:nvSpPr>
          <p:cNvPr id="17" name="Text 15"/>
          <p:cNvSpPr/>
          <p:nvPr/>
        </p:nvSpPr>
        <p:spPr>
          <a:xfrm>
            <a:off x="1472184" y="4206240"/>
            <a:ext cx="2907792" cy="329184"/>
          </a:xfrm>
          <a:prstGeom prst="rect">
            <a:avLst/>
          </a:prstGeom>
          <a:solidFill>
            <a:srgbClr val="0B2A22"/>
          </a:solidFill>
          <a:ln w="12700">
            <a:solidFill>
              <a:srgbClr val="10B981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命令 / Key / 事件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36776" y="45720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命令占比 / 热点 / 后台任务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4709160" y="1417320"/>
            <a:ext cx="6976872" cy="4526280"/>
          </a:xfrm>
          <a:prstGeom prst="roundRect">
            <a:avLst>
              <a:gd name="adj" fmla="val 1616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166420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产品内部视图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25712" y="1645920"/>
            <a:ext cx="1783080" cy="237744"/>
          </a:xfrm>
          <a:prstGeom prst="rect">
            <a:avLst/>
          </a:prstGeom>
          <a:solidFill>
            <a:srgbClr val="231B4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× Shard 时延热力图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007608" y="1947672"/>
            <a:ext cx="75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1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6766560" y="1947672"/>
            <a:ext cx="75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2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7525512" y="1947672"/>
            <a:ext cx="75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3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8284464" y="1947672"/>
            <a:ext cx="75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4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5230368" y="22402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1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230368" y="26426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2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5230368" y="30449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3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5230368" y="3447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8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4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6007608" y="2240280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766560" y="2240280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525512" y="2240280"/>
            <a:ext cx="722376" cy="356616"/>
          </a:xfrm>
          <a:prstGeom prst="rect">
            <a:avLst/>
          </a:prstGeom>
          <a:solidFill>
            <a:srgbClr val="F59E0B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40 ms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84464" y="2240280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007608" y="2642616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766560" y="2642616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ms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525512" y="2642616"/>
            <a:ext cx="722376" cy="356616"/>
          </a:xfrm>
          <a:prstGeom prst="rect">
            <a:avLst/>
          </a:prstGeom>
          <a:solidFill>
            <a:srgbClr val="EF4444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42 ms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84464" y="2642616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007608" y="3044952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766560" y="3044952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7525512" y="3044952"/>
            <a:ext cx="722376" cy="356616"/>
          </a:xfrm>
          <a:prstGeom prst="rect">
            <a:avLst/>
          </a:prstGeom>
          <a:solidFill>
            <a:srgbClr val="F59E0B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39 ms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8284464" y="3044952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ms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007608" y="3447288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ms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766560" y="3447288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525512" y="3447288"/>
            <a:ext cx="722376" cy="356616"/>
          </a:xfrm>
          <a:prstGeom prst="rect">
            <a:avLst/>
          </a:prstGeom>
          <a:solidFill>
            <a:srgbClr val="F59E0B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41 ms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8284464" y="3447288"/>
            <a:ext cx="722376" cy="356616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ms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488936" y="2194560"/>
            <a:ext cx="758952" cy="1609344"/>
          </a:xfrm>
          <a:prstGeom prst="rect">
            <a:avLst/>
          </a:prstGeom>
          <a:solidFill>
            <a:srgbClr val="F59E0B">
              <a:alpha val="0"/>
            </a:srgbClr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0" y="233172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一整列变热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144000" y="267004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多个 Proxy 到</a:t>
            </a:r>
            <a:endParaRPr lang="en-US" sz="8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 Shard 同时变慢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9098280" y="3337560"/>
            <a:ext cx="2148840" cy="292608"/>
          </a:xfrm>
          <a:prstGeom prst="rect">
            <a:avLst/>
          </a:prstGeom>
          <a:solidFill>
            <a:srgbClr val="2B2109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优先检查：热点 / 数据倾斜 / 节点资源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696712" y="516636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行热 → Proxy ｜ 列热 → Shard ｜ 全局热 → 集群 / 基础设施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服务整体正常时，局部节点仍可能严重退化。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3 · 排查流程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先按指标形态分型，再定位额外耗时边界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先判断问题形态，再沿请求链路缩小范围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4617720" cy="4526280"/>
          </a:xfrm>
          <a:prstGeom prst="roundRect">
            <a:avLst>
              <a:gd name="adj" fmla="val 1616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642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指标形态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" y="2011680"/>
            <a:ext cx="3977640" cy="621792"/>
          </a:xfrm>
          <a:prstGeom prst="roundRect">
            <a:avLst>
              <a:gd name="adj" fmla="val 1176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176272"/>
            <a:ext cx="841248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全体抬升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920240" y="213055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P50 ↑   Avg ↑   P99 ↑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20240" y="23774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排队、容量、系统级事件</a:t>
            </a:r>
            <a:endParaRPr lang="en-US" sz="730" dirty="0"/>
          </a:p>
        </p:txBody>
      </p:sp>
      <p:sp>
        <p:nvSpPr>
          <p:cNvPr id="15" name="Shape 13"/>
          <p:cNvSpPr/>
          <p:nvPr/>
        </p:nvSpPr>
        <p:spPr>
          <a:xfrm>
            <a:off x="804672" y="2852928"/>
            <a:ext cx="3977640" cy="621792"/>
          </a:xfrm>
          <a:prstGeom prst="roundRect">
            <a:avLst>
              <a:gd name="adj" fmla="val 11765"/>
            </a:avLst>
          </a:prstGeom>
          <a:solidFill>
            <a:srgbClr val="0D1628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017520"/>
            <a:ext cx="841248" cy="256032"/>
          </a:xfrm>
          <a:prstGeom prst="rect">
            <a:avLst/>
          </a:prstGeom>
          <a:solidFill>
            <a:srgbClr val="EF4444"/>
          </a:solidFill>
          <a:ln w="10160">
            <a:solidFill>
              <a:srgbClr val="EF444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尾部变差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920240" y="297180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Avg →   P99 ↑   Max ↑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920240" y="321868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少量慢请求、局部节点、周期事件</a:t>
            </a:r>
            <a:endParaRPr lang="en-US" sz="730" dirty="0"/>
          </a:p>
        </p:txBody>
      </p:sp>
      <p:sp>
        <p:nvSpPr>
          <p:cNvPr id="19" name="Shape 17"/>
          <p:cNvSpPr/>
          <p:nvPr/>
        </p:nvSpPr>
        <p:spPr>
          <a:xfrm>
            <a:off x="804672" y="3694176"/>
            <a:ext cx="3977640" cy="621792"/>
          </a:xfrm>
          <a:prstGeom prst="roundRect">
            <a:avLst>
              <a:gd name="adj" fmla="val 1176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3858768"/>
            <a:ext cx="841248" cy="256032"/>
          </a:xfrm>
          <a:prstGeom prst="rect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低样本窗口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920240" y="3813048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QPS 低   P99 ≈ Max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920240" y="405993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延长窗口，按命令拆分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804672" y="4535424"/>
            <a:ext cx="3977640" cy="621792"/>
          </a:xfrm>
          <a:prstGeom prst="roundRect">
            <a:avLst>
              <a:gd name="adj" fmla="val 11765"/>
            </a:avLst>
          </a:prstGeom>
          <a:solidFill>
            <a:srgbClr val="0D1628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4700016"/>
            <a:ext cx="841248" cy="256032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口径需要确认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920240" y="465429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P99 ↓   Timeout ↑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920240" y="490118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3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慢请求可能被统计排除</a:t>
            </a:r>
            <a:endParaRPr lang="en-US" sz="730" dirty="0"/>
          </a:p>
        </p:txBody>
      </p:sp>
      <p:sp>
        <p:nvSpPr>
          <p:cNvPr id="27" name="Shape 25"/>
          <p:cNvSpPr/>
          <p:nvPr/>
        </p:nvSpPr>
        <p:spPr>
          <a:xfrm>
            <a:off x="5413248" y="1417320"/>
            <a:ext cx="6272784" cy="4526280"/>
          </a:xfrm>
          <a:prstGeom prst="roundRect">
            <a:avLst>
              <a:gd name="adj" fmla="val 1616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87568" y="16642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边界定位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452360" y="2011680"/>
            <a:ext cx="1874520" cy="347472"/>
          </a:xfrm>
          <a:prstGeom prst="rect">
            <a:avLst/>
          </a:prstGeom>
          <a:solidFill>
            <a:srgbClr val="0D1B34"/>
          </a:solidFill>
          <a:ln w="1270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业务端到端 P99 高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06440" y="2788920"/>
            <a:ext cx="1508760" cy="329184"/>
          </a:xfrm>
          <a:prstGeom prst="rect">
            <a:avLst/>
          </a:prstGeom>
          <a:solidFill>
            <a:srgbClr val="0B2A22"/>
          </a:solidFill>
          <a:ln w="1270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内部正常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189720" y="2788920"/>
            <a:ext cx="1508760" cy="329184"/>
          </a:xfrm>
          <a:prstGeom prst="rect">
            <a:avLst/>
          </a:prstGeom>
          <a:solidFill>
            <a:srgbClr val="231B4D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内部升高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577840" y="3657600"/>
            <a:ext cx="1965960" cy="438912"/>
          </a:xfrm>
          <a:prstGeom prst="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业务客户端 / 连接池</a:t>
            </a:r>
            <a:endParaRPr lang="en-US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接入链路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75320" y="3657600"/>
            <a:ext cx="1417320" cy="347472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Proxy 排队 / 本地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966960" y="3657600"/>
            <a:ext cx="1143000" cy="347472"/>
          </a:xfrm>
          <a:prstGeom prst="rect">
            <a:avLst/>
          </a:prstGeom>
          <a:solidFill>
            <a:srgbClr val="082F39"/>
          </a:solidFill>
          <a:ln w="12700">
            <a:solidFill>
              <a:srgbClr val="22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RPC 升高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464040" y="4462272"/>
            <a:ext cx="1005840" cy="310896"/>
          </a:xfrm>
          <a:prstGeom prst="rect">
            <a:avLst/>
          </a:prstGeom>
          <a:solidFill>
            <a:srgbClr val="2B2109"/>
          </a:solidFill>
          <a:ln w="1270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排队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652760" y="4462272"/>
            <a:ext cx="594360" cy="310896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366760" y="2359152"/>
            <a:ext cx="-1801368" cy="429768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8366760" y="2359152"/>
            <a:ext cx="1581912" cy="429768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6565392" y="3118104"/>
            <a:ext cx="0" cy="539496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948672" y="3118104"/>
            <a:ext cx="-969264" cy="539496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9948672" y="3118104"/>
            <a:ext cx="585216" cy="539496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10533888" y="4005072"/>
            <a:ext cx="-566928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10533888" y="4005072"/>
            <a:ext cx="420624" cy="45720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5779008" y="5230368"/>
            <a:ext cx="1051560" cy="256032"/>
          </a:xfrm>
          <a:prstGeom prst="rect">
            <a:avLst/>
          </a:prstGeom>
          <a:solidFill>
            <a:srgbClr val="0B2A22"/>
          </a:solidFill>
          <a:ln w="1016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10B9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已确认事实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995160" y="5230368"/>
            <a:ext cx="1353312" cy="256032"/>
          </a:xfrm>
          <a:prstGeom prst="rect">
            <a:avLst/>
          </a:prstGeom>
          <a:solidFill>
            <a:srgbClr val="0D1B34"/>
          </a:solidFill>
          <a:ln w="1016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基于证据的推断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8531352" y="5230368"/>
            <a:ext cx="932688" cy="256032"/>
          </a:xfrm>
          <a:prstGeom prst="rect">
            <a:avLst/>
          </a:prstGeom>
          <a:solidFill>
            <a:srgbClr val="2B2109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待验证项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先验证时间、样本量、命令范围和超时统计口径。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3 · 排查流程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客户回复：只讲事实、边界、动作和复测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内部组件名称保留在工单；客户侧使用可验证语言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6446520" cy="4526280"/>
          </a:xfrm>
          <a:prstGeom prst="roundRect">
            <a:avLst>
              <a:gd name="adj" fmla="val 1616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64208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四段式回复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103120"/>
            <a:ext cx="310896" cy="310896"/>
          </a:xfrm>
          <a:prstGeom prst="rect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298448" y="2029968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现象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2331720" y="20299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09:03–09:08，业务 P99 65 ms，约 3% 请求变慢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841248" y="2852928"/>
            <a:ext cx="310896" cy="310896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298448" y="277977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产品事实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2331720" y="27797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同一窗口，内部局部处理范围排队 P99 升至 48 ms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841248" y="3602736"/>
            <a:ext cx="310896" cy="310896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298448" y="3529584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定位边界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2331720" y="35295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额外耗时集中在局部数据处理范围；当前已定位边界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841248" y="4352544"/>
            <a:ext cx="310896" cy="310896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298448" y="427939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0B9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动作与复测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2331720" y="427939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流量调整 + 热点拆分；同负载复测 P99 / Avg / Max / 错误 / 队列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7269480" y="1417320"/>
            <a:ext cx="4416552" cy="4526280"/>
          </a:xfrm>
          <a:prstGeom prst="roundRect">
            <a:avLst>
              <a:gd name="adj" fmla="val 1656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43800" y="166420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内部定位  →  客户表述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571232" y="2240280"/>
            <a:ext cx="1234440" cy="274320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 Shard 排队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979408" y="2258568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08592" y="2240280"/>
            <a:ext cx="19202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局部数据处理范围出现排队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571232" y="3044952"/>
            <a:ext cx="1234440" cy="274320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 Proxy 异常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979408" y="3063240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08592" y="3044952"/>
            <a:ext cx="19202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局部入口处理范围出现异常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571232" y="3849624"/>
            <a:ext cx="1234440" cy="274320"/>
          </a:xfrm>
          <a:prstGeom prst="rect">
            <a:avLst/>
          </a:prstGeom>
          <a:solidFill>
            <a:srgbClr val="171530"/>
          </a:solidFill>
          <a:ln w="1270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内部时延正常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979408" y="3867912"/>
            <a:ext cx="210312" cy="256032"/>
          </a:xfrm>
          <a:prstGeom prst="chevron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08592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额外耗时位于产品内部测量边界之外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635240" y="4800600"/>
            <a:ext cx="475488" cy="237744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6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处理</a:t>
            </a:r>
            <a:endParaRPr lang="en-US" sz="660" dirty="0"/>
          </a:p>
        </p:txBody>
      </p:sp>
      <p:sp>
        <p:nvSpPr>
          <p:cNvPr id="35" name="Shape 33"/>
          <p:cNvSpPr/>
          <p:nvPr/>
        </p:nvSpPr>
        <p:spPr>
          <a:xfrm>
            <a:off x="8183880" y="4919472"/>
            <a:ext cx="82296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9098280" y="4800600"/>
            <a:ext cx="896112" cy="237744"/>
          </a:xfrm>
          <a:prstGeom prst="rect">
            <a:avLst/>
          </a:prstGeom>
          <a:solidFill>
            <a:srgbClr val="0B2A22"/>
          </a:solidFill>
          <a:ln w="1016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60" b="1" dirty="0">
                <a:solidFill>
                  <a:srgbClr val="10B9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同负载复测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10076688" y="4919472"/>
            <a:ext cx="64008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771632" y="4800600"/>
            <a:ext cx="713232" cy="237744"/>
          </a:xfrm>
          <a:prstGeom prst="rect">
            <a:avLst/>
          </a:prstGeom>
          <a:solidFill>
            <a:srgbClr val="0B2A22"/>
          </a:solidFill>
          <a:ln w="1016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60" b="1" dirty="0">
                <a:solidFill>
                  <a:srgbClr val="10B98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闭环结论</a:t>
            </a:r>
            <a:endParaRPr lang="en-US" sz="660" dirty="0"/>
          </a:p>
        </p:txBody>
      </p:sp>
      <p:sp>
        <p:nvSpPr>
          <p:cNvPr id="39" name="Shape 37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避免绝对表述；明确测量边界和结论强度。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4 · 典型场景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Redis 产品侧：六类高频故障形态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快速归类依赖三个维度：空间分布 × 排队 / 执行 × 时间事件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481328"/>
            <a:ext cx="361188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691640"/>
            <a:ext cx="658368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列热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499616" y="1664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 Shard 热点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形态：多个入口到同一分片慢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" y="23500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首查：热点 / 数据倾斜 / 节点资源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434840" y="14813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1481328"/>
            <a:ext cx="3611880" cy="502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1144" y="1691640"/>
            <a:ext cx="658368" cy="256032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行热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5367528" y="1664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 Proxy 异常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99432" y="20574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形态：一个入口到所有分片慢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99432" y="23500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首查：限流 / 事件循环 / 连接倾斜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302752" y="14813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02752" y="1481328"/>
            <a:ext cx="361188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49056" y="1691640"/>
            <a:ext cx="658368" cy="256032"/>
          </a:xfrm>
          <a:prstGeom prst="rect">
            <a:avLst/>
          </a:prstGeom>
          <a:solidFill>
            <a:srgbClr val="EF4444"/>
          </a:solidFill>
          <a:ln w="10160">
            <a:solidFill>
              <a:srgbClr val="EF444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全局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9235440" y="1664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集群排队饱和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67344" y="20574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形态：P50 / Avg / P99 同升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67344" y="23500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F444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首查：进入 vs 完成 QPS / 队列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66928" y="33101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310128"/>
            <a:ext cx="3611880" cy="50292"/>
          </a:xfrm>
          <a:prstGeom prst="rect">
            <a:avLst/>
          </a:prstGeom>
          <a:solidFill>
            <a:srgbClr val="FACC15"/>
          </a:solidFill>
          <a:ln w="12700">
            <a:solidFill>
              <a:srgbClr val="FACC1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3520440"/>
            <a:ext cx="658368" cy="256032"/>
          </a:xfrm>
          <a:prstGeom prst="rect">
            <a:avLst/>
          </a:prstGeom>
          <a:solidFill>
            <a:srgbClr val="FACC15"/>
          </a:solidFill>
          <a:ln w="10160">
            <a:solidFill>
              <a:srgbClr val="FACC15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周期峰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499616" y="34930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周期后台任务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38862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形态：P99 / Max 固定周期尖峰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41788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FACC1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首查：快照 / 压缩 / 备份 / 迁移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33101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310128"/>
            <a:ext cx="3611880" cy="502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520440"/>
            <a:ext cx="658368" cy="256032"/>
          </a:xfrm>
          <a:prstGeom prst="rect">
            <a:avLst/>
          </a:prstGeom>
          <a:solidFill>
            <a:srgbClr val="EF4444"/>
          </a:solidFill>
          <a:ln w="10160">
            <a:solidFill>
              <a:srgbClr val="EF444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切换峰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5367528" y="34930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切换与恢复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99432" y="38862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形态：时延 / 错误 / 重连同步升高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99432" y="41788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F444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首查：切换 / 复制追赶 / 容量余量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302752" y="33101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02752" y="3310128"/>
            <a:ext cx="3611880" cy="5029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49056" y="3520440"/>
            <a:ext cx="658368" cy="256032"/>
          </a:xfrm>
          <a:prstGeom prst="rect">
            <a:avLst/>
          </a:prstGeom>
          <a:solidFill>
            <a:srgbClr val="22D3EE"/>
          </a:solidFill>
          <a:ln w="10160">
            <a:solidFill>
              <a:srgbClr val="22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链路峰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9235440" y="34930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网络 / 主机抖动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467344" y="38862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形态：执行正常，RPC 或 Max 升高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467344" y="41788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2D3EE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首查：重传 / throttling / I/O stall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1097280" y="5650992"/>
            <a:ext cx="9966960" cy="347472"/>
          </a:xfrm>
          <a:prstGeom prst="roundRect">
            <a:avLst>
              <a:gd name="adj" fmla="val 21053"/>
            </a:avLst>
          </a:prstGeom>
          <a:solidFill>
            <a:srgbClr val="0D1628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25880" y="5733288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判断顺序：先看空间分布（行 / 列 / 全局），再拆排队与执行，最后叠加时间事件。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集群平均资源正常，仍然可能存在单节点严重退化。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4 · 典型场景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业务使用侧：六类常见触发方式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命令、数据、连接和重试策略会改变单次成本与流量形态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14813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481328"/>
            <a:ext cx="361188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691640"/>
            <a:ext cx="658368" cy="256032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大对象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499616" y="1664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复杂命令 / 大对象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大范围读取、长 Lua、大 Value、大响应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" y="23500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治理：分页 / 拆分 / 限制单次返回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434840" y="14813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1481328"/>
            <a:ext cx="361188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1144" y="1691640"/>
            <a:ext cx="658368" cy="256032"/>
          </a:xfrm>
          <a:prstGeom prst="rect">
            <a:avLst/>
          </a:prstGeom>
          <a:solidFill>
            <a:srgbClr val="EF4444"/>
          </a:solidFill>
          <a:ln w="10160">
            <a:solidFill>
              <a:srgbClr val="EF444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热点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5367528" y="1664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热 Key / 数据倾斜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99432" y="20574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少量 Key 或前缀集中访问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99432" y="23500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治理：拆热点 / 本地缓存 / 分散 Key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302752" y="14813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02752" y="1481328"/>
            <a:ext cx="361188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49056" y="1691640"/>
            <a:ext cx="658368" cy="256032"/>
          </a:xfrm>
          <a:prstGeom prst="rect">
            <a:avLst/>
          </a:prstGeom>
          <a:solidFill>
            <a:srgbClr val="22D3EE"/>
          </a:solidFill>
          <a:ln w="10160">
            <a:solidFill>
              <a:srgbClr val="22D3EE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连接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9235440" y="1664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短连接 / 连接池不足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67344" y="20574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握手频繁或业务线程等待连接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67344" y="23500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治理：连接复用 / 调整连接池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66928" y="33101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310128"/>
            <a:ext cx="361188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3520440"/>
            <a:ext cx="658368" cy="256032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批量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499616" y="34930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 Pipeline / Fan-out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" y="38862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批次过大，等待最慢分片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41788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治理：批量上限 / 减少 fan-out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33101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310128"/>
            <a:ext cx="361188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520440"/>
            <a:ext cx="658368" cy="256032"/>
          </a:xfrm>
          <a:prstGeom prst="rect">
            <a:avLst/>
          </a:prstGeom>
          <a:solidFill>
            <a:srgbClr val="EF4444"/>
          </a:solidFill>
          <a:ln w="10160">
            <a:solidFill>
              <a:srgbClr val="EF4444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重试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5367528" y="34930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短超时 / 高频重试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99432" y="38862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失败流量形成重试放大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99432" y="41788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治理：退避 / 抖动 / 限制重试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302752" y="3310128"/>
            <a:ext cx="3611880" cy="1325880"/>
          </a:xfrm>
          <a:prstGeom prst="roundRect">
            <a:avLst>
              <a:gd name="adj" fmla="val 5517"/>
            </a:avLst>
          </a:prstGeom>
          <a:solidFill>
            <a:srgbClr val="0B1324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02752" y="3310128"/>
            <a:ext cx="3611880" cy="502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49056" y="3520440"/>
            <a:ext cx="658368" cy="256032"/>
          </a:xfrm>
          <a:prstGeom prst="rect">
            <a:avLst/>
          </a:prstGeom>
          <a:solidFill>
            <a:srgbClr val="FACC15"/>
          </a:solidFill>
          <a:ln w="10160">
            <a:solidFill>
              <a:srgbClr val="FACC15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070B1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TTL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9235440" y="34930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集中 TTL / 缓存重建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467344" y="3886200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统一过期、回源和写入洪峰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467344" y="4178808"/>
            <a:ext cx="3282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治理：TTL 随机化 / 合并重建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1097280" y="5650992"/>
            <a:ext cx="9966960" cy="347472"/>
          </a:xfrm>
          <a:prstGeom prst="roundRect">
            <a:avLst>
              <a:gd name="adj" fmla="val 21053"/>
            </a:avLst>
          </a:prstGeom>
          <a:solidFill>
            <a:srgbClr val="0D1628"/>
          </a:solidFill>
          <a:ln w="12700">
            <a:solidFill>
              <a:srgbClr val="23314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25880" y="5733288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同时关注：跨地域访问 · 业务客户端读取慢 · 生产环境高开销诊断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业务侧描述命令、Key 模式、数据规模、连接方式和实际现象。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"/>
            <a:ext cx="12191695" cy="228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0624" y="201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PART 5 · 练习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972800" y="20116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20624" y="50292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根据两侧证据定位 P99 问题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9326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按“确认 → 产品监控 → 边界 → 回复”的顺序完成判断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1417320"/>
            <a:ext cx="5440680" cy="4434840"/>
          </a:xfrm>
          <a:prstGeom prst="roundRect">
            <a:avLst>
              <a:gd name="adj" fmla="val 1649"/>
            </a:avLst>
          </a:prstGeom>
          <a:solidFill>
            <a:srgbClr val="0B1324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45920"/>
            <a:ext cx="566928" cy="237744"/>
          </a:xfrm>
          <a:prstGeom prst="rect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练习 1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1481328" y="1636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低 QPS 与慢命令混合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业务侧：每分钟约 60 次请求，单分钟 P99 经常为 80 ms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868680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4984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61288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7592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53896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46504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92808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39112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85416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31720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78024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4328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70632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6936" y="2633472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4984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61288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07592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53896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00200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746504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92808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39112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85416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31720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78024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24328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70632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16936" y="2779776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68680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4984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61288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07592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453896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600200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746504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892808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39112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85416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331720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78024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24328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70632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916936" y="2926080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8680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14984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161288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07592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453896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600200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746504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892808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039112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185416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331720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478024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624328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70632" y="3072384"/>
            <a:ext cx="64008" cy="6400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916936" y="3072384"/>
            <a:ext cx="64008" cy="6400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429000" y="258775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59 × GET：1 ms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3429000" y="28895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EF444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× HGETALL：80 ms / 4 MB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777240" y="3493008"/>
            <a:ext cx="4526280" cy="310896"/>
          </a:xfrm>
          <a:prstGeom prst="rect">
            <a:avLst/>
          </a:prstGeom>
          <a:solidFill>
            <a:srgbClr val="2A1118"/>
          </a:solidFill>
          <a:ln w="12700">
            <a:solidFill>
              <a:srgbClr val="7F1D1D"/>
            </a:solidFill>
          </a:ln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Average 2.32 ms    P99 = Max = 80 ms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77240" y="416052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298448" y="4142232"/>
            <a:ext cx="36576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给出准确结论</a:t>
            </a:r>
            <a:endParaRPr lang="en-US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说明 P99 与 Max 的关系</a:t>
            </a:r>
            <a:endParaRPr lang="en-US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③ 提出首要治理动作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6254496" y="1417320"/>
            <a:ext cx="5431536" cy="4434840"/>
          </a:xfrm>
          <a:prstGeom prst="roundRect">
            <a:avLst>
              <a:gd name="adj" fmla="val 1649"/>
            </a:avLst>
          </a:prstGeom>
          <a:solidFill>
            <a:srgbClr val="0B1324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528816" y="1645920"/>
            <a:ext cx="566928" cy="237744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练习 2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7242048" y="1636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 Shard 热点与排队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6528816" y="205740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业务侧：活动后部分请求间歇性变慢；总 QPS +20%，集群平均 CPU 45%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6620256" y="263347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7114032" y="263347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7607808" y="2633472"/>
            <a:ext cx="466344" cy="246888"/>
          </a:xfrm>
          <a:prstGeom prst="rect">
            <a:avLst/>
          </a:prstGeom>
          <a:solidFill>
            <a:srgbClr val="F59E0B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8101584" y="263347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6620256" y="290779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7114032" y="290779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07808" y="2907792"/>
            <a:ext cx="466344" cy="246888"/>
          </a:xfrm>
          <a:prstGeom prst="rect">
            <a:avLst/>
          </a:prstGeom>
          <a:solidFill>
            <a:srgbClr val="F59E0B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8101584" y="290779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6620256" y="318211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7114032" y="318211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7607808" y="3182112"/>
            <a:ext cx="466344" cy="246888"/>
          </a:xfrm>
          <a:prstGeom prst="rect">
            <a:avLst/>
          </a:prstGeom>
          <a:solidFill>
            <a:srgbClr val="F59E0B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8101584" y="3182112"/>
            <a:ext cx="466344" cy="246888"/>
          </a:xfrm>
          <a:prstGeom prst="rect">
            <a:avLst/>
          </a:prstGeom>
          <a:solidFill>
            <a:srgbClr val="172033"/>
          </a:solidFill>
          <a:ln w="12700">
            <a:solidFill>
              <a:srgbClr val="293449"/>
            </a:solidFill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8823960" y="256032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所有入口 → Shard 7：55 ms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8823960" y="28529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其他 Shard：约 2 ms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766560" y="360273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7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7516368" y="3602736"/>
            <a:ext cx="169164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208008" y="3602736"/>
            <a:ext cx="237744" cy="21945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680960" y="386791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排队 48 ms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9107424" y="3867912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7C3AE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 5 ms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6528816" y="4187952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Shard 7 QPS = 其他 Shard 的 7 倍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528816" y="454456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7040880" y="4526280"/>
            <a:ext cx="402336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定位问题范围和主要耗时</a:t>
            </a:r>
            <a:endParaRPr lang="en-US" sz="7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列出两个后续检查项</a:t>
            </a:r>
            <a:endParaRPr lang="en-US" sz="7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B8C1D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③ 用客户可理解的语言给出一句结论</a:t>
            </a:r>
            <a:endParaRPr lang="en-US" sz="780" dirty="0"/>
          </a:p>
        </p:txBody>
      </p:sp>
      <p:sp>
        <p:nvSpPr>
          <p:cNvPr id="104" name="Text 102"/>
          <p:cNvSpPr/>
          <p:nvPr/>
        </p:nvSpPr>
        <p:spPr>
          <a:xfrm>
            <a:off x="3749040" y="6144768"/>
            <a:ext cx="713232" cy="219456"/>
          </a:xfrm>
          <a:prstGeom prst="rect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确认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4480560" y="6254496"/>
            <a:ext cx="246888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06" name="Text 104"/>
          <p:cNvSpPr/>
          <p:nvPr/>
        </p:nvSpPr>
        <p:spPr>
          <a:xfrm>
            <a:off x="4800600" y="6144768"/>
            <a:ext cx="713232" cy="219456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产品监控</a:t>
            </a:r>
            <a:endParaRPr lang="en-US" sz="680" dirty="0"/>
          </a:p>
        </p:txBody>
      </p:sp>
      <p:sp>
        <p:nvSpPr>
          <p:cNvPr id="107" name="Shape 105"/>
          <p:cNvSpPr/>
          <p:nvPr/>
        </p:nvSpPr>
        <p:spPr>
          <a:xfrm>
            <a:off x="5532120" y="6254496"/>
            <a:ext cx="246888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08" name="Text 106"/>
          <p:cNvSpPr/>
          <p:nvPr/>
        </p:nvSpPr>
        <p:spPr>
          <a:xfrm>
            <a:off x="5852160" y="6144768"/>
            <a:ext cx="713232" cy="219456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定位边界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6583680" y="6254496"/>
            <a:ext cx="246888" cy="0"/>
          </a:xfrm>
          <a:prstGeom prst="line">
            <a:avLst/>
          </a:prstGeom>
          <a:noFill/>
          <a:ln w="10160">
            <a:solidFill>
              <a:srgbClr val="334155"/>
            </a:solidFill>
            <a:prstDash val="solid"/>
            <a:headEnd type="none"/>
            <a:tailEnd type="triangle"/>
          </a:ln>
        </p:spPr>
      </p:sp>
      <p:sp>
        <p:nvSpPr>
          <p:cNvPr id="110" name="Text 108"/>
          <p:cNvSpPr/>
          <p:nvPr/>
        </p:nvSpPr>
        <p:spPr>
          <a:xfrm>
            <a:off x="6903720" y="6144768"/>
            <a:ext cx="713232" cy="219456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E6E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组织回复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420624" y="6455664"/>
            <a:ext cx="11356848" cy="0"/>
          </a:xfrm>
          <a:prstGeom prst="line">
            <a:avLst/>
          </a:prstGeom>
          <a:noFill/>
          <a:ln w="8890">
            <a:solidFill>
              <a:srgbClr val="1F2A4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20624" y="65288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11567160" y="6528816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6A3B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Redis P99 时延培训</dc:title>
  <dc:subject>Redis P99 latency training</dc:subject>
  <dc:creator>OpenAI</dc:creator>
  <cp:lastModifiedBy>OpenAI</cp:lastModifiedBy>
  <cp:revision>1</cp:revision>
  <dcterms:created xsi:type="dcterms:W3CDTF">2026-07-20T03:57:40Z</dcterms:created>
  <dcterms:modified xsi:type="dcterms:W3CDTF">2026-07-20T03:57:40Z</dcterms:modified>
</cp:coreProperties>
</file>