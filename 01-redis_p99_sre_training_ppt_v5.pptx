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4df27cde3f4e3d" /><Relationship Type="http://schemas.openxmlformats.org/officeDocument/2006/relationships/extended-properties" Target="/docProps/app.xml" Id="Rf5d1c7dadf3d45a5" /><Relationship Type="http://schemas.openxmlformats.org/officeDocument/2006/relationships/officeDocument" Target="/ppt/presentation.xml" Id="Rae4ab753df0540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ab6b8768144584"/>
  </p:sldMasterIdLst>
  <p:notesMasterIdLst>
    <p:notesMasterId xmlns:r="http://schemas.openxmlformats.org/officeDocument/2006/relationships" r:id="Rea66e756091c4e66"/>
  </p:notesMasterIdLst>
  <p:sldIdLst>
    <p:sldId xmlns:r="http://schemas.openxmlformats.org/officeDocument/2006/relationships" id="256" r:id="R734647135d6d4938"/>
    <p:sldId xmlns:r="http://schemas.openxmlformats.org/officeDocument/2006/relationships" id="257" r:id="R59253665c7914b35"/>
    <p:sldId xmlns:r="http://schemas.openxmlformats.org/officeDocument/2006/relationships" id="258" r:id="Rd2c25fbdad9947f3"/>
    <p:sldId xmlns:r="http://schemas.openxmlformats.org/officeDocument/2006/relationships" id="259" r:id="Rd84e59ebaf5b4b72"/>
    <p:sldId xmlns:r="http://schemas.openxmlformats.org/officeDocument/2006/relationships" id="260" r:id="R45e7f41634d14542"/>
    <p:sldId xmlns:r="http://schemas.openxmlformats.org/officeDocument/2006/relationships" id="261" r:id="R11bd696cf6284505"/>
    <p:sldId xmlns:r="http://schemas.openxmlformats.org/officeDocument/2006/relationships" id="262" r:id="R9f3547f76a394890"/>
    <p:sldId xmlns:r="http://schemas.openxmlformats.org/officeDocument/2006/relationships" id="263" r:id="Rd280e235dee54cc4"/>
    <p:sldId xmlns:r="http://schemas.openxmlformats.org/officeDocument/2006/relationships" id="264" r:id="R1559ec37cd714139"/>
    <p:sldId xmlns:r="http://schemas.openxmlformats.org/officeDocument/2006/relationships" id="265" r:id="R443b904b984046e2"/>
    <p:sldId xmlns:r="http://schemas.openxmlformats.org/officeDocument/2006/relationships" id="266" r:id="R7b67898f43c74c6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07e643e747470c" /><Relationship Type="http://schemas.openxmlformats.org/officeDocument/2006/relationships/slideMaster" Target="/ppt/slideMasters/slideMaster1.xml" Id="R42ab6b8768144584" /><Relationship Type="http://schemas.openxmlformats.org/officeDocument/2006/relationships/notesMaster" Target="/ppt/notesMasters/notesMaster1.xml" Id="Rea66e756091c4e66" /><Relationship Type="http://schemas.openxmlformats.org/officeDocument/2006/relationships/presProps" Target="/ppt/presProps.xml" Id="Ra6e362b17d7441d9" /><Relationship Type="http://schemas.openxmlformats.org/officeDocument/2006/relationships/viewProps" Target="/ppt/viewProps.xml" Id="R3c0d678d2617470f" /><Relationship Type="http://schemas.openxmlformats.org/officeDocument/2006/relationships/tableStyles" Target="/ppt/tableStyles.xml" Id="Rb48ee2a8b26644a1" /><Relationship Type="http://schemas.openxmlformats.org/officeDocument/2006/relationships/slide" Target="/ppt/slides/slide1.xml" Id="R734647135d6d4938" /><Relationship Type="http://schemas.openxmlformats.org/officeDocument/2006/relationships/slide" Target="/ppt/slides/slide2.xml" Id="R59253665c7914b35" /><Relationship Type="http://schemas.openxmlformats.org/officeDocument/2006/relationships/slide" Target="/ppt/slides/slide3.xml" Id="Rd2c25fbdad9947f3" /><Relationship Type="http://schemas.openxmlformats.org/officeDocument/2006/relationships/slide" Target="/ppt/slides/slide4.xml" Id="Rd84e59ebaf5b4b72" /><Relationship Type="http://schemas.openxmlformats.org/officeDocument/2006/relationships/slide" Target="/ppt/slides/slide5.xml" Id="R45e7f41634d14542" /><Relationship Type="http://schemas.openxmlformats.org/officeDocument/2006/relationships/slide" Target="/ppt/slides/slide6.xml" Id="R11bd696cf6284505" /><Relationship Type="http://schemas.openxmlformats.org/officeDocument/2006/relationships/slide" Target="/ppt/slides/slide7.xml" Id="R9f3547f76a394890" /><Relationship Type="http://schemas.openxmlformats.org/officeDocument/2006/relationships/slide" Target="/ppt/slides/slide8.xml" Id="Rd280e235dee54cc4" /><Relationship Type="http://schemas.openxmlformats.org/officeDocument/2006/relationships/slide" Target="/ppt/slides/slide9.xml" Id="R1559ec37cd714139" /><Relationship Type="http://schemas.openxmlformats.org/officeDocument/2006/relationships/slide" Target="/ppt/slides/slide10.xml" Id="R443b904b984046e2" /><Relationship Type="http://schemas.openxmlformats.org/officeDocument/2006/relationships/slide" Target="/ppt/slides/slide11.xml" Id="R7b67898f43c74c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b8e55c0c094f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884d6b569846ce" /><Relationship Type="http://schemas.openxmlformats.org/officeDocument/2006/relationships/notesMaster" Target="/ppt/notesMasters/notesMaster1.xml" Id="Rf3cf607759ad46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f05a3433604bf9" /><Relationship Type="http://schemas.openxmlformats.org/officeDocument/2006/relationships/notesMaster" Target="/ppt/notesMasters/notesMaster1.xml" Id="R6959fd96d6e444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7fe8c56d4e4d47" /><Relationship Type="http://schemas.openxmlformats.org/officeDocument/2006/relationships/notesMaster" Target="/ppt/notesMasters/notesMaster1.xml" Id="R48132c4e8aac4a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d8ae034cea42e0" /><Relationship Type="http://schemas.openxmlformats.org/officeDocument/2006/relationships/notesMaster" Target="/ppt/notesMasters/notesMaster1.xml" Id="R1bdb8cbbc4054c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a044304c744184" /><Relationship Type="http://schemas.openxmlformats.org/officeDocument/2006/relationships/notesMaster" Target="/ppt/notesMasters/notesMaster1.xml" Id="Rf395c4d428f947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96d9eee1034035" /><Relationship Type="http://schemas.openxmlformats.org/officeDocument/2006/relationships/notesMaster" Target="/ppt/notesMasters/notesMaster1.xml" Id="R160be25654f644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f56aa202f04fb4" /><Relationship Type="http://schemas.openxmlformats.org/officeDocument/2006/relationships/notesMaster" Target="/ppt/notesMasters/notesMaster1.xml" Id="Rc1e2757d7e034b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b4242269ff47f4" /><Relationship Type="http://schemas.openxmlformats.org/officeDocument/2006/relationships/notesMaster" Target="/ppt/notesMasters/notesMaster1.xml" Id="R9888802bed5240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009ee019be4e46" /><Relationship Type="http://schemas.openxmlformats.org/officeDocument/2006/relationships/notesMaster" Target="/ppt/notesMasters/notesMaster1.xml" Id="R14604b934d4241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5fb0260882448f" /><Relationship Type="http://schemas.openxmlformats.org/officeDocument/2006/relationships/notesMaster" Target="/ppt/notesMasters/notesMaster1.xml" Id="R5e2193bcd05448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c7de9975fc4ad1" /><Relationship Type="http://schemas.openxmlformats.org/officeDocument/2006/relationships/notesMaster" Target="/ppt/notesMasters/notesMaster1.xml" Id="R17e1f9c962544e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本页先建立业务视角和产品内部视角。业务应用或 SDK 只连接 Redis 服务地址，连接经 ELB 均衡分发到各 Proxy；每个 Proxy 都可以访问所有 Shard。Shard 负责数据分片，并对接后端存储池。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业务侧通常只感知端到端时延、错误、超时、重试和连接池等待；Proxy、Shard 及具体落点属于产品内部链路。后续排查要把业务侧证据映射到这条内部链路。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Average 描述整体平均成本，P99 描述 99% 请求所处的时延边界，Max 描述单次极值。采用 nearest-rank 口径时，第 k 个样本的位置为 ceil(0.99 × N)。本页 100 个请求中，第 99 个为 8 ms，因此 P99 为 8 ms；第 100 个为 60 ms，因此 Max 为 60 ms。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低 QPS 不会制造慢请求。固定统计窗口内样本越少，P99 越容易由少量尾部样本决定并接近 Max；分析时应同时看窗口内请求数、命令类型和统计口径。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左侧示意同一 Shard、同一串行处理路径：请求 A 执行 50 ms 时，后续 B、C、D 即使自身执行仅 1 ms，也会先等待前面的请求完成。端到端时延由排队等待和自身执行共同组成。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Pipeline 可以减少网络往返，但不能消除同一路径上的串行等待；批次过大且前部存在慢命令时，后续结果会成批等待。右侧说明重试放大：若原请求尚未释放处理能力，超时重试只增加进入队列的请求量；当新请求 QPS 加重试 QPS 持续大于完成 QPS 时，队列和 P99 会继续增长。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所有事件和指标共用同一条时间轴。t0 为 Proxy 收到请求，t1 为 Proxy 转发，t2 为 Shard 收到请求，t3 为 Worker 开始处理，t4 为 Worker 处理完成，t5 为 Shard 回包完成，t6 为 Proxy 收到 Shard 回包，t7 为 Proxy 开始向 Client 发送，t8 为 Proxy 口径下回包完成。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Proxy 总耗时为 t0–t8；阶段一为 t0–t1，阶段二为 t1–t6，阶段三为 t6–t7，阶段四为 t7–t8；Shard TOTAL 为 t2–t5，Shard EXEC 为 t3–t4。t8 只表示 Proxy 口径回包完成，不表示 Client 应用已经读取。等距排布只表达顺序和边界，不代表真实耗时比例。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对同一条请求，Proxy 总耗时可以分解为四阶段之和；聚合后的 P99 不能直接相加或相减，P99(TOTAL) − P99(EXEC) 不能当作排队 P99。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Proxy 总耗时覆盖从收到 Client 请求到 Proxy 口径下回包完成。四阶段监控分别对应预处理、Shard 处理、回包排队和回包发送；Average、P99、Max 应在同一时间窗口和同一统计口径下阅读。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阶段二升高时优先查看 Shard TOTAL / EXEC；若 Shard 指标正常，再检查 Proxy 与 Shard 之间的 RPC。阶段二和阶段三同时升高时，同时检查 Shard，并确认 Pipeline 中前部慢请求是否使后续回包等待。阶段三和阶段四同时升高时，检查响应大小、网络与 TCP、客户端读取，并判断 Pipeline 是否放大积压。仅阶段四升高时，重点检查出口带宽、重传、TCP 发送队列和客户端读取速度。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Shard TOTAL 记录从 Shard 收到请求到回包完成的总耗时；Shard EXEC 记录 Worker 实际执行请求的耗时。两者的 Average、P99、Max 用于判断慢点是在实际执行内，还是在 EXEC 之外的接收、调度、等待或回包区间。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EXEC 显著升高且量级可比时，优先验证慢命令、热 Key、CPU 或 I/O。TOTAL 升高而 EXEC 接近基线时，优先验证非 EXEC 区间。阶段二升高但 TOTAL / EXEC 均正常时，优先检查 RPC、网络或指标对齐。TOTAL 与 EXEC 的聚合 P99 不能直接相减。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P99 排查依次回答三个问题：哪一段慢、谁在变慢、为什么慢。第一步用 Proxy 四阶段、Shard TOTAL / EXEC 定位时延段；第二步按 Proxy、Shard 或 Proxy→Shard 路径缩小影响范围；第三步用 QPS、CPU、I/O、网络、队列和事件验证原因。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多阶段可以同时升高，不能强行选成单一分支。结论应写成完整证据链，例如：阶段四 P99 升高，仅 Proxy 2 异常，且同一窗口 TCP 发送队列和重传升高，因此回包路径异常是强推断，具体网络原因仍需继续验证。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左侧决策树从业务端到端 P99 开始。若 Proxy 总耗时未升高，优先检查 Client、连接池、ELB、外部网络或统计口径；若 Proxy 总耗时升高，应读取所有同时升高的阶段。阶段一、三、四分别指向接收预处理、回包排队和 Client 方向发送。只要阶段二升高，就继续检查 Shard TOTAL；TOTAL 升高时再看 EXEC，区分实际执行与非 EXEC 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定位空间范围时，阶段一、三、四按 Proxy 比较，阶段二按 Proxy→Shard 路径、TopN 或日志比较，Shard TOTAL / EXEC 按 Shard 比较。随后只检查与异常阶段、异常节点和异常时间同时对应的指标：阶段一对应进入 QPS、连接数、输入流量和 CPU；阶段二对应 TOTAL / EXEC、Shard 进入与完成 QPS、CPU、I/O 和 RPC；阶段三或四对应响应大小、输出流量、TCP 发送队列、重传和 Client 读取。业务 P99 高但 Proxy 总耗时正常时，检查连接池、ELB、外部 RTT、Client 读取和统计口径。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QPS 必须区分进入速率与完成速率，只有进入速率持续大于完成速率才支持队列持续增长。CPU、磁盘和网络指标必须与同一阶段、节点和时间窗口对齐；相关性不等于因果。内存应关注压力、缺页、回收、Swap 或 OOM，而不是只看占用率。最终结论按事实、影响范围、原因强度、动作与复测结果输出。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本页按可观察现象归纳六类产品侧场景：慢点集中在一个 Shard、慢点集中在一个 Proxy、几乎所有路径同时变慢、固定周期出现尖峰、切换或恢复期间变慢，以及 Shard 执行正常但通信变慢。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这些现象用于选择验证方向：分别检查 Shard 局部资源、Proxy 局部资源、全局负载或共享基础设施、周期任务、切换事件，以及 RPC 或网络路径。必须结合对应阶段、节点范围和同窗事件验证，不能仅凭形态直接确认根因。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业务使用侧常见触发方式包括慢命令或大 Key、热 Key 或数据倾斜、短连接或连接池不足、大 Pipeline 或跨 Shard 批量、短超时或高频重试、集中 TTL 或缓存重建。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治理方向分别是拆分 Key、分页和限制返回量；拆热点、本地缓存和分散 Key；连接复用与调整连接池；限制批次、拆批并减少单批涉及的 Shard；退避、抖动并限制重试；TTL 随机化和合并重建。还应关注跨地域访问、客户端读取慢，以及生产环境高开销诊断本身带来的影响。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左侧练习采用 nearest-rank 口径：本分钟只有 60 个请求，ceil(0.99 × 60) = 60，因此 P99 取第 60 个请求。本例前 59 个 GET 为 1 ms，第 60 个 HGETALL 为 80 ms，所以 P99 等于 Max，均为 80 ms；Average 约为 2.32 ms。低 QPS 只是让单个慢请求更容易决定 P99，并不制造慢请求。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右侧先看空间范围：4 个 Proxy 访问 Shard 7 的阶段二都约为 55 ms，其他 Proxy→Shard 路径约为 2 ms，问题范围集中在 Shard 7 或其共享通信路径。再看异常区间：Shard 7 的 TOTAL P99 为 53 ms，EXEC P99 为 5 ms且接近基线，因此应优先验证非 EXEC 区间；不能用两个聚合 P99 的差值计算排队 P99。最后看负载线索：Shard 7 进入 QPS 是其他 Shard 的 7 倍，支持热点或排队假设，但尚未证明根因。下一步应对齐同一窗口检查完成 QPS、RPC、Shard 调度与相关事件。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d1e69c6e664d1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fb11aa15c9400b" /><Relationship Type="http://schemas.openxmlformats.org/officeDocument/2006/relationships/slideLayout" Target="/ppt/slideLayouts/slideLayout1.xml" Id="Rfc66d34309d8435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66d34309d84352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8b632c0194435" /><Relationship Type="http://schemas.openxmlformats.org/officeDocument/2006/relationships/notesSlide" Target="/ppt/notesSlides/notesSlide1.xml" Id="Rb6b0954234494c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5e58112684506" /><Relationship Type="http://schemas.openxmlformats.org/officeDocument/2006/relationships/notesSlide" Target="/ppt/notesSlides/notesSlide2.xml" Id="R1bb97e1411db4f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b787ca882465d" /><Relationship Type="http://schemas.openxmlformats.org/officeDocument/2006/relationships/notesSlide" Target="/ppt/notesSlides/notesSlide3.xml" Id="Rdb9817a6fb3048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ae390effc4772" /><Relationship Type="http://schemas.openxmlformats.org/officeDocument/2006/relationships/notesSlide" Target="/ppt/notesSlides/notesSlide4.xml" Id="Rf34524bbdd384b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04390be614f5c" /><Relationship Type="http://schemas.openxmlformats.org/officeDocument/2006/relationships/notesSlide" Target="/ppt/notesSlides/notesSlide5.xml" Id="R2b9dcd848f2841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fe21a91794cb5" /><Relationship Type="http://schemas.openxmlformats.org/officeDocument/2006/relationships/notesSlide" Target="/ppt/notesSlides/notesSlide6.xml" Id="R6223dba26eec4f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9037b93ba4c5e" /><Relationship Type="http://schemas.openxmlformats.org/officeDocument/2006/relationships/notesSlide" Target="/ppt/notesSlides/notesSlide7.xml" Id="Rcb75758c419e42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73b2c59dc4827" /><Relationship Type="http://schemas.openxmlformats.org/officeDocument/2006/relationships/notesSlide" Target="/ppt/notesSlides/notesSlide8.xml" Id="Re399a4b30adf45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ccda85d5747b7" /><Relationship Type="http://schemas.openxmlformats.org/officeDocument/2006/relationships/notesSlide" Target="/ppt/notesSlides/notesSlide9.xml" Id="R84333afcf5434b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419e1ce6a44c1" /><Relationship Type="http://schemas.openxmlformats.org/officeDocument/2006/relationships/notesSlide" Target="/ppt/notesSlides/notesSlide10.xml" Id="Rbe3c8878e63a4d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3923b3ac848e0" /><Relationship Type="http://schemas.openxmlformats.org/officeDocument/2006/relationships/notesSlide" Target="/ppt/notesSlides/notesSlide11.xml" Id="Rf697d101528f42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9F2B921-5B72-4BF0-B6F2-60F0AF62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D1AC3A-60C0-429F-A54C-6F1EA717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AE8227-1A76-44A1-8726-F92003B4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6" name="page-top-0002">
            <a:extLst xmlns:a="http://schemas.openxmlformats.org/drawingml/2006/main">
              <a:ext uri="{FF2B5EF4-FFF2-40B4-BE49-F238E27FC236}">
                <a16:creationId xmlns:a16="http://schemas.microsoft.com/office/drawing/2014/main" id="{763B151A-5C6F-4A76-AAA5-D3FC92ED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01 / 11</a:t>
            </a:r>
          </a:p>
        </p:txBody>
      </p:sp>
      <p:sp>
        <p:nvSpPr>
          <p:cNvPr id="7" name="cover-title-0003">
            <a:extLst xmlns:a="http://schemas.openxmlformats.org/drawingml/2006/main">
              <a:ext uri="{FF2B5EF4-FFF2-40B4-BE49-F238E27FC236}">
                <a16:creationId xmlns:a16="http://schemas.microsoft.com/office/drawing/2014/main" id="{284CCF10-0FC4-4A74-B043-ECB3BC98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4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Redis P99 时延</a:t>
            </a:r>
          </a:p>
        </p:txBody>
      </p:sp>
      <p:sp>
        <p:nvSpPr>
          <p:cNvPr id="8" name="cover-subtitle-0004">
            <a:extLst xmlns:a="http://schemas.openxmlformats.org/drawingml/2006/main">
              <a:ext uri="{FF2B5EF4-FFF2-40B4-BE49-F238E27FC236}">
                <a16:creationId xmlns:a16="http://schemas.microsoft.com/office/drawing/2014/main" id="{8CF8BDC9-F7E8-4A5D-AEBC-EC9C207A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430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1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定义 · 测量 · 定位</a:t>
            </a:r>
          </a:p>
        </p:txBody>
      </p:sp>
      <p:sp>
        <p:nvSpPr>
          <p:cNvPr id="51" name="line-0034">
            <a:extLst xmlns:a="http://schemas.openxmlformats.org/drawingml/2006/main">
              <a:ext uri="{FF2B5EF4-FFF2-40B4-BE49-F238E27FC236}">
                <a16:creationId xmlns:a16="http://schemas.microsoft.com/office/drawing/2014/main" id="{33C509D3-CBE5-4C82-87A4-A41BD3E6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C427FBF-7E32-4338-87F1-29501AAF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526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C8C059-BBDD-4415-8DED-6B15352A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526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Redis 产品内部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43A8FF0-D289-4C3E-9A56-3650A25D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接入层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10B9A0-BF14-4529-B00E-9DBEAE9C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38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数据层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377BD6-3153-4AC3-9BB2-D76CE56E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0" cy="2857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3A4B6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088B926-7A62-4DF2-AE38-13AB34B9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47975"/>
            <a:ext cx="20955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9050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业务应用 / SDK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357DF97-B8AD-47C9-98C6-28B70D9F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24175"/>
            <a:ext cx="857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27104A"/>
          </a:solidFill>
          <a:ln xmlns:a="http://schemas.openxmlformats.org/drawingml/2006/main" w="19050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ELB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CC6B408-4FD1-4C65-946B-5CB9A663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764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41044"/>
          </a:solidFill>
          <a:ln xmlns:a="http://schemas.openxmlformats.org/drawingml/2006/main" w="17145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4857FA1-6AF0-4EED-AEBC-435CEB0D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764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51A08"/>
          </a:solidFill>
          <a:ln xmlns:a="http://schemas.openxmlformats.org/drawingml/2006/main" w="1714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92AA813-19B6-4927-961C-D4B0296C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3372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41044"/>
          </a:solidFill>
          <a:ln xmlns:a="http://schemas.openxmlformats.org/drawingml/2006/main" w="17145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CD3267-2EF5-46AD-A6E6-3E8684E2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3372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51A08"/>
          </a:solidFill>
          <a:ln xmlns:a="http://schemas.openxmlformats.org/drawingml/2006/main" w="1714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2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DFD3A2A-972D-4B16-9D1E-D2FA3FA7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909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41044"/>
          </a:solidFill>
          <a:ln xmlns:a="http://schemas.openxmlformats.org/drawingml/2006/main" w="17145">
            <a:solidFill>
              <a:srgbClr val="7C3AED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99E7370-2E43-4979-8597-9460C058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90975"/>
            <a:ext cx="123825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251A08"/>
          </a:solidFill>
          <a:ln xmlns:a="http://schemas.openxmlformats.org/drawingml/2006/main" w="1714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3</a:t>
            </a:r>
          </a:p>
        </p:txBody>
      </p:sp>
      <p:cxnSp>
        <p:nvCxnSpPr>
          <p:cNvPr id="106" name=""/>
          <p:cNvCxnSpPr>
            <a:stCxn xmlns:a="http://schemas.openxmlformats.org/drawingml/2006/main" id="57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>
            <a:off x="2743200" y="3190875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0A5FA"/>
            </a:solidFill>
            <a:prstDash val="solid"/>
            <a:tailEnd type="arrow" w="med" len="med"/>
          </a:ln>
        </p:spPr>
      </p:cxnSp>
      <p:cxnSp>
        <p:nvCxnSpPr>
          <p:cNvPr id="107" name=""/>
          <p:cNvCxnSpPr>
            <a:stCxn xmlns:a="http://schemas.openxmlformats.org/drawingml/2006/main" id="58" idx="3"/>
            <a:endCxn xmlns:a="http://schemas.openxmlformats.org/drawingml/2006/main" id="59" idx="1"/>
          </p:cNvCxnSpPr>
          <p:nvPr/>
        </p:nvCxnSpPr>
        <p:spPr>
          <a:xfrm xmlns:a="http://schemas.openxmlformats.org/drawingml/2006/main" flipV="1">
            <a:off x="4991100" y="2524125"/>
            <a:ext cx="120015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8BFA"/>
            </a:solidFill>
            <a:prstDash val="solid"/>
            <a:tailEnd type="arrow" w="med" len="med"/>
          </a:ln>
        </p:spPr>
      </p:cxnSp>
      <p:cxnSp>
        <p:nvCxnSpPr>
          <p:cNvPr id="108" name=""/>
          <p:cNvCxnSpPr>
            <a:stCxn xmlns:a="http://schemas.openxmlformats.org/drawingml/2006/main" id="58" idx="3"/>
            <a:endCxn xmlns:a="http://schemas.openxmlformats.org/drawingml/2006/main" id="61" idx="1"/>
          </p:cNvCxnSpPr>
          <p:nvPr/>
        </p:nvCxnSpPr>
        <p:spPr>
          <a:xfrm xmlns:a="http://schemas.openxmlformats.org/drawingml/2006/main">
            <a:off x="4991100" y="3190875"/>
            <a:ext cx="120015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8BFA"/>
            </a:solidFill>
            <a:prstDash val="solid"/>
            <a:tailEnd type="arrow" w="med" len="med"/>
          </a:ln>
        </p:spPr>
      </p:cxnSp>
      <p:cxnSp>
        <p:nvCxnSpPr>
          <p:cNvPr id="109" name=""/>
          <p:cNvCxnSpPr>
            <a:stCxn xmlns:a="http://schemas.openxmlformats.org/drawingml/2006/main" id="58" idx="3"/>
            <a:endCxn xmlns:a="http://schemas.openxmlformats.org/drawingml/2006/main" id="63" idx="1"/>
          </p:cNvCxnSpPr>
          <p:nvPr/>
        </p:nvCxnSpPr>
        <p:spPr>
          <a:xfrm xmlns:a="http://schemas.openxmlformats.org/drawingml/2006/main">
            <a:off x="4991100" y="3190875"/>
            <a:ext cx="120015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8BFA"/>
            </a:solidFill>
            <a:prstDash val="solid"/>
            <a:tailEnd type="arrow" w="med" len="med"/>
          </a:ln>
        </p:spPr>
      </p:cxnSp>
      <p:cxnSp>
        <p:nvCxnSpPr>
          <p:cNvPr id="110" name=""/>
          <p:cNvCxnSpPr>
            <a:stCxn xmlns:a="http://schemas.openxmlformats.org/drawingml/2006/main" id="59" idx="3"/>
            <a:endCxn xmlns:a="http://schemas.openxmlformats.org/drawingml/2006/main" id="60" idx="1"/>
          </p:cNvCxnSpPr>
          <p:nvPr/>
        </p:nvCxnSpPr>
        <p:spPr>
          <a:xfrm xmlns:a="http://schemas.openxmlformats.org/drawingml/2006/main">
            <a:off x="7429500" y="2524125"/>
            <a:ext cx="2095500" cy="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1" name=""/>
          <p:cNvCxnSpPr>
            <a:stCxn xmlns:a="http://schemas.openxmlformats.org/drawingml/2006/main" id="59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7429500" y="2524125"/>
            <a:ext cx="209550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2" name=""/>
          <p:cNvCxnSpPr>
            <a:stCxn xmlns:a="http://schemas.openxmlformats.org/drawingml/2006/main" id="59" idx="3"/>
            <a:endCxn xmlns:a="http://schemas.openxmlformats.org/drawingml/2006/main" id="64" idx="1"/>
          </p:cNvCxnSpPr>
          <p:nvPr/>
        </p:nvCxnSpPr>
        <p:spPr>
          <a:xfrm xmlns:a="http://schemas.openxmlformats.org/drawingml/2006/main">
            <a:off x="7429500" y="2524125"/>
            <a:ext cx="2095500" cy="171450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3" name=""/>
          <p:cNvCxnSpPr>
            <a:stCxn xmlns:a="http://schemas.openxmlformats.org/drawingml/2006/main" id="61" idx="3"/>
            <a:endCxn xmlns:a="http://schemas.openxmlformats.org/drawingml/2006/main" id="60" idx="1"/>
          </p:cNvCxnSpPr>
          <p:nvPr/>
        </p:nvCxnSpPr>
        <p:spPr>
          <a:xfrm xmlns:a="http://schemas.openxmlformats.org/drawingml/2006/main" flipV="1">
            <a:off x="7429500" y="2524125"/>
            <a:ext cx="209550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4" name=""/>
          <p:cNvCxnSpPr>
            <a:stCxn xmlns:a="http://schemas.openxmlformats.org/drawingml/2006/main" id="61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7429500" y="3381375"/>
            <a:ext cx="2095500" cy="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5" name=""/>
          <p:cNvCxnSpPr>
            <a:stCxn xmlns:a="http://schemas.openxmlformats.org/drawingml/2006/main" id="61" idx="3"/>
            <a:endCxn xmlns:a="http://schemas.openxmlformats.org/drawingml/2006/main" id="64" idx="1"/>
          </p:cNvCxnSpPr>
          <p:nvPr/>
        </p:nvCxnSpPr>
        <p:spPr>
          <a:xfrm xmlns:a="http://schemas.openxmlformats.org/drawingml/2006/main">
            <a:off x="7429500" y="3381375"/>
            <a:ext cx="209550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6" name=""/>
          <p:cNvCxnSpPr>
            <a:stCxn xmlns:a="http://schemas.openxmlformats.org/drawingml/2006/main" id="63" idx="3"/>
            <a:endCxn xmlns:a="http://schemas.openxmlformats.org/drawingml/2006/main" id="60" idx="1"/>
          </p:cNvCxnSpPr>
          <p:nvPr/>
        </p:nvCxnSpPr>
        <p:spPr>
          <a:xfrm xmlns:a="http://schemas.openxmlformats.org/drawingml/2006/main" flipV="1">
            <a:off x="7429500" y="2524125"/>
            <a:ext cx="2095500" cy="171450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7" name=""/>
          <p:cNvCxnSpPr>
            <a:stCxn xmlns:a="http://schemas.openxmlformats.org/drawingml/2006/main" id="63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 flipV="1">
            <a:off x="7429500" y="3381375"/>
            <a:ext cx="209550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cxnSp>
        <p:nvCxnSpPr>
          <p:cNvPr id="118" name=""/>
          <p:cNvCxnSpPr>
            <a:stCxn xmlns:a="http://schemas.openxmlformats.org/drawingml/2006/main" id="63" idx="3"/>
            <a:endCxn xmlns:a="http://schemas.openxmlformats.org/drawingml/2006/main" id="64" idx="1"/>
          </p:cNvCxnSpPr>
          <p:nvPr/>
        </p:nvCxnSpPr>
        <p:spPr>
          <a:xfrm xmlns:a="http://schemas.openxmlformats.org/drawingml/2006/main">
            <a:off x="7429500" y="4238625"/>
            <a:ext cx="2095500" cy="0"/>
          </a:xfrm>
          <a:prstGeom xmlns:a="http://schemas.openxmlformats.org/drawingml/2006/main" prst="straightConnector1">
            <a:avLst/>
          </a:prstGeom>
          <a:ln xmlns:a="http://schemas.openxmlformats.org/drawingml/2006/main" w="10478">
            <a:solidFill>
              <a:srgbClr val="3A4B6A"/>
            </a:solidFill>
            <a:prstDash val="solid"/>
          </a:ln>
        </p:spPr>
      </p:cxnSp>
      <p:sp>
        <p:nvSpPr>
          <p:cNvPr id="78" name="s01-service-address">
            <a:extLst xmlns:a="http://schemas.openxmlformats.org/drawingml/2006/main">
              <a:ext uri="{FF2B5EF4-FFF2-40B4-BE49-F238E27FC236}">
                <a16:creationId xmlns:a16="http://schemas.microsoft.com/office/drawing/2014/main" id="{9CE1E4A0-C451-4EE5-9D20-03D233F8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717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Redis 服务地址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360C7C9-C0DD-4625-884E-7B89AD4F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与 Shard 全连通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670374F-F29F-4B17-91DA-A25598E1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62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ELB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AB149EA-CE83-4052-9770-62CDD44D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864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客户端连接均衡分发至各 Proxy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8B74A84-DAF9-49BC-BB0F-600AA915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1625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4D21793-D8AA-4AB3-8B92-020C4B45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4864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每个 Proxy 均可访问所有 Shard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5E60A52-F151-4A3E-8D17-4852F1CE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62550"/>
            <a:ext cx="321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26B93ED-37FF-4AF2-B9F7-B64E9DEC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86400"/>
            <a:ext cx="321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负责数据分片，并对接后端存储池</a:t>
            </a:r>
          </a:p>
        </p:txBody>
      </p:sp>
    </p:spTree>
    <p:extLst>
      <p:ext uri="{BB962C8B-B14F-4D97-AF65-F5344CB8AC3E}">
        <p14:creationId xmlns:p14="http://schemas.microsoft.com/office/powerpoint/2010/main" val="197339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B2240E-243F-4944-A811-CB300348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4E261E-9BD0-4FA0-8F07-9AE2706C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25454C-0473-4AE5-892A-6AEC4CD4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035">
            <a:extLst xmlns:a="http://schemas.openxmlformats.org/drawingml/2006/main">
              <a:ext uri="{FF2B5EF4-FFF2-40B4-BE49-F238E27FC236}">
                <a16:creationId xmlns:a16="http://schemas.microsoft.com/office/drawing/2014/main" id="{9DF1AF00-98DA-4ED0-8DB4-BFC632C5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1 · 理解 P99</a:t>
            </a:r>
          </a:p>
        </p:txBody>
      </p:sp>
      <p:sp>
        <p:nvSpPr>
          <p:cNvPr id="6" name="page-top-0036">
            <a:extLst xmlns:a="http://schemas.openxmlformats.org/drawingml/2006/main">
              <a:ext uri="{FF2B5EF4-FFF2-40B4-BE49-F238E27FC236}">
                <a16:creationId xmlns:a16="http://schemas.microsoft.com/office/drawing/2014/main" id="{7C3AFBBB-1A29-4F71-AB54-4981893A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02 / 11</a:t>
            </a:r>
          </a:p>
        </p:txBody>
      </p:sp>
      <p:sp>
        <p:nvSpPr>
          <p:cNvPr id="7" name="title-0037">
            <a:extLst xmlns:a="http://schemas.openxmlformats.org/drawingml/2006/main">
              <a:ext uri="{FF2B5EF4-FFF2-40B4-BE49-F238E27FC236}">
                <a16:creationId xmlns:a16="http://schemas.microsoft.com/office/drawing/2014/main" id="{29FC4E2F-AD93-4EAA-8F7D-B42E7E73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P99：99% 请求的时延边界</a:t>
            </a:r>
          </a:p>
        </p:txBody>
      </p:sp>
      <p:sp>
        <p:nvSpPr>
          <p:cNvPr id="8" name="line-0038">
            <a:extLst xmlns:a="http://schemas.openxmlformats.org/drawingml/2006/main">
              <a:ext uri="{FF2B5EF4-FFF2-40B4-BE49-F238E27FC236}">
                <a16:creationId xmlns:a16="http://schemas.microsoft.com/office/drawing/2014/main" id="{C594A810-FD4D-4832-9D56-2EF4B071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4AB53-060D-4CBC-842A-A547F574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76350"/>
            <a:ext cx="6572250" cy="4895850"/>
          </a:xfrm>
          <a:prstGeom xmlns:a="http://schemas.openxmlformats.org/drawingml/2006/main" prst="roundRect">
            <a:avLst>
              <a:gd name="adj" fmla="val 2335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6365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B420C3-9B91-4B82-8823-28C33293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100 个请求，按耗时从小到大排序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2ECF9-D7EB-46C2-8EB3-97A3EC8B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143125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23850">
            <a:solidFill>
              <a:srgbClr val="3B82F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6FE42-FCAA-4475-B96C-D68F400A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3CDAF8-E3B0-4EAB-953B-2B3D578E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E23AD-79E9-4A2F-9D3F-F60982D1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81200"/>
            <a:ext cx="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103">
            <a:solidFill>
              <a:srgbClr val="EF44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9D0438-B195-48F9-8468-5EDDC0D8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前 99 个请求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873A72-5F2E-4BBA-A00D-4E92844B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847850"/>
            <a:ext cx="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EF44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84ACB0-A248-40C5-832E-A43E6997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5621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最慢 1 个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23B7E6-61B6-4175-96E8-6EFC2225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P99 边界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534AC9-53D7-4321-9299-1604B649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尾部 5 个请求放大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79F66A-CFF1-43BC-AF3E-D0B4833A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#96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73B5A6-2027-4884-9787-3B1D9708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#97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849F29-FA82-4E73-828E-BC5738B9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#98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 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154BDA-3607-4CB0-9E18-AAC8B2FA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73564"/>
          </a:solidFill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#99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8 ms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71E87A-F8B8-4189-B094-4403ECAE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76600"/>
            <a:ext cx="10668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4A1418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#100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60 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3A64B5-DF47-41D0-861C-675B407D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0" cy="120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0A5F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CE5D96-29FC-4C9C-AAF5-5725C934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62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P99 = 第 99 个请求 = 8 ms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49282E-BA5B-4199-9553-CC7BD807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99 个请求的耗时 ≤ 8 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E3FEEE-34D0-4139-9A27-849B609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最慢 1 个请求 = 60 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5652ED-1934-4652-95FD-26B00A90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67375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请求已按耗时从小到大排序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E6F899-6628-4F40-95D1-52EBC449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276350"/>
            <a:ext cx="4533900" cy="99060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89E6E3-F2A1-46FB-8C4F-9E30F867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2763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49CA0A-422F-4858-B8F0-4BF7DF0F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390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Average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B29966-1189-41BE-BC9D-86CCF7D9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371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2.64 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0A0BCB-C93A-4261-B582-366B16D4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240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(98 × 2 + 8 + 60) ÷ 100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5C8DF6-7AC8-4806-B9A3-E692C987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716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所有请求的平均耗时是多少？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C1502C-7B7B-4F3F-AD66-8E63556B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19350"/>
            <a:ext cx="4533900" cy="99060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D76BE8-3D7C-40BF-BAD0-39517D57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193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72DF89-AAFF-432C-971E-45BD8675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33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rPr>
              <a:t>P99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0073E6-24B3-48CA-A7FE-6BC60C6E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14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8 ms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4F950C-E28E-49C1-A4FF-B70405FE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670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排序后取第 99 个请求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AEA2F8-33FC-41B8-8C95-0FC36180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146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99% 的请求落在什么时延以内？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D6460C-9F6D-4223-8E0F-7FC696C1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4533900" cy="990600"/>
          </a:xfrm>
          <a:prstGeom xmlns:a="http://schemas.openxmlformats.org/drawingml/2006/main" prst="roundRect">
            <a:avLst>
              <a:gd name="adj" fmla="val 96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A2AB33-7567-404F-AC6B-25D3128D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E2BD63F-FA4D-4B11-8E76-38E03FDF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676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Max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5DBC794-5BC2-49F4-A161-99C72C62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576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60 ms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BB44F4-6336-4D6A-97B3-637905E3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1002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排序后取第 100 个请求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228A15-01B4-48E1-A9A0-E95BDB5C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257675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最慢一次请求是多少？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65BF5A6-7B6F-4F99-862E-3F3513BB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38700"/>
            <a:ext cx="4533900" cy="1333500"/>
          </a:xfrm>
          <a:prstGeom xmlns:a="http://schemas.openxmlformats.org/drawingml/2006/main" prst="roundRect">
            <a:avLst>
              <a:gd name="adj" fmla="val 7143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4FF8A7-AEAC-4B3E-9AAD-7F58128F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0101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低 QPS 的特殊现象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9AAAD7-1FDC-4571-884A-F6F67703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3911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固定统计窗口内，QPS 越低，样本越少；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P99 由更少的尾部样本决定，往往更接近 Max，波动也更明显。</a:t>
            </a:r>
          </a:p>
        </p:txBody>
      </p:sp>
    </p:spTree>
    <p:extLst>
      <p:ext uri="{BB962C8B-B14F-4D97-AF65-F5344CB8AC3E}">
        <p14:creationId xmlns:p14="http://schemas.microsoft.com/office/powerpoint/2010/main" val="1015636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C72BE66-A57F-42EF-8D14-2A6033CE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11E692-E2E0-443F-83ED-AEA973AC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80D6BFD-7337-49F6-8BB5-57F60C0E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089">
            <a:extLst xmlns:a="http://schemas.openxmlformats.org/drawingml/2006/main">
              <a:ext uri="{FF2B5EF4-FFF2-40B4-BE49-F238E27FC236}">
                <a16:creationId xmlns:a16="http://schemas.microsoft.com/office/drawing/2014/main" id="{EB0D129B-6D08-4DF6-8C02-90965CAD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1 · 理解 P99</a:t>
            </a:r>
          </a:p>
        </p:txBody>
      </p:sp>
      <p:sp>
        <p:nvSpPr>
          <p:cNvPr id="6" name="page-top-0090">
            <a:extLst xmlns:a="http://schemas.openxmlformats.org/drawingml/2006/main">
              <a:ext uri="{FF2B5EF4-FFF2-40B4-BE49-F238E27FC236}">
                <a16:creationId xmlns:a16="http://schemas.microsoft.com/office/drawing/2014/main" id="{AC0594BD-A77B-4DB8-A23A-1C1E6B4C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03 / 11</a:t>
            </a:r>
          </a:p>
        </p:txBody>
      </p:sp>
      <p:sp>
        <p:nvSpPr>
          <p:cNvPr id="7" name="title-0091">
            <a:extLst xmlns:a="http://schemas.openxmlformats.org/drawingml/2006/main">
              <a:ext uri="{FF2B5EF4-FFF2-40B4-BE49-F238E27FC236}">
                <a16:creationId xmlns:a16="http://schemas.microsoft.com/office/drawing/2014/main" id="{D267AB09-DF1C-4E75-9B6D-C1157B7C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慢请求、排队、重试会放大P99指标</a:t>
            </a:r>
          </a:p>
        </p:txBody>
      </p:sp>
      <p:sp>
        <p:nvSpPr>
          <p:cNvPr id="8" name="line-0092">
            <a:extLst xmlns:a="http://schemas.openxmlformats.org/drawingml/2006/main">
              <a:ext uri="{FF2B5EF4-FFF2-40B4-BE49-F238E27FC236}">
                <a16:creationId xmlns:a16="http://schemas.microsoft.com/office/drawing/2014/main" id="{2FB8BCD8-C3D9-4C74-A4C5-4D29E1F2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4D2B4-1E27-49EB-874C-135DCD32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76350"/>
            <a:ext cx="6477000" cy="4895850"/>
          </a:xfrm>
          <a:prstGeom xmlns:a="http://schemas.openxmlformats.org/drawingml/2006/main" prst="roundRect">
            <a:avLst>
              <a:gd name="adj" fmla="val 233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5FAC76-C115-433A-8118-7855C764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76350"/>
            <a:ext cx="4648200" cy="4895850"/>
          </a:xfrm>
          <a:prstGeom xmlns:a="http://schemas.openxmlformats.org/drawingml/2006/main" prst="roundRect">
            <a:avLst>
              <a:gd name="adj" fmla="val 2459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6365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528AEA-CA3D-4349-8F7A-E583D145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4000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同一 Shard · 同一串行处理路径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5EEEE-F610-4579-B61A-1C100C32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时间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C50A97-8D21-4885-867D-092F7D3E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812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7180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877B7-2A88-4CA7-90A5-4AE25216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114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A7B1E2-9E5F-44A8-8408-D9BE6837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执行路径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62F8BF-4277-4540-9F98-428977B7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09800"/>
            <a:ext cx="381000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77481C-9169-419C-9097-FD96E059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0980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A：执行 50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D72C5A-E712-4D8E-A4C7-62B10EA2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09800"/>
            <a:ext cx="323850" cy="3429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E12656-7386-4BC7-96FD-1C743BCA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BA194-551D-42FD-9264-A699F67F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323850" cy="3429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BD7934-7981-42FA-88A7-234C29F0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5FEA07-2A45-4109-A42F-6A57518A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323850" cy="34290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127E27-0FC7-49B2-B43D-99358D36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3C30D1-FFD4-4533-902C-E1A0A3462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请求 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5E8292-C50B-4A51-8FE9-D15EE34D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8765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到达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38D464-8A1A-4D6E-97D8-C92211EB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B4002B-F374-4C0A-AB37-3C5F064B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52750"/>
            <a:ext cx="320040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708953-7E81-4D8D-BDC9-5D0532E1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527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rPr>
              <a:t>等待 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4BD95E-9908-413A-BC87-33C0F568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952750"/>
            <a:ext cx="32385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DA9D2E-165D-4F81-9148-9C10F1B0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请求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3B01AB-BD47-4B00-B19E-94366512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337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到达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29278F-22CA-46FD-BD39-B42ADE9B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671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40DDDA-3DE4-4DBE-8B5B-CA0EFB2A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09950"/>
            <a:ext cx="270510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1A7EC7-5587-4334-A2F1-6390B307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09950"/>
            <a:ext cx="2647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rPr>
              <a:t>等待 A、B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06D6EB-04BE-4B3C-864C-50E8D26F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409950"/>
            <a:ext cx="32385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C35146-6899-40C6-A325-6CCC8789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请求 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9B1687-3204-49CE-B708-1D55AB5C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7909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到达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BB3136-5730-4BB8-B0CB-2C86CADE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92430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59E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0285A4-7647-4D2D-BDB6-43FA0C0E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867150"/>
            <a:ext cx="220980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B74931-9C13-41DB-9D7D-BF0DA359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67150"/>
            <a:ext cx="2152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FCD34D"/>
                </a:solidFill>
                <a:latin typeface="Noto Sans CJK SC"/>
                <a:ea typeface="Noto Sans CJK SC"/>
                <a:cs typeface="Noto Sans CJK SC"/>
              </a:rPr>
              <a:t>等待 A、B、C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F9DFF9-FEF3-4602-A41A-53958C59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67150"/>
            <a:ext cx="323850" cy="2095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2C01C1-C106-4FDB-AD34-8E7B8012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B / C / D 自身执行仍为 1 ms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A9DFB0-090C-476A-9FA2-BBB39296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48150"/>
            <a:ext cx="2533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端到端 = 排队 + 执行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448320-1A67-40F3-85F0-B5394107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Pipeline 对照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19BD1F-6350-43BD-9383-BB747354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101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客户端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CB218-8910-4412-B752-70C66A6C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35F47F-0B67-4CD1-81B9-F6F66556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931675-D6A0-42C0-8022-6CBFB929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271CD0-AE65-4D12-A09A-D5982AB1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5E7A94-B8A0-4D78-835B-27710BCA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81575"/>
            <a:ext cx="323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F1B119-C9DC-4A0C-84FF-5A30D9AB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76825"/>
            <a:ext cx="17145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6D870AE-D69F-4559-9971-1148F890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0101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同一路径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758ED0-4967-49C5-90DD-5DF4B428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81575"/>
            <a:ext cx="704850" cy="2667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A 慢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FAD8616-0F0A-478E-A2ED-9DA3C8FA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909400-272B-4BE0-AFF6-A8F94F02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D7EC5C1-2D67-4E1A-AA2E-E38274FB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6F009B-EE60-42BC-9129-0399D508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81575"/>
            <a:ext cx="247650" cy="2667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7CA509E-FF9C-4E79-AA11-23B3E847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483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Pipeline 减少网络往返；大批次遇到前部慢命令时，后续命令会成批等待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F2626FB-9E4A-4EE9-9F35-3AA86DC1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6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超时前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3A9869-1AA7-48A6-99E0-8C52B664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8595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执行中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245F1EF-C2FA-4244-B195-32E7ACEE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9525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A 慢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D3D6856-9B32-4198-BC69-A7F5A678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241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队列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4C46445-879C-4500-B14E-3ACD3134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860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302C13B-B50D-448B-A0FB-2CBDB1BD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2860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BCECCE5-D32B-4D9C-89FC-4D81627C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EEA7616-9D0E-4FF2-8A13-19CA6DC4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295525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待处理：3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74A572D-B437-4648-A437-1358D6F2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43200"/>
            <a:ext cx="3962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B / C / D 均超过客户端超时，并分别发起重试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EF74B4D-11C7-4AC6-9B74-A4CAF75B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861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6023A1E-9E2D-41FE-8175-71112003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33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重试后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F0C4813-BC75-4166-A98C-E683D26F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75285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执行中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FFB25BF-001B-49DB-81D4-A1CE9559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9525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B13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A 慢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B096727-7840-42F0-BE9A-6521ED53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910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队列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8A304F6-F4FC-4A48-A6D7-D660A0A2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1724AE8-7202-4A47-872E-987D24A3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200B232-A7A7-4E48-9F79-FD15DBE7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3B82F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5B1F859-A5F6-41BC-82B8-B76988C5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B′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E15DCF5-1A77-42C1-B67C-79EF1397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C′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FC5FA2F-57DD-492F-A39D-4EDD42C6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52900"/>
            <a:ext cx="36195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3335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CA5A5"/>
                </a:solidFill>
                <a:latin typeface="Noto Sans CJK SC"/>
                <a:ea typeface="Noto Sans CJK SC"/>
                <a:cs typeface="Noto Sans CJK SC"/>
              </a:rPr>
              <a:t>D′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C7561BC-6E62-4186-9989-789E4DF1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55295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2151A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待处理：6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F1E27BE-7523-4BF4-94DA-4EF1D947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10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服务当前完成能力：没有变化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3CA283C-88A6-4469-82CC-96DD0B47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10540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等待变长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596816B-CBD5-485F-8E3C-8BD4B9EF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91125"/>
            <a:ext cx="152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092B9D3-40FE-4757-8255-7E88F486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054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超过超时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2BF073E-304E-4D35-ABC5-661B3F66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191125"/>
            <a:ext cx="152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5885467-1459-4879-9CF4-3BDE5BB5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1054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重试入队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33453C9-3CB6-419B-A632-CC993423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91125"/>
            <a:ext cx="1524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356EEA3-D0A5-4543-8CF2-10C7FACA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1054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等待加剧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8F77150-04DA-477D-AF45-EE40033E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19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新请求 QPS + 重试 QPS &gt; 当前完成 QPS → 队列持续增长 → P99 继续上升</a:t>
            </a:r>
          </a:p>
        </p:txBody>
      </p:sp>
    </p:spTree>
    <p:extLst>
      <p:ext uri="{BB962C8B-B14F-4D97-AF65-F5344CB8AC3E}">
        <p14:creationId xmlns:p14="http://schemas.microsoft.com/office/powerpoint/2010/main" val="19244741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3521A1D-CA7B-413D-B3F3-B972318A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295592E-DDB3-43B9-BE01-7F84498C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6665BD2-C404-49EC-B33C-13285603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197">
            <a:extLst xmlns:a="http://schemas.openxmlformats.org/drawingml/2006/main">
              <a:ext uri="{FF2B5EF4-FFF2-40B4-BE49-F238E27FC236}">
                <a16:creationId xmlns:a16="http://schemas.microsoft.com/office/drawing/2014/main" id="{00A0EB4F-F68E-4650-9C73-B0B35B7B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2 · 测量链路</a:t>
            </a:r>
          </a:p>
        </p:txBody>
      </p:sp>
      <p:sp>
        <p:nvSpPr>
          <p:cNvPr id="6" name="page-top-0198">
            <a:extLst xmlns:a="http://schemas.openxmlformats.org/drawingml/2006/main">
              <a:ext uri="{FF2B5EF4-FFF2-40B4-BE49-F238E27FC236}">
                <a16:creationId xmlns:a16="http://schemas.microsoft.com/office/drawing/2014/main" id="{E93708A1-03DA-40F1-8B8D-2B8A46AA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04 / 11</a:t>
            </a:r>
          </a:p>
        </p:txBody>
      </p:sp>
      <p:sp>
        <p:nvSpPr>
          <p:cNvPr id="7" name="title-0199">
            <a:extLst xmlns:a="http://schemas.openxmlformats.org/drawingml/2006/main">
              <a:ext uri="{FF2B5EF4-FFF2-40B4-BE49-F238E27FC236}">
                <a16:creationId xmlns:a16="http://schemas.microsoft.com/office/drawing/2014/main" id="{92C77050-D6E5-46E4-B40F-62B112EA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一条命令的耗时，分别记录在哪些指标里</a:t>
            </a:r>
          </a:p>
        </p:txBody>
      </p:sp>
      <p:sp>
        <p:nvSpPr>
          <p:cNvPr id="8" name="line-0200">
            <a:extLst xmlns:a="http://schemas.openxmlformats.org/drawingml/2006/main">
              <a:ext uri="{FF2B5EF4-FFF2-40B4-BE49-F238E27FC236}">
                <a16:creationId xmlns:a16="http://schemas.microsoft.com/office/drawing/2014/main" id="{F1E55501-FBEB-4E62-B987-2D327AC2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0514EF-F586-405D-A11E-F60A0604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5E7FD-1022-4633-92F7-EAF31422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5338B-91DF-413D-B6DC-7294B377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5306A-83A4-4AED-95BD-5697A6EE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C8D2CA-B85A-4528-A2D7-F12E0D2B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F28BA-6E3E-426D-AE6F-EFF27650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80417-9C40-4BA3-B21B-F5609494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96116-044D-4316-8954-C66F33F0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0FAA6-DE3B-410C-A477-70D96F33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1962150"/>
            <a:ext cx="0" cy="3600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532C3-732F-442F-B763-8E7FD92C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90750"/>
            <a:ext cx="840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1809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E5CC2E-6D55-4502-88D9-5A7A9CE7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90750"/>
            <a:ext cx="933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60A5FA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E5E74A-3D71-483C-BC43-977E2D7B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2152650"/>
            <a:ext cx="1143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F4F83-9846-404C-AFCE-B759F8F54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Client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发送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D84232-74B2-4265-9D61-06D9AD4E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2EFB21-75C2-40AA-A223-A635BCDE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收到请求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1CCC41-5252-4015-B744-0FEFA43E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4ACD0B-57AA-4B31-9BDF-81F14618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9FCE2B-609A-42F1-A3D1-08BC34FB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转发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7F8AB9-461D-420B-96C3-9D508CD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05BF6F-41AC-492B-9CB2-70D95187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EAB665-FE71-433F-998F-F5E5DCC2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收到请求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68655A-C873-4EF8-A1D5-BDA28AD4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3B453F-8924-4718-B4F8-F01C4A87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464CE9-BA82-46FE-88DE-CDA95203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Worker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开始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DFE192-9A2D-474A-8031-6BE50DAD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B8B3D4-2310-4E3A-8F79-0750AAC6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D1FCAA-6906-410E-BAB2-E8C88350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Worker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完成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9333CD-E20E-4CAF-996D-21797107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77EB70-BE2B-4153-B9DF-A2C2779B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7C5ED0-4006-43DD-B7A0-68FD8134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回包完成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1EE0C0-090F-4898-8F1F-F0EAF233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5F68C0-0F6F-405F-B7F3-D1107A7C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870580-AA93-4F83-9BE7-606A4F9C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收到回包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542950-9196-4DAF-A8A7-837B115B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27FF8D-531D-45EF-A5B8-2D787F2A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4DA893-CBEE-49CF-B868-1B2CB663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开始发送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C996D4-A2A6-43A0-A45D-EB01D986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E7BB87-26B2-4971-BC20-44A6E9B0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F6C363-5806-47CF-AD9C-AE57E49C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口径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回包完成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E9E699-F44F-421E-9623-12C8FF2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752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752770-03C3-4C11-9324-0291CB8D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B13307-6559-4A42-BE1C-34C5B6B0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12573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Client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应用读取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46357B7-BA5F-472E-AEF3-E54A6626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2152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7C1F80-E055-4077-933D-9C71FCB3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098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B82F6"/>
                </a:solidFill>
                <a:latin typeface="Noto Sans CJK SC"/>
                <a:ea typeface="Noto Sans CJK SC"/>
                <a:cs typeface="Noto Sans CJK SC"/>
              </a:rPr>
              <a:t>业务端到端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1CEEB0F-FFC5-446F-A1BA-E02761AF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47950"/>
            <a:ext cx="933450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2AE9411-F142-4596-B1BD-27FC4D58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705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C70215-3BCC-4D65-8637-6B00D34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2705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0FC17AC-4D0A-48D6-803E-029653BD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718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Proxy 总耗时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EABD6CA-B49B-465A-A16E-12D478B8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09900"/>
            <a:ext cx="746760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563E5DF-247E-4145-AA92-DE2BB7AF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67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9A4A97A-4A6B-47FD-9A3C-AD08BB91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067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5E29D06-A437-443B-9D22-7AC96A1E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阶段一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5F4D008-9FBB-41DD-B2D0-DD0FAC60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7185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87326F-EFB8-43FA-A362-EEB4DA92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429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D26F7B6-AAAB-47DB-B9BC-372EB38F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429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7F9EA8D-A679-4F79-B6E8-ADC26CA4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957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8C00D7-0623-4575-B87D-B9607386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33800"/>
            <a:ext cx="46672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F3C2CBB-A3B7-44B4-A544-A858A842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7909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A589BD3-5EDA-42C1-9074-19082428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7909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1580904-0697-4D1F-B582-45EB2777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576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TOTAL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231F0C6-7D53-42BC-9CF9-E1E99FDA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095750"/>
            <a:ext cx="28003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BEA567A-396A-4BF2-84E0-BE672090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4152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F70EE23-6301-4665-8445-4B2D20C8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152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284DF8D-1D55-4436-BC90-24A57645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196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Shard EXEC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603D1CC-443D-45BD-80ED-96FC64BA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5770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3307DF7-27C0-4B8D-AF13-CB0A5788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5148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B0F0E0E-2A46-4921-8A23-43E9A930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148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B3745FE-A10F-48EE-955D-83BA4581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815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C084F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C084FC"/>
                </a:solidFill>
                <a:latin typeface="Noto Sans CJK SC"/>
                <a:ea typeface="Noto Sans CJK SC"/>
                <a:cs typeface="Noto Sans CJK SC"/>
              </a:rPr>
              <a:t>阶段三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7E9379-A117-4A5B-B72F-D6423171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1965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C084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FA551BB-883E-43C9-9C8D-54AF6FD4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876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78B05FC-EC3B-4D3E-B3D5-A25F3977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4876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015E243-8612-4F2F-8C4F-868D9D79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43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E879F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879F9"/>
                </a:solidFill>
                <a:latin typeface="Noto Sans CJK SC"/>
                <a:ea typeface="Noto Sans CJK SC"/>
                <a:cs typeface="Noto Sans CJK SC"/>
              </a:rPr>
              <a:t>阶段四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4EE4C5D-72E3-46DE-A0D0-87EAEC99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181600"/>
            <a:ext cx="933450" cy="17145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879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E559325-5F42-4691-AC3D-0CB679FF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5238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625D95C-9466-4D2C-9492-30E6EEDA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238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C863C32-6C1F-41E3-84BE-D6BD0DCB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同一条请求：Proxy 总耗时 = 阶段一 + 阶段二 + 阶段三 + 阶段四。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3A3F51-1FDB-42F6-9353-8FB0777D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78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聚合 P99 不能直接加减；P99(TOTAL) − P99(EXEC) 不能当作排队 P99。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E896B0C-C38C-4FCE-9F38-6F42A331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817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等距排布只表示处理顺序和指标边界，不表示各阶段真实耗时比例。</a:t>
            </a:r>
          </a:p>
        </p:txBody>
      </p:sp>
    </p:spTree>
    <p:extLst>
      <p:ext uri="{BB962C8B-B14F-4D97-AF65-F5344CB8AC3E}">
        <p14:creationId xmlns:p14="http://schemas.microsoft.com/office/powerpoint/2010/main" val="305963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61C0DA8-87B5-4ACE-AF08-4CA47A82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8FEBE2-E8F1-4DCF-9FFA-677924C3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3FBA44D-61A0-48AD-B0CD-6665B6E6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300">
            <a:extLst xmlns:a="http://schemas.openxmlformats.org/drawingml/2006/main">
              <a:ext uri="{FF2B5EF4-FFF2-40B4-BE49-F238E27FC236}">
                <a16:creationId xmlns:a16="http://schemas.microsoft.com/office/drawing/2014/main" id="{606C7600-2D31-4073-ACE1-F685E72D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2 · 测量链路</a:t>
            </a:r>
          </a:p>
        </p:txBody>
      </p:sp>
      <p:sp>
        <p:nvSpPr>
          <p:cNvPr id="6" name="page-top-0301">
            <a:extLst xmlns:a="http://schemas.openxmlformats.org/drawingml/2006/main">
              <a:ext uri="{FF2B5EF4-FFF2-40B4-BE49-F238E27FC236}">
                <a16:creationId xmlns:a16="http://schemas.microsoft.com/office/drawing/2014/main" id="{CD1F523F-F646-45D3-8914-838CF5C9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05 / 11</a:t>
            </a:r>
          </a:p>
        </p:txBody>
      </p:sp>
      <p:sp>
        <p:nvSpPr>
          <p:cNvPr id="7" name="title-0302">
            <a:extLst xmlns:a="http://schemas.openxmlformats.org/drawingml/2006/main">
              <a:ext uri="{FF2B5EF4-FFF2-40B4-BE49-F238E27FC236}">
                <a16:creationId xmlns:a16="http://schemas.microsoft.com/office/drawing/2014/main" id="{7FBC2FC6-B93B-4121-9A76-BF6B8B8C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四阶段定位慢在哪一段</a:t>
            </a:r>
          </a:p>
        </p:txBody>
      </p:sp>
      <p:sp>
        <p:nvSpPr>
          <p:cNvPr id="8" name="line-0303">
            <a:extLst xmlns:a="http://schemas.openxmlformats.org/drawingml/2006/main">
              <a:ext uri="{FF2B5EF4-FFF2-40B4-BE49-F238E27FC236}">
                <a16:creationId xmlns:a16="http://schemas.microsoft.com/office/drawing/2014/main" id="{7403CB1F-28E1-4846-8365-0910DDE0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6B655E-3D7A-4709-95D4-A6B029C1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200150"/>
            <a:ext cx="468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Average + P99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B8853-986B-4415-A414-DFC8C089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200150"/>
            <a:ext cx="468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Max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42220-C556-4BBD-B0DB-41F3809B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33525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C629E-9882-4D63-8AB8-6275F98B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859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总耗时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C7E18-DF85-468E-81BD-26284B51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859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3B82F6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[PROXY-TOTAL-AVG-P99]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E8621-1632-41C8-8F5A-C7A9884F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859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3B82F6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[PROXY-TOTAL-MAX]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B6544-702E-48E0-A20C-D4B00790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D1FB4C-BD38-4588-A0BB-A38449D5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66925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阶段一 · 预处理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CC7CF9-80DA-42B2-B493-7FBC09EB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06692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[STAGE1-AVG-P99]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D22EC5-4F0A-4E2A-8EE0-A6CCB15A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6692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[STAGE1-MAX]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6C0885-982F-4A8F-8391-2C5EAF52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95575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B2E67A-D4A5-4CC9-9A31-550373B9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阶段二 · Shard 往返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A13ABC-3ECC-429D-85D6-22618440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4795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2D3EE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[STAGE2-AVG-P99]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5A963-821B-4E62-855F-106CD51F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2D3EE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[STAGE2-MAX]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F0C3E8-EC54-4354-845D-B068A146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76600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84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EA382E-8705-45C5-89E7-92B87BD2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28975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阶段三 · 回包队列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151AE-12BF-479A-BEEC-7E34DF01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2897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084FC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[STAGE3-AVG-P99]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3B7722-FF42-44FD-8481-2769AEB0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28975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C084FC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[STAGE3-MAX]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B136BB-B6F8-4B10-9AF2-FE38650F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57625"/>
            <a:ext cx="38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79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40F7EE-15AE-4C8E-B6C5-BC384694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阶段四 · 回包发送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AFD748-B859-43C7-B5A4-FB87315E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100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F9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[STAGE4-AVG-P99]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E7D97D-9869-42DE-91D2-F08A015F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10000"/>
            <a:ext cx="4686300" cy="457200"/>
          </a:xfrm>
          <a:prstGeom xmlns:a="http://schemas.openxmlformats.org/drawingml/2006/main" prst="roundRect">
            <a:avLst>
              <a:gd name="adj" fmla="val 14583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F9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[STAGE4-MAX]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6C174-5AC6-4A0B-9D7B-425D271D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05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665C71-6960-4024-98A1-E5DEA9BB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05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40C14A-172B-4D2C-81BB-1EDEC703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72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阶段二升高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1BD57B-9D7C-4DF9-8747-20607FC9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19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先看 Shard TOTAL / EXEC；正常再查 RPC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701E61-1899-43E0-A239-67AB92CA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05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978FF4-63B1-4F65-9019-286F6B78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05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585F1F-A039-4531-93C8-E4EE0E28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772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阶段二、三同时升高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D1B6F9-DBF9-4E92-82C0-5ED7BCF3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19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看 Shard；检查 Pipeline 前部慢请求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4A73CB-0D56-497E-AA9F-96F4D663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5284DA-DB97-45A8-9813-FC972B3D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D6ED6E-2B6A-49FA-A171-704B9C4C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3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阶段三、四同时升高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E12509-A2CF-47E2-BCC7-AA4DB52B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81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看回包（网络 / 客户端读取）与 Pipeline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3073B1-A269-4CB5-831B-0B512FED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67350"/>
            <a:ext cx="5581650" cy="628650"/>
          </a:xfrm>
          <a:prstGeom xmlns:a="http://schemas.openxmlformats.org/drawingml/2006/main" prst="roundRect">
            <a:avLst>
              <a:gd name="adj" fmla="val 1212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BFB93C-B883-4E28-91A8-E4C5A593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67350"/>
            <a:ext cx="47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A2A5BA-4DEF-4FC1-9678-36FE393F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3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阶段四升高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F2A706-A365-4364-B2A7-9FC76C72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81675"/>
            <a:ext cx="521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看回包（网络 / TCP / 客户端读取）</a:t>
            </a:r>
          </a:p>
        </p:txBody>
      </p:sp>
    </p:spTree>
    <p:extLst>
      <p:ext uri="{BB962C8B-B14F-4D97-AF65-F5344CB8AC3E}">
        <p14:creationId xmlns:p14="http://schemas.microsoft.com/office/powerpoint/2010/main" val="6927922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43D8E90-EC77-441A-B470-291925E4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558F199-71AF-4321-958B-2AAFD85C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94881ED-5A38-45AD-8A7D-890C0841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338">
            <a:extLst xmlns:a="http://schemas.openxmlformats.org/drawingml/2006/main">
              <a:ext uri="{FF2B5EF4-FFF2-40B4-BE49-F238E27FC236}">
                <a16:creationId xmlns:a16="http://schemas.microsoft.com/office/drawing/2014/main" id="{27F3C1D8-C576-4263-9A04-10A25F42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2 · 测量链路</a:t>
            </a:r>
          </a:p>
        </p:txBody>
      </p:sp>
      <p:sp>
        <p:nvSpPr>
          <p:cNvPr id="6" name="page-top-0339">
            <a:extLst xmlns:a="http://schemas.openxmlformats.org/drawingml/2006/main">
              <a:ext uri="{FF2B5EF4-FFF2-40B4-BE49-F238E27FC236}">
                <a16:creationId xmlns:a16="http://schemas.microsoft.com/office/drawing/2014/main" id="{BB25F9A2-96E4-4C88-9950-3708B586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06 / 11</a:t>
            </a:r>
          </a:p>
        </p:txBody>
      </p:sp>
      <p:sp>
        <p:nvSpPr>
          <p:cNvPr id="7" name="title-0340">
            <a:extLst xmlns:a="http://schemas.openxmlformats.org/drawingml/2006/main">
              <a:ext uri="{FF2B5EF4-FFF2-40B4-BE49-F238E27FC236}">
                <a16:creationId xmlns:a16="http://schemas.microsoft.com/office/drawing/2014/main" id="{94352ED1-6BC7-4D19-81D2-3E52CE10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TOTAL / EXEC 帮助区分执行内外</a:t>
            </a:r>
          </a:p>
        </p:txBody>
      </p:sp>
      <p:sp>
        <p:nvSpPr>
          <p:cNvPr id="8" name="line-0341">
            <a:extLst xmlns:a="http://schemas.openxmlformats.org/drawingml/2006/main">
              <a:ext uri="{FF2B5EF4-FFF2-40B4-BE49-F238E27FC236}">
                <a16:creationId xmlns:a16="http://schemas.microsoft.com/office/drawing/2014/main" id="{57079109-C6FF-4AB6-BD6A-50129153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AFE7A-5CAD-4830-907A-9A6BC18C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2573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Average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62C90D-42DD-4583-A04F-0F316826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2573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P99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4906F6-BA10-4C75-A22C-438F2750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2573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Max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66147D-4BC8-4DA3-9302-ADE781B3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1F82A-511C-4E84-8B2F-ADAA4865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123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TOTAL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B560D-CD0B-42A7-B473-4E0742C1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12F20C-A50A-457F-B49D-21BCEAF8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11239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Shard EXEC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84167B-2518-453E-A774-2EF8C33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9545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F59E0B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[TOTAL-AVG]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8FE7C3-BAEC-427C-BE71-8829A7F8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9545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F59E0B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[TOTAL-P99]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B4D0D7-640E-476A-807E-C262641F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F59E0B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[TOTAL-MAX]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F53F2E-FC9D-40DA-A666-FE77B3C0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4800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[EXEC-AVG]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4CAFA0-FFB6-4681-A749-ACAD25D0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[EXEC-P99]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62D333-409C-4887-A3ED-1A13C9EE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3238500" cy="1066800"/>
          </a:xfrm>
          <a:prstGeom xmlns:a="http://schemas.openxmlformats.org/drawingml/2006/main" prst="roundRect">
            <a:avLst>
              <a:gd name="adj" fmla="val 625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A78BFA"/>
            </a:solidFill>
            <a:prstDash val="dash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[EXEC-MAX]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562E5A-986C-44A5-9B2A-C9DF40B2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14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EXEC 显著升高且量级可比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F8DCF3-C6D4-415C-AFAD-CC148147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800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43EE8-7491-42E5-A008-52D895AC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48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优先验证实际执行路径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E25601-CF2D-438F-BCC8-4CECD65B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514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TOTAL 升高，EXEC 接近基线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E7D310-5333-4042-915B-96F40F31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800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18FA7C-FBBD-43B9-ACF6-E4131A4A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048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优先验证排队等非 EXEC 区间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C82B53-D8B3-4753-AF27-AF434146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14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阶段二升高，TOTAL / EXEC 正常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74750E-67C1-4685-8DDF-75EA477F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006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23D96C-42EE-426A-AA14-928D858C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48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优先验证 RPC、网络或统计对齐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8996F8-476F-429D-AE23-08FDF025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76900"/>
            <a:ext cx="8763000" cy="361950"/>
          </a:xfrm>
          <a:prstGeom xmlns:a="http://schemas.openxmlformats.org/drawingml/2006/main" prst="roundRect">
            <a:avLst>
              <a:gd name="adj" fmla="val 2631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只比较同一窗口的趋势与异常范围；不能用两个聚合 P99 相减计算排队 P99。</a:t>
            </a:r>
          </a:p>
        </p:txBody>
      </p:sp>
    </p:spTree>
    <p:extLst>
      <p:ext uri="{BB962C8B-B14F-4D97-AF65-F5344CB8AC3E}">
        <p14:creationId xmlns:p14="http://schemas.microsoft.com/office/powerpoint/2010/main" val="5978081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B56B6E9-E576-411C-AE3C-6EB93BF2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63F17C-5241-478B-96B4-C8E1BFFC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C58DA0-06FB-4C84-B3D1-0C2193A8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371">
            <a:extLst xmlns:a="http://schemas.openxmlformats.org/drawingml/2006/main">
              <a:ext uri="{FF2B5EF4-FFF2-40B4-BE49-F238E27FC236}">
                <a16:creationId xmlns:a16="http://schemas.microsoft.com/office/drawing/2014/main" id="{A0D8F9C2-C8EA-4360-A61D-BD9A0323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3 · 排查方法</a:t>
            </a:r>
          </a:p>
        </p:txBody>
      </p:sp>
      <p:sp>
        <p:nvSpPr>
          <p:cNvPr id="6" name="page-top-0372">
            <a:extLst xmlns:a="http://schemas.openxmlformats.org/drawingml/2006/main">
              <a:ext uri="{FF2B5EF4-FFF2-40B4-BE49-F238E27FC236}">
                <a16:creationId xmlns:a16="http://schemas.microsoft.com/office/drawing/2014/main" id="{9F6A2843-CB72-471E-8E2E-8C2E2A2F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07 / 11</a:t>
            </a:r>
          </a:p>
        </p:txBody>
      </p:sp>
      <p:sp>
        <p:nvSpPr>
          <p:cNvPr id="7" name="title-0373">
            <a:extLst xmlns:a="http://schemas.openxmlformats.org/drawingml/2006/main">
              <a:ext uri="{FF2B5EF4-FFF2-40B4-BE49-F238E27FC236}">
                <a16:creationId xmlns:a16="http://schemas.microsoft.com/office/drawing/2014/main" id="{169A11D3-F4CD-4465-9D00-B847FAA7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P99 排查要回答三个问题</a:t>
            </a:r>
          </a:p>
        </p:txBody>
      </p:sp>
      <p:sp>
        <p:nvSpPr>
          <p:cNvPr id="8" name="line-0374">
            <a:extLst xmlns:a="http://schemas.openxmlformats.org/drawingml/2006/main">
              <a:ext uri="{FF2B5EF4-FFF2-40B4-BE49-F238E27FC236}">
                <a16:creationId xmlns:a16="http://schemas.microsoft.com/office/drawing/2014/main" id="{BC7409A4-856B-4EA5-98CF-5C8ADCCC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28AE01-E937-4D8D-B5A4-07D52DF1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257300"/>
            <a:ext cx="8763000" cy="361950"/>
          </a:xfrm>
          <a:prstGeom xmlns:a="http://schemas.openxmlformats.org/drawingml/2006/main" prst="roundRect">
            <a:avLst>
              <a:gd name="adj" fmla="val 31579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同一时间窗口  ｜  同一统计口径  ｜  同一命令范围  ｜  足够样本量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D3AF4-7EF9-4C23-B4F6-30E1B032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003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5B4F5-0A4E-4B72-BDF8-AE22261F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6227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55D8E-0626-4F9F-9E85-3DC8EA7C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00375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4A3D60-3521-4ADB-AB54-E3D81201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62275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7D31F-9238-465E-B361-A246A90B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3181350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A78BF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DC39D0-7D46-42FD-91B6-EA2FE26C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8B66F-F85C-4EAE-9CD1-1A351FD6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哪一段慢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9BD88B-77A4-4A06-8EFB-06AAF341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阶段一 / 二 / 三 / 四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TOTAL / EXEC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6C87DE-9067-4754-AF9F-BF34EA49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14550"/>
            <a:ext cx="3181350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60A5F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C9B861-3868-4398-B181-630E9B1F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8600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E278FB-1B87-420B-8ADC-716EE2AC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05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谁在变慢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93476-752D-449D-907E-1FE4DB67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全部 / 单 Proxy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单 Shard / 单路径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EA2406-9CAF-41CC-A921-D77E137A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3181350" cy="1809750"/>
          </a:xfrm>
          <a:prstGeom xmlns:a="http://schemas.openxmlformats.org/drawingml/2006/main" prst="roundRect">
            <a:avLst>
              <a:gd name="adj" fmla="val 6316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E95ACE-7DB4-435B-9230-906C3366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514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AEB4EE-417E-4EA0-B9B8-AE74339D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05100"/>
            <a:ext cx="2838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为什么慢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78E61E-24BF-4475-9115-476A42D5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43250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QPS / CPU / I/O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网络 / 队列 / 事件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A8D043-4780-440C-A7C0-FB7353A8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业务侧 P99 异常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ABB380-B671-4188-85C2-460BE295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一条完整定位结论应该长这样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C6D5EC-67C3-483E-AEED-51F9288A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625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795447-FEE8-4DE4-999F-2CA79FE4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244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C467AF-F6F4-4C0D-BC33-328F5B1F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1625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376A3C-4F46-4E44-BDDE-7DEDA6CC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244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70BCF6-17A1-41FB-8E54-B8AC4790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625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1809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755D28-03F0-4DD4-9BC6-DC559B9A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124450"/>
            <a:ext cx="13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80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E11754-7F39-4653-81CD-9152616B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224790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阶段四 P99 升高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2977E3-6BE2-4C11-A960-6B5DED2F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81550"/>
            <a:ext cx="209550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仅 Proxy 2 异常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7D5F60-0D6A-4137-8CFA-36305114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781550"/>
            <a:ext cx="291465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发送队列与重传同窗升高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A388F2-2348-472E-87A5-C8A5011C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81550"/>
            <a:ext cx="2647950" cy="762000"/>
          </a:xfrm>
          <a:prstGeom xmlns:a="http://schemas.openxmlformats.org/drawingml/2006/main" prst="roundRect">
            <a:avLst>
              <a:gd name="adj" fmla="val 125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FACC1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回包路径异常：强推断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具体原因：待验证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14943D-2DDC-4A6F-91FA-ECC31709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事实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9AC3FA-7FBF-48D6-9F6D-31A1A329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676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范围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DFD406-A46A-4D27-A083-4DBAE61D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6769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同窗证据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A7ECB2-248D-47E9-AA0F-C18C8716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76900"/>
            <a:ext cx="2647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结论强度</a:t>
            </a:r>
          </a:p>
        </p:txBody>
      </p:sp>
    </p:spTree>
    <p:extLst>
      <p:ext uri="{BB962C8B-B14F-4D97-AF65-F5344CB8AC3E}">
        <p14:creationId xmlns:p14="http://schemas.microsoft.com/office/powerpoint/2010/main" val="8166716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74D968F-3F1B-4A27-BEA7-6A4D65F5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AA44197-78B4-40E5-97B5-0963C4CE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21EC3A-D975-482F-ABBF-7E22B213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438">
            <a:extLst xmlns:a="http://schemas.openxmlformats.org/drawingml/2006/main">
              <a:ext uri="{FF2B5EF4-FFF2-40B4-BE49-F238E27FC236}">
                <a16:creationId xmlns:a16="http://schemas.microsoft.com/office/drawing/2014/main" id="{71319DB7-F31E-4AB5-AC1D-EF42F530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3 · 排查方法</a:t>
            </a:r>
          </a:p>
        </p:txBody>
      </p:sp>
      <p:sp>
        <p:nvSpPr>
          <p:cNvPr id="6" name="page-top-0439">
            <a:extLst xmlns:a="http://schemas.openxmlformats.org/drawingml/2006/main">
              <a:ext uri="{FF2B5EF4-FFF2-40B4-BE49-F238E27FC236}">
                <a16:creationId xmlns:a16="http://schemas.microsoft.com/office/drawing/2014/main" id="{31934386-0C22-4A53-9AF8-92F048B0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08 / 11</a:t>
            </a:r>
          </a:p>
        </p:txBody>
      </p:sp>
      <p:sp>
        <p:nvSpPr>
          <p:cNvPr id="7" name="title-0440">
            <a:extLst xmlns:a="http://schemas.openxmlformats.org/drawingml/2006/main">
              <a:ext uri="{FF2B5EF4-FFF2-40B4-BE49-F238E27FC236}">
                <a16:creationId xmlns:a16="http://schemas.microsoft.com/office/drawing/2014/main" id="{3EF2E174-7375-48F0-BEFA-F4EE123D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分段、定范围、验证原因</a:t>
            </a:r>
          </a:p>
        </p:txBody>
      </p:sp>
      <p:sp>
        <p:nvSpPr>
          <p:cNvPr id="8" name="line-0441">
            <a:extLst xmlns:a="http://schemas.openxmlformats.org/drawingml/2006/main">
              <a:ext uri="{FF2B5EF4-FFF2-40B4-BE49-F238E27FC236}">
                <a16:creationId xmlns:a16="http://schemas.microsoft.com/office/drawing/2014/main" id="{7C571AEF-9065-45D6-9548-1853FB73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1A93CC-2BF3-488D-B20B-14B32C49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9812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业务端到端 P99 高</a:t>
            </a:r>
          </a:p>
        </p:txBody>
      </p:sp>
      <p:sp>
        <p:nvSpPr>
          <p:cNvPr id="10" name="s08-tree-node-1">
            <a:extLst xmlns:a="http://schemas.openxmlformats.org/drawingml/2006/main">
              <a:ext uri="{FF2B5EF4-FFF2-40B4-BE49-F238E27FC236}">
                <a16:creationId xmlns:a16="http://schemas.microsoft.com/office/drawing/2014/main" id="{393C0238-B856-48C1-9793-DCCE3CC0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21526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Proxy 总耗时升高？</a:t>
            </a:r>
          </a:p>
        </p:txBody>
      </p:sp>
      <p:sp>
        <p:nvSpPr>
          <p:cNvPr id="11" name="s08-tree-node-2">
            <a:extLst xmlns:a="http://schemas.openxmlformats.org/drawingml/2006/main">
              <a:ext uri="{FF2B5EF4-FFF2-40B4-BE49-F238E27FC236}">
                <a16:creationId xmlns:a16="http://schemas.microsoft.com/office/drawing/2014/main" id="{9F22EE60-E2ED-4175-BE83-03EACE84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2152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哪些阶段升高？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（可同时出现）</a:t>
            </a:r>
          </a:p>
        </p:txBody>
      </p:sp>
      <p:sp>
        <p:nvSpPr>
          <p:cNvPr id="12" name="s08-tree-node-3">
            <a:extLst xmlns:a="http://schemas.openxmlformats.org/drawingml/2006/main">
              <a:ext uri="{FF2B5EF4-FFF2-40B4-BE49-F238E27FC236}">
                <a16:creationId xmlns:a16="http://schemas.microsoft.com/office/drawing/2014/main" id="{ED506F21-EB61-4377-B1DB-5F90D23A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52800"/>
            <a:ext cx="2152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TOTAL 同步升高？</a:t>
            </a:r>
          </a:p>
        </p:txBody>
      </p:sp>
      <p:sp>
        <p:nvSpPr>
          <p:cNvPr id="13" name="s08-tree-node-4">
            <a:extLst xmlns:a="http://schemas.openxmlformats.org/drawingml/2006/main">
              <a:ext uri="{FF2B5EF4-FFF2-40B4-BE49-F238E27FC236}">
                <a16:creationId xmlns:a16="http://schemas.microsoft.com/office/drawing/2014/main" id="{39BFCFE4-13B4-4FE0-9486-2C2DE5C3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14800"/>
            <a:ext cx="2152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EXEC 显著升高且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量级 / 增量可比？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187348-2F59-41AC-9AFE-845150BB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52600"/>
            <a:ext cx="2095500" cy="4572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Client / 连接池 / ELB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外部网络 / 统计口径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8BB180-444E-40FD-965D-9E6C5D77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24100"/>
            <a:ext cx="2095500" cy="781050"/>
          </a:xfrm>
          <a:prstGeom xmlns:a="http://schemas.openxmlformats.org/drawingml/2006/main" prst="roundRect">
            <a:avLst>
              <a:gd name="adj" fmla="val 9756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阶段一  接收 / 解析 / 预处理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阶段三  回包排队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阶段四  Client 方向发送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592735-4FD8-41C1-BEFE-1A5B0923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52800"/>
            <a:ext cx="2095500" cy="476250"/>
          </a:xfrm>
          <a:prstGeom xmlns:a="http://schemas.openxmlformats.org/drawingml/2006/main" prst="roundRect">
            <a:avLst>
              <a:gd name="adj" fmla="val 16000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22D3EE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RPC / 网络 / 指标对齐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05D9F4-5814-4684-A6B3-A055623E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57650"/>
            <a:ext cx="209550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是：优先查实际执行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否：优先查非 EXEC 区间</a:t>
            </a:r>
          </a:p>
        </p:txBody>
      </p:sp>
      <p:cxnSp>
        <p:nvCxnSpPr>
          <p:cNvPr id="91" name="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1571625" y="1581150"/>
            <a:ext cx="28575" cy="1714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1809A"/>
            </a:solidFill>
            <a:prstDash val="solid"/>
            <a:tailEnd type="arrow" w="med" len="med"/>
          </a:ln>
        </p:spPr>
      </p:cxnSp>
      <p:cxnSp>
        <p:nvCxnSpPr>
          <p:cNvPr id="92" name=""/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571625" y="2209800"/>
            <a:ext cx="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1809A"/>
            </a:solidFill>
            <a:prstDash val="solid"/>
            <a:tailEnd type="arrow" w="med" len="med"/>
          </a:ln>
        </p:spPr>
      </p:cxnSp>
      <p:cxnSp>
        <p:nvCxnSpPr>
          <p:cNvPr id="93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571625" y="30099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22D3EE"/>
            </a:solidFill>
            <a:prstDash val="solid"/>
            <a:tailEnd type="arrow" w="med" len="med"/>
          </a:ln>
        </p:spPr>
      </p:cxnSp>
      <p:cxnSp>
        <p:nvCxnSpPr>
          <p:cNvPr id="94" name=""/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1571625" y="382905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1809A"/>
            </a:solidFill>
            <a:prstDash val="solid"/>
            <a:tailEnd type="arrow" w="med" len="med"/>
          </a:ln>
        </p:spPr>
      </p:cxnSp>
      <p:cxnSp>
        <p:nvCxnSpPr>
          <p:cNvPr id="95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2647950" y="19812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0A5FA"/>
            </a:solidFill>
            <a:prstDash val="solid"/>
            <a:tailEnd type="arrow" w="med" len="med"/>
          </a:ln>
        </p:spPr>
      </p:cxnSp>
      <p:cxnSp>
        <p:nvCxnSpPr>
          <p:cNvPr id="96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647950" y="2695575"/>
            <a:ext cx="381000" cy="190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A78BFA"/>
            </a:solidFill>
            <a:prstDash val="solid"/>
            <a:tailEnd type="arrow" w="med" len="med"/>
          </a:ln>
        </p:spPr>
      </p:cxnSp>
      <p:cxnSp>
        <p:nvCxnSpPr>
          <p:cNvPr id="97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2647950" y="35909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2D3EE"/>
            </a:solidFill>
            <a:prstDash val="solid"/>
            <a:tailEnd type="arrow" w="med" len="med"/>
          </a:ln>
        </p:spPr>
      </p:cxnSp>
      <p:cxnSp>
        <p:nvCxnSpPr>
          <p:cNvPr id="9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2647950" y="4400550"/>
            <a:ext cx="381000" cy="285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F59E0B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59859E-86A3-42F2-BA9E-B42379C6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098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C5ECA-7561-4934-B168-286D0351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238871-95FB-4844-9D4A-CFC3970A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481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767B30-0EA8-447D-8D03-CAF11A7B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383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B14CB1-1B9C-41FC-BB31-AB5F0832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098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1/3/4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389D56-E262-45F4-9855-1386A39D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3852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C3DBD9-9921-4F6E-8E7E-CC01C6C7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672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是/否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40AC54-E1B1-4EF4-9952-516937CD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257300"/>
            <a:ext cx="624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按异常指标拆分范围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A2EB5B-80B2-4F05-BA57-DF1B2920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002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阶段一 / 三 / 四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BD2286-5619-494B-9FBE-B9C37685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002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276D85-4AF0-4FB3-9737-03704107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600200"/>
            <a:ext cx="449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按 Proxy 比较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4F2A6C-1682-4296-B74F-C4388612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764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65BF79-15D6-4F1B-ADA5-A9A8F007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764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E54DEF-540A-48EA-8897-F985D09B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76425"/>
            <a:ext cx="449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按 Proxy → Shard 路径、TopN 或日志比较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3158DA-06E8-428D-87EE-2FA295C2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TOTAL / EXEC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395032-7463-4E75-AC3C-0D559CD0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5265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753B8B-8652-4023-8E26-998BA564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52650"/>
            <a:ext cx="449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按 Shard 比较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0469A8-E521-4855-A9C3-B913DDD2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38400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读出范围：全部节点 / 单 Proxy / 单 Shard / 单路径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A4A6A1-61A5-475F-8639-F21C6439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24150"/>
            <a:ext cx="624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A5D9F9-DDB8-436E-9AFD-656CFA1F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38450"/>
            <a:ext cx="624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只看同阶段、同范围、同时间的证据</a:t>
            </a:r>
          </a:p>
        </p:txBody>
      </p:sp>
      <p:sp>
        <p:nvSpPr>
          <p:cNvPr id="46" name="s08-evidence-334">
            <a:extLst xmlns:a="http://schemas.openxmlformats.org/drawingml/2006/main">
              <a:ext uri="{FF2B5EF4-FFF2-40B4-BE49-F238E27FC236}">
                <a16:creationId xmlns:a16="http://schemas.microsoft.com/office/drawing/2014/main" id="{5239ED5C-5796-4561-B79F-E5B84FB3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8135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阶段一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C7A2EF-C616-4E66-90CE-264D6FB2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8135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F2E500-C0D5-4C07-82E5-F0BB3555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813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进入 QPS / 连接数 / 输入流量 / CPU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66E5BA-8430-41CE-97B6-03003ACF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8135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F73483C-13D5-4888-9992-9308BFDD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181350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接收预处理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是否饱和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E757CE0-AA16-4D0C-999B-3A395889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57600"/>
            <a:ext cx="624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52" name="s08-evidence-388">
            <a:extLst xmlns:a="http://schemas.openxmlformats.org/drawingml/2006/main">
              <a:ext uri="{FF2B5EF4-FFF2-40B4-BE49-F238E27FC236}">
                <a16:creationId xmlns:a16="http://schemas.microsoft.com/office/drawing/2014/main" id="{14697867-FE8E-4832-ADC2-D3BC2CBE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阶段二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B6316EB-464B-4015-8D12-B63288B3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9570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0D6586A-F264-4458-BF47-938289BB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957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TOTAL / EXEC / Shard QPS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CPU / I/O / RPC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905F4C-EFFB-49BA-81E2-278A7760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69570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2ABE33-975A-4D7A-B3A1-C7426F30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95700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执行 / 非 EXEC 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RPC 哪段异常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C80237B-6218-42A9-9E0E-0DDEDC07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71950"/>
            <a:ext cx="624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58" name="s08-evidence-448">
            <a:extLst xmlns:a="http://schemas.openxmlformats.org/drawingml/2006/main">
              <a:ext uri="{FF2B5EF4-FFF2-40B4-BE49-F238E27FC236}">
                <a16:creationId xmlns:a16="http://schemas.microsoft.com/office/drawing/2014/main" id="{58A87E0C-2E36-42E6-A37E-2378EB24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672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阶段三 / 四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48CF56B-0B9F-4504-83F6-B6F00130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6720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1EA1BC-1317-4DFB-A1E3-3EE8202A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672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响应大小 / 输出流量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TCP 队列 / 重传 / Client 读取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B39EC8-AB2E-4F6A-B03B-F08FB9B9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6720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8515319-EF24-4D6F-94A1-03999ED8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267200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回包排队或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发送受阻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1932F66-FA1B-49AD-8979-B50DC6DC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624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64" name="s08-evidence-508">
            <a:extLst xmlns:a="http://schemas.openxmlformats.org/drawingml/2006/main">
              <a:ext uri="{FF2B5EF4-FFF2-40B4-BE49-F238E27FC236}">
                <a16:creationId xmlns:a16="http://schemas.microsoft.com/office/drawing/2014/main" id="{D3521C06-9ED0-4554-9BD1-73003985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838700"/>
            <a:ext cx="1181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业务 P99 高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Proxy 正常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FDC86E4-9173-40B1-8255-1E2A0A9B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3870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C8EABCF-AA65-4CBF-AB35-74D24894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387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连接池 / ELB / 外部 RTT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Client 读取 / 统计口径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D8ADF58-C41A-4780-B8DF-B438EB2B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38700"/>
            <a:ext cx="266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D6932A4-9281-4489-8EE2-49D2BE87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838700"/>
            <a:ext cx="158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Proxy 边界外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是否异常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24AF0CF-9413-4FB7-9559-40DB17E6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314950"/>
            <a:ext cx="624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654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FC3F92F-9180-45CD-ADF1-08C978DC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结论输出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3A8832C-0B52-46C5-87F7-54BDBFE9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38800"/>
            <a:ext cx="2743200" cy="514350"/>
          </a:xfrm>
          <a:prstGeom xmlns:a="http://schemas.openxmlformats.org/drawingml/2006/main" prst="roundRect">
            <a:avLst>
              <a:gd name="adj" fmla="val 148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事实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30FF8C6-E014-4B36-B49C-05ED9F14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638800"/>
            <a:ext cx="2743200" cy="514350"/>
          </a:xfrm>
          <a:prstGeom xmlns:a="http://schemas.openxmlformats.org/drawingml/2006/main" prst="roundRect">
            <a:avLst>
              <a:gd name="adj" fmla="val 148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影响范围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5AD1F35-8858-4965-823E-D1248107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638800"/>
            <a:ext cx="2743200" cy="514350"/>
          </a:xfrm>
          <a:prstGeom xmlns:a="http://schemas.openxmlformats.org/drawingml/2006/main" prst="roundRect">
            <a:avLst>
              <a:gd name="adj" fmla="val 148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原因强度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已确认 / 推断 / 待验证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8B11034-B9CD-42C3-8703-01E9E359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638800"/>
            <a:ext cx="2743200" cy="514350"/>
          </a:xfrm>
          <a:prstGeom xmlns:a="http://schemas.openxmlformats.org/drawingml/2006/main" prst="roundRect">
            <a:avLst>
              <a:gd name="adj" fmla="val 14815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10B98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0B981"/>
                </a:solidFill>
                <a:latin typeface="Noto Sans CJK SC"/>
                <a:ea typeface="Noto Sans CJK SC"/>
                <a:cs typeface="Noto Sans CJK SC"/>
              </a:rPr>
              <a:t>动作与复测结果</a:t>
            </a:r>
          </a:p>
        </p:txBody>
      </p:sp>
    </p:spTree>
    <p:extLst>
      <p:ext uri="{BB962C8B-B14F-4D97-AF65-F5344CB8AC3E}">
        <p14:creationId xmlns:p14="http://schemas.microsoft.com/office/powerpoint/2010/main" val="3247457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D063263-E41E-41E2-A750-BC57F596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E16648B-89DE-401D-A2B3-4F8C61B6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D3BFA0-8BA3-4979-8DC8-5762254B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611">
            <a:extLst xmlns:a="http://schemas.openxmlformats.org/drawingml/2006/main">
              <a:ext uri="{FF2B5EF4-FFF2-40B4-BE49-F238E27FC236}">
                <a16:creationId xmlns:a16="http://schemas.microsoft.com/office/drawing/2014/main" id="{751E1155-4964-4A64-A58B-9505A324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4 · 典型场景</a:t>
            </a:r>
          </a:p>
        </p:txBody>
      </p:sp>
      <p:sp>
        <p:nvSpPr>
          <p:cNvPr id="6" name="page-top-0612">
            <a:extLst xmlns:a="http://schemas.openxmlformats.org/drawingml/2006/main">
              <a:ext uri="{FF2B5EF4-FFF2-40B4-BE49-F238E27FC236}">
                <a16:creationId xmlns:a16="http://schemas.microsoft.com/office/drawing/2014/main" id="{DBDA5877-9F95-425F-9641-F129F4CC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09 / 11</a:t>
            </a:r>
          </a:p>
        </p:txBody>
      </p:sp>
      <p:sp>
        <p:nvSpPr>
          <p:cNvPr id="7" name="title-0613">
            <a:extLst xmlns:a="http://schemas.openxmlformats.org/drawingml/2006/main">
              <a:ext uri="{FF2B5EF4-FFF2-40B4-BE49-F238E27FC236}">
                <a16:creationId xmlns:a16="http://schemas.microsoft.com/office/drawing/2014/main" id="{99539CF3-0068-4151-A2FE-D265BC20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Redis 产品侧：六类高频故障形态</a:t>
            </a:r>
          </a:p>
        </p:txBody>
      </p:sp>
      <p:sp>
        <p:nvSpPr>
          <p:cNvPr id="8" name="line-0614">
            <a:extLst xmlns:a="http://schemas.openxmlformats.org/drawingml/2006/main">
              <a:ext uri="{FF2B5EF4-FFF2-40B4-BE49-F238E27FC236}">
                <a16:creationId xmlns:a16="http://schemas.microsoft.com/office/drawing/2014/main" id="{22514845-A27C-44AB-AFD9-32AE2AFB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C9F11-20E8-45B1-9CD4-8C361DA7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C3CA5-1B99-4E93-9BCE-B2BBC6AF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E8684C-E8D7-4081-8FFC-99D3460D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90546-1892-4255-8033-E0F4B286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慢点集中在一个 Shard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849C0E-BF52-4BA1-87C3-0D169382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看见：所有 Proxy 访问同一 Shard 都慢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375AE-B75F-4B0B-9160-0E5B17C3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首查：热点 Key / 数据倾斜 / 节点资源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00233-9ED0-45A4-95DE-378F279D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965A7-7222-45AE-8389-BAAC4C61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4912F-3995-4505-A9F7-DDB1F746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8A10F-0FE4-4E3A-BD3F-E12F9E13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慢点集中在一个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030C4E-A78E-488C-8520-7B5EF195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看见：一个 Proxy 访问所有 Shard 都慢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B67198-43CE-490D-A677-EE571E54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首查：CPU 限流 / 事件循环 / 连接倾斜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4630F3-C15C-446F-90A0-C5B91935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E77242-B55B-41C6-8D60-3DA5E681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5C63E8-7250-454B-A11A-189A240E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全局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67DBEC-DE94-4CCB-B505-73B681B2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集群整体开始排队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601388-474C-4D70-8C2F-902EDA38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看见：多数路径变慢，Average / P99 同升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7A604D-BE4B-4049-8730-D1A1F91A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首查：进入与完成 QPS / 队列 / 容量余量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3B9B6-FCA1-4933-8BF8-4503E035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E02B26-82C4-4A90-8482-68C6B5A0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E4E981-CE8B-407E-93C0-4AA4BD4D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ACC1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周期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EDFD0-C121-4470-9A11-1F62550A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固定周期出现尖峰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A87FD4-ABE8-4628-BE5A-7C6D569D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看见：P99 / Max 按固定周期升高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6ED059-63B6-45B5-B751-6463B1F4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首查：快照 / 压缩 / 备份 / 迁移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EB8BC0-4DE0-4891-89C9-2D52F29D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9A3DDD-6A7B-4107-AFA9-E18DFB20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AC2EFD-73C5-46F8-9BF8-CB6C85D0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事件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AED0AC-AA4D-4235-9406-722F14B5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切换或恢复期间变慢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63D583-D57B-43C0-9DFC-0A680AE3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看见：时延 / 错误 / 重连同步升高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F029BA-9A55-411A-8B3B-A7F35055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首查：切换 / 复制追赶 / 容量余量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E0FA5B-B087-4035-8F5A-AD017D89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EC6065-37B6-4113-99AF-F24E1A33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616C53-2596-4566-988A-44966F66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22D3EE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通信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F50667-1BEE-4A47-8757-78C45AAA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Shard 执行正常，通信变慢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B6180D-4F72-4413-B072-34A9C94E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看见：阶段二升高，TOTAL / EXEC 接近基线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EBD3A2-9BB2-4E1B-9E3E-1381F53C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首查：口径对齐 / 重传 / 主机限流 / RPC 网络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058238-403F-4864-BC7A-29B49075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531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先看慢点集中在哪里，再拆排队与执行，最后叠加时间事件。</a:t>
            </a:r>
          </a:p>
        </p:txBody>
      </p:sp>
    </p:spTree>
    <p:extLst>
      <p:ext uri="{BB962C8B-B14F-4D97-AF65-F5344CB8AC3E}">
        <p14:creationId xmlns:p14="http://schemas.microsoft.com/office/powerpoint/2010/main" val="6464293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9713FAB-CC2F-4E66-BA58-5D4851EF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31B701D-5B69-43C1-8541-AE3D4AB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BE1EC82-F2D1-4740-9CCC-586B36C7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671">
            <a:extLst xmlns:a="http://schemas.openxmlformats.org/drawingml/2006/main">
              <a:ext uri="{FF2B5EF4-FFF2-40B4-BE49-F238E27FC236}">
                <a16:creationId xmlns:a16="http://schemas.microsoft.com/office/drawing/2014/main" id="{C6D7C227-0EC4-488B-9D90-C92C6823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4 · 典型场景</a:t>
            </a:r>
          </a:p>
        </p:txBody>
      </p:sp>
      <p:sp>
        <p:nvSpPr>
          <p:cNvPr id="6" name="page-top-0672">
            <a:extLst xmlns:a="http://schemas.openxmlformats.org/drawingml/2006/main">
              <a:ext uri="{FF2B5EF4-FFF2-40B4-BE49-F238E27FC236}">
                <a16:creationId xmlns:a16="http://schemas.microsoft.com/office/drawing/2014/main" id="{82942B53-0B6A-4965-89ED-F6405F98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10 / 11</a:t>
            </a:r>
          </a:p>
        </p:txBody>
      </p:sp>
      <p:sp>
        <p:nvSpPr>
          <p:cNvPr id="7" name="title-0673">
            <a:extLst xmlns:a="http://schemas.openxmlformats.org/drawingml/2006/main">
              <a:ext uri="{FF2B5EF4-FFF2-40B4-BE49-F238E27FC236}">
                <a16:creationId xmlns:a16="http://schemas.microsoft.com/office/drawing/2014/main" id="{43974BD7-6796-4802-9883-487494E4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业务使用侧：六类常见触发方式</a:t>
            </a:r>
          </a:p>
        </p:txBody>
      </p:sp>
      <p:sp>
        <p:nvSpPr>
          <p:cNvPr id="8" name="line-0674">
            <a:extLst xmlns:a="http://schemas.openxmlformats.org/drawingml/2006/main">
              <a:ext uri="{FF2B5EF4-FFF2-40B4-BE49-F238E27FC236}">
                <a16:creationId xmlns:a16="http://schemas.microsoft.com/office/drawing/2014/main" id="{796EA290-319F-4403-A686-5C82DDE5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CADCE-5B8F-4661-8D06-ADC27D75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CC32E0-0EA3-46B3-AA79-6327427C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C6481B-1C48-4061-BE22-65BD0BB9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87630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大 Key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FFE5B5-D1C3-42B2-BFED-A74580E4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慢命令 / 大 Key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E81A7A-AD65-4864-AF9C-5EAD6475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HGETALL、长 Lua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大 Value、大范围读取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64BC0-9E15-4B6F-B434-0289ED73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治理：拆 Key / 分页 / 限制返回量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CC4686-8E7E-4A71-BCA1-CF3BBABB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55C50A-ACFF-4172-AEC1-9F62FF27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8815A-19A4-49B9-B3CD-028BCC29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热点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61271-A8AE-4702-A229-28A3C217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热 Key / 数据倾斜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0F203F-0838-47CA-BAFF-24951DAB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少量 Key 或前缀集中访问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465F93-C42A-40C0-B4B1-47AEA173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治理：拆热点 / 本地缓存 / 分散 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D58F2F-44F2-4CB1-8621-C2FB7C73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7D87D2-078D-4D22-B0BD-236947C4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9065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4F7C69-0537-4D4C-9C80-B543B8FD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6210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连接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AD66EB-14E6-4272-9FB8-0B5A71B0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05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短连接 / 连接池不足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CCAC4F-9BD4-496E-8CCB-81BDE4D0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握手频繁或业务线程等待连接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B1BA93-60F8-4E0F-BA8D-C2BC53FC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治理：连接复用 / 调整连接池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8BD5CA-BA05-496D-815A-3D1DC0EB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7A49BC-33F2-4EA8-853F-7B5331E1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CCAE88-108A-49E3-8223-2093273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批量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B01012-7D03-4545-9E4A-2894E8F1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大 Pipeline / 跨 Shard 批量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8F09D0-018E-49D6-A426-3D878D5F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批次过大；前部慢命令或慢路径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拖住后续结果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68A1F0-8890-4181-9D08-F13E1FD9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治理：限制批次 / 拆批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减少跨 Shard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832898-B5A9-4DDC-853E-D7A80244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D9F0F3-6FC1-4639-BC16-12023E0A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229622-0DBA-4B35-8751-EFC6921B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重试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0E191E-61B8-421D-9F98-9B4D2186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短超时 / 高频重试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F39B12-2722-4443-8E76-E47EB3A9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失败流量形成重试放大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0A9CCD-14DC-4304-A3AF-6CF33D2B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治理：退避 / 抖动 / 限制重试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88C99D6-EDFC-449D-8682-814140FC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1866900"/>
          </a:xfrm>
          <a:prstGeom xmlns:a="http://schemas.openxmlformats.org/drawingml/2006/main" prst="roundRect">
            <a:avLst>
              <a:gd name="adj" fmla="val 510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A4B6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6DCC69-E61F-4228-A388-450E1032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581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EE1DEB-DB05-47C1-8B05-724DD2AC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52850"/>
            <a:ext cx="7810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TTL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32A2C4-7AEA-422D-ACB8-6D676557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集中 TTL / 缓存重建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B99390-C823-4B68-BE61-CD0E9721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76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统一过期、回源和写入洪峰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F12114-A368-4E94-89C2-6B2138EC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339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治理：TTL 随机化 / 合并重建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41CB52-34C0-41C1-8C6D-DDE9D80F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同时关注：跨地域访问 · 业务客户端读取慢 · 生产环境高开销诊断</a:t>
            </a:r>
          </a:p>
        </p:txBody>
      </p:sp>
    </p:spTree>
    <p:extLst>
      <p:ext uri="{BB962C8B-B14F-4D97-AF65-F5344CB8AC3E}">
        <p14:creationId xmlns:p14="http://schemas.microsoft.com/office/powerpoint/2010/main" val="8796165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0B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8B8BB0-6C16-4F55-BD7B-EEED4DF0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B16"/>
          </a:solidFill>
          <a:ln xmlns:a="http://schemas.openxmlformats.org/drawingml/2006/main"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2E0EBCE-31FC-438B-9538-48ED6F34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08C9D35-3497-40DE-A383-C70CC478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"/>
            <a:ext cx="12191695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5" name="section-0731">
            <a:extLst xmlns:a="http://schemas.openxmlformats.org/drawingml/2006/main">
              <a:ext uri="{FF2B5EF4-FFF2-40B4-BE49-F238E27FC236}">
                <a16:creationId xmlns:a16="http://schemas.microsoft.com/office/drawing/2014/main" id="{5E154D23-EE64-45E5-86E7-4EBB4557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PART 5 · 综合练习</a:t>
            </a:r>
          </a:p>
        </p:txBody>
      </p:sp>
      <p:sp>
        <p:nvSpPr>
          <p:cNvPr id="6" name="page-top-0732">
            <a:extLst xmlns:a="http://schemas.openxmlformats.org/drawingml/2006/main">
              <a:ext uri="{FF2B5EF4-FFF2-40B4-BE49-F238E27FC236}">
                <a16:creationId xmlns:a16="http://schemas.microsoft.com/office/drawing/2014/main" id="{3095FBF5-F43E-4ED5-8B2C-43324DE4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11 / 11</a:t>
            </a:r>
          </a:p>
        </p:txBody>
      </p:sp>
      <p:sp>
        <p:nvSpPr>
          <p:cNvPr id="7" name="title-0733">
            <a:extLst xmlns:a="http://schemas.openxmlformats.org/drawingml/2006/main">
              <a:ext uri="{FF2B5EF4-FFF2-40B4-BE49-F238E27FC236}">
                <a16:creationId xmlns:a16="http://schemas.microsoft.com/office/drawing/2014/main" id="{1CD27D1A-8408-46FD-ADEE-7F6E1351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34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根据两侧证据定位 P99 问题</a:t>
            </a:r>
          </a:p>
        </p:txBody>
      </p:sp>
      <p:sp>
        <p:nvSpPr>
          <p:cNvPr id="8" name="line-0734">
            <a:extLst xmlns:a="http://schemas.openxmlformats.org/drawingml/2006/main">
              <a:ext uri="{FF2B5EF4-FFF2-40B4-BE49-F238E27FC236}">
                <a16:creationId xmlns:a16="http://schemas.microsoft.com/office/drawing/2014/main" id="{9FC7355D-2F99-4A15-9327-AD7EC442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637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6601A-3D06-47E1-9687-FC34F964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76350"/>
            <a:ext cx="4286250" cy="4343400"/>
          </a:xfrm>
          <a:prstGeom xmlns:a="http://schemas.openxmlformats.org/drawingml/2006/main" prst="roundRect">
            <a:avLst>
              <a:gd name="adj" fmla="val 2667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3B82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14B83-EE70-4E30-A807-12092BB3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7810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练习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EE140-4FCA-49A0-A6AE-68E16CCE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3906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低 QPS 与慢命令混合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136E4-1F83-4F50-B64B-226297BD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3848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业务侧：本分钟 60 次请求（约 1 QPS）；该分钟 P99 = 80 ms。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191EB1-2F3B-4FEF-8CBE-06F77AAD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排序后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4F1175-6A23-4F30-9456-6505E487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30099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184E4B-72D2-447A-9798-CA6F608E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前 59 个 GET：1 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018FA-1267-46D5-98C8-0C92498A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81300"/>
            <a:ext cx="78105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F4EE6C-5510-4661-B31B-221B0C90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8130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第 60 个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80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D4DEC8-A9AF-4D17-B6FF-BE9DB394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2385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F44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97E6E-A7C4-4EA3-9546-EE0AEDF5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Average = (59 × 1 + 80) / 60 ≈ 2.32 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F15DE8-1F35-48C5-AE4B-61C66FF9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67150"/>
            <a:ext cx="3829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ceil(0.99 × 60) = 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BFEFE9-19FD-4174-9FF0-BA0C658A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48150"/>
            <a:ext cx="3829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P99 取第 60 个请求：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EF4444"/>
                </a:solidFill>
                <a:latin typeface="Noto Sans CJK SC"/>
                <a:ea typeface="Noto Sans CJK SC"/>
                <a:cs typeface="Noto Sans CJK SC"/>
              </a:rPr>
              <a:t>P99 = Max = 80 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68160A-BC78-47DE-B5E0-84560B2B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829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低 QPS 不会制造慢请求；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60A5FA"/>
                </a:solidFill>
                <a:latin typeface="Noto Sans CJK SC"/>
                <a:ea typeface="Noto Sans CJK SC"/>
                <a:cs typeface="Noto Sans CJK SC"/>
              </a:rPr>
              <a:t>它只是让单个慢请求更容易决定 P99。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45B821-BB55-4553-B23C-FF1C58FD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76350"/>
            <a:ext cx="6819900" cy="4343400"/>
          </a:xfrm>
          <a:prstGeom xmlns:a="http://schemas.openxmlformats.org/drawingml/2006/main" prst="roundRect">
            <a:avLst>
              <a:gd name="adj" fmla="val 2632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5CFFF2-9DAD-412F-B62E-6AFEF989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428750"/>
            <a:ext cx="7810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练习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122BE7-220D-4DD9-A47F-A3EB9A03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3906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单 Shard 热点与非 EXEC 区间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B222C8-3E26-401D-BB5C-41C8F36B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5260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业务侧：活动后间歇变慢；QPS +20%，集群平均 CPU 45%。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7BC3EE-A611-41FA-8D04-1E32D4B4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133600"/>
            <a:ext cx="12001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22D3EE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22D3EE"/>
                </a:solidFill>
                <a:latin typeface="Noto Sans CJK SC"/>
                <a:ea typeface="Noto Sans CJK SC"/>
                <a:cs typeface="Noto Sans CJK SC"/>
              </a:rPr>
              <a:t>1  空间范围</a:t>
            </a:r>
          </a:p>
        </p:txBody>
      </p:sp>
      <p:sp>
        <p:nvSpPr>
          <p:cNvPr id="28" name="s11-path-latency">
            <a:extLst xmlns:a="http://schemas.openxmlformats.org/drawingml/2006/main">
              <a:ext uri="{FF2B5EF4-FFF2-40B4-BE49-F238E27FC236}">
                <a16:creationId xmlns:a16="http://schemas.microsoft.com/office/drawing/2014/main" id="{73782FA8-BE4F-41BB-9E23-706B4C35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336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4 / 4 条路径 ≈ 55 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E4939F-F917-48C6-8F66-4F65577B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57450"/>
            <a:ext cx="2190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Proxy 1 / 2 / 3 / 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0EF308-E143-42A0-897D-2CA9C8D2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5745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51A08"/>
          </a:solidFill>
          <a:ln xmlns:a="http://schemas.openxmlformats.org/drawingml/2006/main" w="13335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Shard 7</a:t>
            </a:r>
          </a:p>
        </p:txBody>
      </p:sp>
      <p:cxnSp>
        <p:nvCxnSpPr>
          <p:cNvPr id="82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8477250" y="2714625"/>
            <a:ext cx="1524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59E0B"/>
            </a:solidFill>
            <a:prstDash val="solid"/>
            <a:tailEnd type="arrow" w="med" len="med"/>
          </a:ln>
        </p:spPr>
      </p:cxnSp>
      <p:sp>
        <p:nvSpPr>
          <p:cNvPr id="32" name="s11-other-paths">
            <a:extLst xmlns:a="http://schemas.openxmlformats.org/drawingml/2006/main">
              <a:ext uri="{FF2B5EF4-FFF2-40B4-BE49-F238E27FC236}">
                <a16:creationId xmlns:a16="http://schemas.microsoft.com/office/drawing/2014/main" id="{EEEEF7A8-E47A-4844-B54F-95DCF40C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其他 Proxy → Shard 路径 ≈ 2 ms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8BFD0F-98C0-461D-90BC-DA39EC75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9565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范围集中在 Shard 7 或其共享通信路径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99CF89-B906-4C03-B39E-24ECB67B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38550"/>
            <a:ext cx="12001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59E0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2  异常区间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F69C5C-E920-401D-94C3-CC3C756A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57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1A2224-02E4-443C-B74E-629052B6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576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60 ms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68D4B0-2120-4614-B9BA-6BED5470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TOTAL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06F7E5-91F9-49A6-9E3A-6062ABAA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71925"/>
            <a:ext cx="2667000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FC48E8-370C-43FC-8BE2-86175DBC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71925"/>
            <a:ext cx="2352675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975A62-6199-4FE0-9CDF-3091629F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924300"/>
            <a:ext cx="62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200" b="1">
                <a:solidFill>
                  <a:srgbClr val="070B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070B16"/>
                </a:solidFill>
                <a:latin typeface="Noto Sans CJK SC"/>
                <a:ea typeface="Noto Sans CJK SC"/>
                <a:cs typeface="Noto Sans CJK SC"/>
              </a:rPr>
              <a:t>53 ms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F5A6CB-9097-49BA-84E8-031411DB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576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EXEC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661EF8-3432-4849-A355-2B581DBA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2667000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BECEA9-A5B9-4E62-819A-34F02604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219075" cy="17145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5EC379-ED53-4A21-9C28-A38A7534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29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A78BFA"/>
                </a:solidFill>
                <a:latin typeface="Noto Sans CJK SC"/>
                <a:ea typeface="Noto Sans CJK SC"/>
                <a:cs typeface="Noto Sans CJK SC"/>
              </a:rPr>
              <a:t>5 ms · 接近基线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C823F8-6FA8-4D3F-BF93-0AC0DBE3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924300"/>
            <a:ext cx="1181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非 EXEC 区间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59E0B"/>
                </a:solidFill>
                <a:latin typeface="Noto Sans CJK SC"/>
                <a:ea typeface="Noto Sans CJK SC"/>
                <a:cs typeface="Noto Sans CJK SC"/>
              </a:rPr>
              <a:t>优先验证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215A09E-4A45-4E5F-B28D-202C4096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686300"/>
            <a:ext cx="1200150" cy="247650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01A31"/>
          </a:solidFill>
          <a:ln xmlns:a="http://schemas.openxmlformats.org/drawingml/2006/main" w="11430">
            <a:solidFill>
              <a:srgbClr val="FACC1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3  负载线索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B6B93C-C015-4E94-9015-50CBBC0C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672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FACC15"/>
                </a:solidFill>
                <a:latin typeface="Noto Sans CJK SC"/>
                <a:ea typeface="Noto Sans CJK SC"/>
                <a:cs typeface="Noto Sans CJK SC"/>
              </a:rPr>
              <a:t>Shard 7 进入 QPS = 其他 Shard 的 7 倍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541492-6CFA-46CC-9401-3A322423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911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9EABC0"/>
                </a:solidFill>
                <a:latin typeface="Noto Sans CJK SC"/>
                <a:ea typeface="Noto Sans CJK SC"/>
                <a:cs typeface="Noto Sans CJK SC"/>
              </a:rPr>
              <a:t>支持热点或排队假设，但尚未证明根因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D198FB-A4BF-41D4-A657-193AFFBC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影响范围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5BC35F5-9E7D-4466-84AF-4BB9D173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60A5FA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异常区间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10044EC-04A1-41A0-BC76-D87B1BE3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10B98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当前能确认 / 不能确认什么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B7F23A-187D-4AB5-A334-D1A6F3B8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81025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13335">
            <a:solidFill>
              <a:srgbClr val="10B98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EAF0FA"/>
                </a:solidFill>
                <a:latin typeface="Noto Sans CJK SC"/>
                <a:ea typeface="Noto Sans CJK SC"/>
                <a:cs typeface="Noto Sans CJK SC"/>
              </a:rPr>
              <a:t>下一步验证什么</a:t>
            </a:r>
          </a:p>
        </p:txBody>
      </p:sp>
    </p:spTree>
    <p:extLst>
      <p:ext uri="{BB962C8B-B14F-4D97-AF65-F5344CB8AC3E}">
        <p14:creationId xmlns:p14="http://schemas.microsoft.com/office/powerpoint/2010/main" val="2637911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2026-07-21T11:57:11.5360000Z</dcterms:created>
  <dcterms:modified xsi:type="dcterms:W3CDTF">2026-07-21T11:57:11.5360000Z</dcterms:modified>
</coreProperties>
</file>