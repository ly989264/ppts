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2bb2e0412b4d7d" /><Relationship Type="http://schemas.openxmlformats.org/officeDocument/2006/relationships/extended-properties" Target="/docProps/app.xml" Id="R1f3c036921514f08" /><Relationship Type="http://schemas.openxmlformats.org/officeDocument/2006/relationships/officeDocument" Target="/ppt/presentation.xml" Id="R159623a207434a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7d0f414d3d44dd"/>
  </p:sldMasterIdLst>
  <p:notesMasterIdLst>
    <p:notesMasterId xmlns:r="http://schemas.openxmlformats.org/officeDocument/2006/relationships" r:id="R4f983041d5774512"/>
  </p:notesMasterIdLst>
  <p:sldIdLst>
    <p:sldId xmlns:r="http://schemas.openxmlformats.org/officeDocument/2006/relationships" id="256" r:id="Rffbb6e5d7c7f4885"/>
    <p:sldId xmlns:r="http://schemas.openxmlformats.org/officeDocument/2006/relationships" id="257" r:id="R40b066722f894091"/>
    <p:sldId xmlns:r="http://schemas.openxmlformats.org/officeDocument/2006/relationships" id="258" r:id="R685b51cce2ac412a"/>
    <p:sldId xmlns:r="http://schemas.openxmlformats.org/officeDocument/2006/relationships" id="259" r:id="R6e2585e1e85f4849"/>
    <p:sldId xmlns:r="http://schemas.openxmlformats.org/officeDocument/2006/relationships" id="260" r:id="R6e0088602ad140e0"/>
    <p:sldId xmlns:r="http://schemas.openxmlformats.org/officeDocument/2006/relationships" id="261" r:id="Rf4bba8e8f3a540ea"/>
    <p:sldId xmlns:r="http://schemas.openxmlformats.org/officeDocument/2006/relationships" id="262" r:id="R2b919f5144fe4e23"/>
    <p:sldId xmlns:r="http://schemas.openxmlformats.org/officeDocument/2006/relationships" id="263" r:id="R758d786d595b4e04"/>
    <p:sldId xmlns:r="http://schemas.openxmlformats.org/officeDocument/2006/relationships" id="264" r:id="R2dd54a81fc784640"/>
    <p:sldId xmlns:r="http://schemas.openxmlformats.org/officeDocument/2006/relationships" id="265" r:id="R9d6b20960bb14742"/>
    <p:sldId xmlns:r="http://schemas.openxmlformats.org/officeDocument/2006/relationships" id="266" r:id="R0026ac2412de4785"/>
    <p:sldId xmlns:r="http://schemas.openxmlformats.org/officeDocument/2006/relationships" id="267" r:id="R32316deaa1944ec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3a2ea894f84fdd" /><Relationship Type="http://schemas.openxmlformats.org/officeDocument/2006/relationships/slideMaster" Target="/ppt/slideMasters/slideMaster1.xml" Id="R367d0f414d3d44dd" /><Relationship Type="http://schemas.openxmlformats.org/officeDocument/2006/relationships/notesMaster" Target="/ppt/notesMasters/notesMaster1.xml" Id="R4f983041d5774512" /><Relationship Type="http://schemas.openxmlformats.org/officeDocument/2006/relationships/presProps" Target="/ppt/presProps.xml" Id="Rf9465dc473a340bb" /><Relationship Type="http://schemas.openxmlformats.org/officeDocument/2006/relationships/viewProps" Target="/ppt/viewProps.xml" Id="R483b1f78ccfb4f28" /><Relationship Type="http://schemas.openxmlformats.org/officeDocument/2006/relationships/tableStyles" Target="/ppt/tableStyles.xml" Id="R437318005da341af" /><Relationship Type="http://schemas.openxmlformats.org/officeDocument/2006/relationships/slide" Target="/ppt/slides/slide1.xml" Id="Rffbb6e5d7c7f4885" /><Relationship Type="http://schemas.openxmlformats.org/officeDocument/2006/relationships/slide" Target="/ppt/slides/slide2.xml" Id="R40b066722f894091" /><Relationship Type="http://schemas.openxmlformats.org/officeDocument/2006/relationships/slide" Target="/ppt/slides/slide3.xml" Id="R685b51cce2ac412a" /><Relationship Type="http://schemas.openxmlformats.org/officeDocument/2006/relationships/slide" Target="/ppt/slides/slide4.xml" Id="R6e2585e1e85f4849" /><Relationship Type="http://schemas.openxmlformats.org/officeDocument/2006/relationships/slide" Target="/ppt/slides/slide5.xml" Id="R6e0088602ad140e0" /><Relationship Type="http://schemas.openxmlformats.org/officeDocument/2006/relationships/slide" Target="/ppt/slides/slide6.xml" Id="Rf4bba8e8f3a540ea" /><Relationship Type="http://schemas.openxmlformats.org/officeDocument/2006/relationships/slide" Target="/ppt/slides/slide7.xml" Id="R2b919f5144fe4e23" /><Relationship Type="http://schemas.openxmlformats.org/officeDocument/2006/relationships/slide" Target="/ppt/slides/slide8.xml" Id="R758d786d595b4e04" /><Relationship Type="http://schemas.openxmlformats.org/officeDocument/2006/relationships/slide" Target="/ppt/slides/slide9.xml" Id="R2dd54a81fc784640" /><Relationship Type="http://schemas.openxmlformats.org/officeDocument/2006/relationships/slide" Target="/ppt/slides/slide10.xml" Id="R9d6b20960bb14742" /><Relationship Type="http://schemas.openxmlformats.org/officeDocument/2006/relationships/slide" Target="/ppt/slides/slide11.xml" Id="R0026ac2412de4785" /><Relationship Type="http://schemas.openxmlformats.org/officeDocument/2006/relationships/slide" Target="/ppt/slides/slide12.xml" Id="R32316deaa1944e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0e41f5f4174d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98d79c43b3465e" /><Relationship Type="http://schemas.openxmlformats.org/officeDocument/2006/relationships/notesMaster" Target="/ppt/notesMasters/notesMaster1.xml" Id="Ra261dda3c8b64b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aeed67c58040a6" /><Relationship Type="http://schemas.openxmlformats.org/officeDocument/2006/relationships/notesMaster" Target="/ppt/notesMasters/notesMaster1.xml" Id="R6c46669ff7fe4b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d0dbcbf62249b0" /><Relationship Type="http://schemas.openxmlformats.org/officeDocument/2006/relationships/notesMaster" Target="/ppt/notesMasters/notesMaster1.xml" Id="Ra93f6b389d4245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ca35b0004547c0" /><Relationship Type="http://schemas.openxmlformats.org/officeDocument/2006/relationships/notesMaster" Target="/ppt/notesMasters/notesMaster1.xml" Id="R695006e3b6d749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7246203fda456c" /><Relationship Type="http://schemas.openxmlformats.org/officeDocument/2006/relationships/notesMaster" Target="/ppt/notesMasters/notesMaster1.xml" Id="R9f6b1acbf8784e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e311a707e84905" /><Relationship Type="http://schemas.openxmlformats.org/officeDocument/2006/relationships/notesMaster" Target="/ppt/notesMasters/notesMaster1.xml" Id="Ra60e1301c1934b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a1df6d95774fbd" /><Relationship Type="http://schemas.openxmlformats.org/officeDocument/2006/relationships/notesMaster" Target="/ppt/notesMasters/notesMaster1.xml" Id="R183ff8e291874e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d462ff2f40c4b20" /><Relationship Type="http://schemas.openxmlformats.org/officeDocument/2006/relationships/notesMaster" Target="/ppt/notesMasters/notesMaster1.xml" Id="R53a765cad85b41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133aa453a74cf8" /><Relationship Type="http://schemas.openxmlformats.org/officeDocument/2006/relationships/notesMaster" Target="/ppt/notesMasters/notesMaster1.xml" Id="R0587ab0b06aa4ff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0297188061846b0" /><Relationship Type="http://schemas.openxmlformats.org/officeDocument/2006/relationships/notesMaster" Target="/ppt/notesMasters/notesMaster1.xml" Id="R8fb442a618e34a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4a20b516c014aab" /><Relationship Type="http://schemas.openxmlformats.org/officeDocument/2006/relationships/notesMaster" Target="/ppt/notesMasters/notesMaster1.xml" Id="R4b55728e11b140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202b4ccbd0148a9" /><Relationship Type="http://schemas.openxmlformats.org/officeDocument/2006/relationships/notesMaster" Target="/ppt/notesMasters/notesMaster1.xml" Id="R200a261fe5ba479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本页先建立业务视角和产品内部视角。业务应用或 SDK 只连接 Redis 服务地址，连接经 ELB 均衡分发到各 Proxy；每个 Proxy 都可以访问所有 Shard。Shard 负责数据分片，并对接后端存储池。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业务侧通常只感知端到端时延、错误、超时、重试和连接池等待；Proxy、Shard 及具体落点属于产品内部链路。后续排查要把业务侧证据映射到这条内部链路。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Average 描述整体平均成本，P99 描述 99% 请求所处的时延边界，Max 描述单次极值。采用 nearest-rank 口径时，第 k 个样本的位置为 ceil(0.99 × N)。本页 100 个请求中，第 99 个为 8 ms，因此 P99 为 8 ms；第 100 个为 60 ms，因此 Max 为 60 ms。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低 QPS 不会制造慢请求。固定统计窗口内样本越少，P99 越容易由少量尾部样本决定并接近 Max；分析时应同时看窗口内请求数、命令类型和统计口径。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左侧示意同一 Shard、同一串行处理路径：请求 A 执行 50 ms 时，后续 B、C、D 即使自身执行仅 1 ms，也会先等待前面的请求完成。端到端时延由排队等待和自身执行共同组成。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Pipeline 可以减少网络往返，但不能消除同一路径上的串行等待；批次过大且前部存在慢命令时，后续结果会成批等待。右侧说明重试放大：若原请求尚未释放处理能力，超时重试只增加进入队列的请求量；当新请求 QPS 加重试 QPS 持续大于完成 QPS 时，队列和 P99 会继续增长。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所有事件和指标共用同一条时间轴。t0 为 Proxy 收到请求，t1 为 Proxy 转发，t2 为 Shard 收到请求，t3 为 Worker 开始处理，t4 为 Worker 处理完成，t5 为 Shard 回包完成，t6 为 Proxy 收到 Shard 回包，t7 为 Proxy 开始向 Client 发送，t8 为 Proxy 将回包写入 Client 方向的 TCP 缓冲区。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Proxy 总耗时为 t0–t8；阶段一为 t0–t1，阶段二为 t1–t6，阶段三为 t6–t7，阶段四为 t7–t8；Shard TOTAL 为 t2–t5，Shard EXEC 为 t3–t4。t8 只表示 Proxy 口径回包完成，不表示 Client 应用已经读取。等距排布只表达顺序和边界，不代表真实耗时比例。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对同一条请求，Proxy 总耗时可以分解为四阶段之和；聚合后的 P99 不能直接相加或相减，P99(TOTAL) − P99(EXEC) 不能当作排队 P99。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Proxy 总耗时覆盖从收到 Client 请求到将回包写入 Client 方向 TCP 缓冲区。四阶段监控分别对应预处理、Shard 处理、回包排队和回包发送；Average、P99、Max 应在同一时间窗口和同一统计口径下阅读。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阶段二升高时优先查看 Shard TOTAL / EXEC；若 Shard 指标正常，再检查 Proxy 与 Shard 之间的 RPC。阶段二和阶段三同时升高时，同时检查 Shard，并确认 Pipeline 中前部慢请求是否使后续回包等待。阶段三和阶段四同时升高时，检查响应大小、网络与 TCP、客户端读取，并判断 Pipeline 是否放大积压。仅阶段四升高时，重点检查出口带宽、重传、TCP 发送队列和客户端读取速度。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Shard TOTAL 记录从 Shard 收到请求到回包完成的总耗时；Shard EXEC 记录 Worker 实际执行请求的耗时。两者的 Average、P99、Max 用于判断慢点是在实际执行内，还是在 EXEC 之外的接收、调度、等待或回包区间。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EXEC 显著升高且量级可比时，优先验证慢命令、热 Key、CPU 或 I/O。TOTAL 升高而 EXEC 接近基线时，优先验证非 EXEC 区间。阶段二升高但 TOTAL / EXEC 均正常时，优先检查 RPC、网络或指标对齐。TOTAL 与 EXEC 的聚合 P99 不能直接相减。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P99 排查依次回答三个问题：哪一段慢、谁在变慢、为什么慢。第一步用 Proxy 四阶段、Shard TOTAL / EXEC 定位时延段；第二步按 Proxy、Shard 或 Proxy→Shard 路径缩小影响范围；第三步用 QPS、CPU、I/O、网络、队列和事件验证原因。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多阶段可以同时升高，不能强行选成单一分支。结论应写成完整证据链，例如：阶段四 P99 升高，仅 Proxy 2 异常，且同一窗口 TCP 发送队列和重传升高，因此回包路径异常是强推断，具体网络原因仍需继续验证。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左侧决策树从业务端到端 P99 开始。若 Proxy 总耗时未升高，优先检查 Client、连接池、ELB、外部网络或统计口径；若 Proxy 总耗时升高，应读取所有同时升高的阶段。阶段一、三、四分别指向接收预处理、回包排队和 Client 方向发送。只要阶段二升高，就继续检查 Shard TOTAL；TOTAL 升高时再看 EXEC，区分实际执行与非 EXEC 区间。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右侧矩阵的每个格子表示同一窗口内，一条 Proxy→Shard 路径的阶段二 P99。示例中所有 Proxy 访问 Shard 3 都慢，范围集中在 Shard 3 或其共享通信路径；随后查看 Shard 3 的 TOTAL / EXEC。还可能出现几乎所有路径都慢、某个 Proxy 访问所有 Shard 都慢，或只有某条路径慢。只有监控具备 proxy_id 和 shard_id 维度时才能直接生成该矩阵。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只检查与异常阶段、异常节点和异常时间同时对应的指标。阶段一对应 Proxy 进入 QPS、连接数、输入流量和 CPU；阶段二对应 TOTAL / EXEC、Shard 进入与完成 QPS、CPU、I/O 和 RPC；阶段三或四对应响应大小、输出流量、TCP 发送队列、重传和 Client 读取。业务 P99 高但 Proxy 总耗时正常时，检查连接池、ELB、外部 RTT、Client 读取和统计口径。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QPS 必须区分进入速率与完成速率，只有进入速率持续大于完成速率才支持队列持续增长。CPU、磁盘和网络指标必须与同一阶段、节点和时间窗口对齐；相关性不等于因果。内存应关注压力、缺页、回收、Swap 或 OOM，而不是只看占用率。最终结论按事实、影响范围、原因强度、动作与复测结果输出。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本页按可观察现象归纳六类产品侧场景：慢点集中在一个 Shard、慢点集中在一个 Proxy、几乎所有路径同时变慢、固定周期出现尖峰、切换或恢复期间变慢，以及 Shard 执行正常但通信变慢。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这些现象用于选择验证方向：分别检查 Shard 局部资源、Proxy 局部资源、全局负载或共享基础设施、周期任务、切换事件，以及 RPC 或网络路径。必须结合对应阶段、节点范围和同窗事件验证，不能仅凭形态直接确认根因。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业务使用侧常见触发方式包括慢命令或大 Key、热 Key 或数据倾斜、短连接或连接池不足、大 Pipeline 或跨 Shard 批量、短超时或高频重试、集中 TTL 或缓存重建。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治理方向分别是拆分 Key、分页和限制返回量；拆热点、本地缓存和分散 Key；连接复用与调整连接池；限制批次、拆批并减少单批涉及的 Shard；退避、抖动并限制重试；TTL 随机化和合并重建。还应关注跨地域访问、客户端读取慢，以及生产环境高开销诊断本身带来的影响。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左侧练习采用 nearest-rank 口径：本分钟只有 60 个请求，ceil(0.99 × 60) = 60，因此 P99 取第 60 个请求。本例前 59 个 GET 为 1 ms，第 60 个 HGETALL 为 80 ms，所以 P99 等于 Max，均为 80 ms；Average 约为 2.32 ms。低 QPS 只是让单个慢请求更容易决定 P99，并不制造慢请求。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右侧先看空间范围：所有 Proxy→Shard 7 的阶段二约为 55 ms，其他路径约为 2 ms，问题范围集中在 Shard 7 或其共享通信路径。再看异常区间：Shard 7 的 TOTAL P99 为 53 ms，EXEC P99 为 5 ms且接近基线，因此应优先验证非 EXEC 区间；不能用两个聚合 P99 的差值计算排队 P99。最后看负载线索：Shard 7 进入 QPS 是其他 Shard 的 7 倍，支持热点或排队假设，但尚未证明根因。下一步应对齐同一窗口检查完成 QPS、RPC、Shard 调度与相关事件。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34acd9691343a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a08c019a1b47b9" /><Relationship Type="http://schemas.openxmlformats.org/officeDocument/2006/relationships/slideLayout" Target="/ppt/slideLayouts/slideLayout1.xml" Id="R959a698fd9fd41b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9a698fd9fd41b2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5e13d85f445d1" /><Relationship Type="http://schemas.openxmlformats.org/officeDocument/2006/relationships/notesSlide" Target="/ppt/notesSlides/notesSlide1.xml" Id="R2d8a8c1793a44e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2e62df985f4b1e" /><Relationship Type="http://schemas.openxmlformats.org/officeDocument/2006/relationships/notesSlide" Target="/ppt/notesSlides/notesSlide2.xml" Id="R5909eeb0226c4d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1c88d64363439e" /><Relationship Type="http://schemas.openxmlformats.org/officeDocument/2006/relationships/notesSlide" Target="/ppt/notesSlides/notesSlide3.xml" Id="Rb84f9883f9834a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6a79901b964bd3" /><Relationship Type="http://schemas.openxmlformats.org/officeDocument/2006/relationships/notesSlide" Target="/ppt/notesSlides/notesSlide4.xml" Id="R6a3dd328451045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7afab617bb44ec" /><Relationship Type="http://schemas.openxmlformats.org/officeDocument/2006/relationships/notesSlide" Target="/ppt/notesSlides/notesSlide5.xml" Id="R4171e85d25fa4a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e0ab5bb7f14239" /><Relationship Type="http://schemas.openxmlformats.org/officeDocument/2006/relationships/notesSlide" Target="/ppt/notesSlides/notesSlide6.xml" Id="R7cb8682006e94c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d5738d681492b" /><Relationship Type="http://schemas.openxmlformats.org/officeDocument/2006/relationships/notesSlide" Target="/ppt/notesSlides/notesSlide7.xml" Id="R56a8fa48839844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b8990700a43e1" /><Relationship Type="http://schemas.openxmlformats.org/officeDocument/2006/relationships/notesSlide" Target="/ppt/notesSlides/notesSlide8.xml" Id="R8905b2bd18aa48a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9bc0cfc4c842d1" /><Relationship Type="http://schemas.openxmlformats.org/officeDocument/2006/relationships/notesSlide" Target="/ppt/notesSlides/notesSlide9.xml" Id="R20cdd2b7459f468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fe7a9c21ac4471" /><Relationship Type="http://schemas.openxmlformats.org/officeDocument/2006/relationships/notesSlide" Target="/ppt/notesSlides/notesSlide10.xml" Id="R978df1af51474cc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4cb5cfcda14809" /><Relationship Type="http://schemas.openxmlformats.org/officeDocument/2006/relationships/notesSlide" Target="/ppt/notesSlides/notesSlide11.xml" Id="Rd70f6317b4db4e8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c74d05b6bf4a86" /><Relationship Type="http://schemas.openxmlformats.org/officeDocument/2006/relationships/notesSlide" Target="/ppt/notesSlides/notesSlide12.xml" Id="Rb2c20f62589c40d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9F2B921-5B72-4BF0-B6F2-60F0AF62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AD1AC3A-60C0-429F-A54C-6F1EA717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2AE8227-1A76-44A1-8726-F92003B48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6" name="page-top-0002">
            <a:extLst xmlns:a="http://schemas.openxmlformats.org/drawingml/2006/main">
              <a:ext uri="{FF2B5EF4-FFF2-40B4-BE49-F238E27FC236}">
                <a16:creationId xmlns:a16="http://schemas.microsoft.com/office/drawing/2014/main" id="{763B151A-5C6F-4A76-AAA5-D3FC92ED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01 / 12</a:t>
            </a:r>
          </a:p>
        </p:txBody>
      </p:sp>
      <p:sp>
        <p:nvSpPr>
          <p:cNvPr id="7" name="cover-title-0003">
            <a:extLst xmlns:a="http://schemas.openxmlformats.org/drawingml/2006/main">
              <a:ext uri="{FF2B5EF4-FFF2-40B4-BE49-F238E27FC236}">
                <a16:creationId xmlns:a16="http://schemas.microsoft.com/office/drawing/2014/main" id="{284CCF10-0FC4-4A74-B043-ECB3BC98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5300"/>
            <a:ext cx="857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4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Redis P99 时延</a:t>
            </a:r>
          </a:p>
        </p:txBody>
      </p:sp>
      <p:sp>
        <p:nvSpPr>
          <p:cNvPr id="8" name="cover-subtitle-0004">
            <a:extLst xmlns:a="http://schemas.openxmlformats.org/drawingml/2006/main">
              <a:ext uri="{FF2B5EF4-FFF2-40B4-BE49-F238E27FC236}">
                <a16:creationId xmlns:a16="http://schemas.microsoft.com/office/drawing/2014/main" id="{8CF8BDC9-F7E8-4A5D-AEBC-EC9C207A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430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1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定义 · 测量 · 定位</a:t>
            </a:r>
          </a:p>
        </p:txBody>
      </p:sp>
      <p:sp>
        <p:nvSpPr>
          <p:cNvPr id="51" name="line-0034">
            <a:extLst xmlns:a="http://schemas.openxmlformats.org/drawingml/2006/main">
              <a:ext uri="{FF2B5EF4-FFF2-40B4-BE49-F238E27FC236}">
                <a16:creationId xmlns:a16="http://schemas.microsoft.com/office/drawing/2014/main" id="{33C509D3-CBE5-4C82-87A4-A41BD3E6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CE73B83-5495-48A6-A084-25E18301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526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业务侧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4752B86-0C2A-487A-9925-2FB1205F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526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Redis 产品内部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4157726-E5C0-48A5-AE90-FF87C528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383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接入层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007B297-23BF-4B5B-A28F-BBC854B5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383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数据层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6DCCC41-BB14-42CA-80F0-E93A3555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0" cy="2857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3A4B6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DD53348-4FC1-4485-922F-45DA4FD6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190875"/>
            <a:ext cx="1390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60A5FA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859A3C0-BA19-4F06-B78E-25E545B0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52775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425B19B-B096-40B0-A979-C8E2C63F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4991100" y="2524125"/>
            <a:ext cx="1200150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78BFA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D91A34C-0250-41E1-BB9C-C7B7FF0D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86025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9FFEB7-8753-451D-A284-8640F2C4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90875"/>
            <a:ext cx="120015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78BFA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ED796E0-70E3-4E96-BC90-2A016D0E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43275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AE6F51F-B36C-4531-95B4-C2F050C0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90875"/>
            <a:ext cx="120015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78BFA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0CE2152-BF43-463F-9C49-0691ED73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200525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1BE7D59-C257-4820-864A-E10E1BEC9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24125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4B6A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CCAF3E1-6CC4-4A71-AD5C-D144219E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24125"/>
            <a:ext cx="209550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4B6A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FDB0874-46C3-4B8A-915D-2A1C4CCF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24125"/>
            <a:ext cx="2095500" cy="1714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4B6A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315719C-1911-425E-8A93-456A6620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9500" y="2524125"/>
            <a:ext cx="209550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4B6A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FEBFB47-2663-4C6E-B562-84D7D4CC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81375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4B6A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F96DA87-81BE-4FD5-A933-67BFD7E6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81375"/>
            <a:ext cx="209550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4B6A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6BA3111-4AC1-4D9A-AA39-9A0F2695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9500" y="2524125"/>
            <a:ext cx="2095500" cy="1714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4B6A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05CD0EA-BB8E-437C-A484-1C25DE41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9500" y="3381375"/>
            <a:ext cx="209550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4B6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0D835F2-5CF8-46B8-B3D4-F6562525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38625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4B6A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2F834D6-0B0B-49DF-9A28-64B6FF06C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47975"/>
            <a:ext cx="20955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9050">
            <a:solidFill>
              <a:srgbClr val="3B82F6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业务应用 / SDK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34888E8-4272-45D6-8E6F-C25E8C98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24175"/>
            <a:ext cx="8572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27104A"/>
          </a:solidFill>
          <a:ln xmlns:a="http://schemas.openxmlformats.org/drawingml/2006/main" w="19050">
            <a:solidFill>
              <a:srgbClr val="7C3AED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ELB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22116A2-6D5C-4A48-A9F6-524587A3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76475"/>
            <a:ext cx="123825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241044"/>
          </a:solidFill>
          <a:ln xmlns:a="http://schemas.openxmlformats.org/drawingml/2006/main" w="17145">
            <a:solidFill>
              <a:srgbClr val="7C3AED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Proxy 1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51F56E4-E551-47AF-923D-179864DF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76475"/>
            <a:ext cx="123825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251A08"/>
          </a:solidFill>
          <a:ln xmlns:a="http://schemas.openxmlformats.org/drawingml/2006/main" w="1714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Shard 1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E1BFF6B-9B9D-4A06-A31F-68BD101C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33725"/>
            <a:ext cx="123825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241044"/>
          </a:solidFill>
          <a:ln xmlns:a="http://schemas.openxmlformats.org/drawingml/2006/main" w="17145">
            <a:solidFill>
              <a:srgbClr val="7C3AED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Proxy 2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502BD77-28F2-4FFA-94C9-6A8849B2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33725"/>
            <a:ext cx="123825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251A08"/>
          </a:solidFill>
          <a:ln xmlns:a="http://schemas.openxmlformats.org/drawingml/2006/main" w="1714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Shard 2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80F680D-C621-47AB-BC04-1DF8F63F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90975"/>
            <a:ext cx="123825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241044"/>
          </a:solidFill>
          <a:ln xmlns:a="http://schemas.openxmlformats.org/drawingml/2006/main" w="17145">
            <a:solidFill>
              <a:srgbClr val="7C3AED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Proxy 3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DFFD7B1-7EE5-43DA-A594-617D7BDE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90975"/>
            <a:ext cx="123825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251A08"/>
          </a:solidFill>
          <a:ln xmlns:a="http://schemas.openxmlformats.org/drawingml/2006/main" w="1714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Shard 3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FFA9366-CED6-4FCF-9854-D967D572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7241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Redis 服务地址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C81F6E2-3524-4F2A-91E3-C5404CA6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572000"/>
            <a:ext cx="2476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与 Shard 全连通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CFB91CB-030A-4376-8CB9-47366DB27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625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9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ELB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AA60F94-C2F3-4D68-8C61-1AC1DCE2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864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客户端连接均衡分发至各 Proxy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7284160-C916-4D33-BBC0-A83DDD18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1625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9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9F919C7-2D75-4BB2-A4BE-E1AD8E0C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4864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每个 Proxy 均可访问所有 Shard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E916A18-7756-430A-B099-70C24C0F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162550"/>
            <a:ext cx="321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9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A68A2B5-3585-4338-A75E-B0D016A4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486400"/>
            <a:ext cx="321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负责数据分片，并对接后端存储池</a:t>
            </a:r>
          </a:p>
        </p:txBody>
      </p:sp>
    </p:spTree>
    <p:extLst>
      <p:ext uri="{BB962C8B-B14F-4D97-AF65-F5344CB8AC3E}">
        <p14:creationId xmlns:p14="http://schemas.microsoft.com/office/powerpoint/2010/main" val="19733981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1B2240E-243F-4944-A811-CB300348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C4E261E-9BD0-4FA0-8F07-9AE2706C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625454C-0473-4AE5-892A-6AEC4CD4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035">
            <a:extLst xmlns:a="http://schemas.openxmlformats.org/drawingml/2006/main">
              <a:ext uri="{FF2B5EF4-FFF2-40B4-BE49-F238E27FC236}">
                <a16:creationId xmlns:a16="http://schemas.microsoft.com/office/drawing/2014/main" id="{9DF1AF00-98DA-4ED0-8DB4-BFC632C5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1 · 理解 P99</a:t>
            </a:r>
          </a:p>
        </p:txBody>
      </p:sp>
      <p:sp>
        <p:nvSpPr>
          <p:cNvPr id="6" name="page-top-0036">
            <a:extLst xmlns:a="http://schemas.openxmlformats.org/drawingml/2006/main">
              <a:ext uri="{FF2B5EF4-FFF2-40B4-BE49-F238E27FC236}">
                <a16:creationId xmlns:a16="http://schemas.microsoft.com/office/drawing/2014/main" id="{7C3AFBBB-1A29-4F71-AB54-4981893A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02 / 12</a:t>
            </a:r>
          </a:p>
        </p:txBody>
      </p:sp>
      <p:sp>
        <p:nvSpPr>
          <p:cNvPr id="7" name="title-0037">
            <a:extLst xmlns:a="http://schemas.openxmlformats.org/drawingml/2006/main">
              <a:ext uri="{FF2B5EF4-FFF2-40B4-BE49-F238E27FC236}">
                <a16:creationId xmlns:a16="http://schemas.microsoft.com/office/drawing/2014/main" id="{29FC4E2F-AD93-4EAA-8F7D-B42E7E73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P99：99% 请求的时延边界</a:t>
            </a:r>
          </a:p>
        </p:txBody>
      </p:sp>
      <p:sp>
        <p:nvSpPr>
          <p:cNvPr id="8" name="line-0038">
            <a:extLst xmlns:a="http://schemas.openxmlformats.org/drawingml/2006/main">
              <a:ext uri="{FF2B5EF4-FFF2-40B4-BE49-F238E27FC236}">
                <a16:creationId xmlns:a16="http://schemas.microsoft.com/office/drawing/2014/main" id="{C594A810-FD4D-4832-9D56-2EF4B071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B963FB-A911-4D22-AE6B-E4B553E3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76350"/>
            <a:ext cx="6572250" cy="4895850"/>
          </a:xfrm>
          <a:prstGeom xmlns:a="http://schemas.openxmlformats.org/drawingml/2006/main" prst="roundRect">
            <a:avLst>
              <a:gd name="adj" fmla="val 2335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26365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0A7FD3-923E-4E71-8006-7737911D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100 个请求，按耗时从小到大排序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31F170-8EFD-43AF-8CA7-653D011BA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143125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23850">
            <a:solidFill>
              <a:srgbClr val="3B82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B5C3A0-461A-42D8-9869-4BC97FA0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EBCB5A-31EA-45B0-A177-B7BDE502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DBCC29-3FC1-4D18-9F18-CF9C7384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81200"/>
            <a:ext cx="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8103">
            <a:solidFill>
              <a:srgbClr val="EF444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D94981-61AD-4737-AB3C-58FBD945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前 99 个请求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EBD514-C13D-4D93-A6DB-663E0771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847850"/>
            <a:ext cx="0" cy="685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EF444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7FB550-B8CD-486F-9C46-C3FFE878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5621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最慢 1 个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110C67-6DB7-4A0B-B437-8E890B4B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812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P99 边界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9F5799-221F-452C-85EE-A33FC0C7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76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尾部 5 个请求放大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39A9E5-C93F-4747-B215-A124643C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76600"/>
            <a:ext cx="10668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#96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825EFD-26C6-4E81-A3EF-49901EE5E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276600"/>
            <a:ext cx="10668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#97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CF6959-41BB-4957-9609-61E64B7E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276600"/>
            <a:ext cx="10668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#98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1C174B-B05B-4E5E-8E0C-A167C22B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76600"/>
            <a:ext cx="10668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73564"/>
          </a:solidFill>
          <a:ln xmlns:a="http://schemas.openxmlformats.org/drawingml/2006/main" w="13335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#99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8 ms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D691CC-4CBB-420D-9B55-9B230D8E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276600"/>
            <a:ext cx="10668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4A1418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#100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60 ms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E7975F-7FD1-46F5-BB92-63C16BEE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0" cy="1200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0A5F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94540D-3685-45CF-8C16-5D277599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362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P99 = 第 99 个请求 = 8 ms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8DAF92-095C-42FA-9B4D-1FCA3C09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99 个请求的耗时 ≤ 8 ms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8457D2-AC8F-45C4-938A-42011A9F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最慢 1 个请求 = 60 ms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77639F-4488-4268-BE1E-6FB0D485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67375"/>
            <a:ext cx="581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请求已按耗时从小到大排序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CA90FF-E736-4E2D-8CBC-61CEAFEF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276350"/>
            <a:ext cx="4533900" cy="99060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26365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EF7E6C-0B16-4B14-B2E0-FEF986FA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27635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10BA92-F6CF-4938-8372-C806177D8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3906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rPr>
              <a:t>Average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09F1EE-0BC7-4217-AE4F-B585DB1A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3716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21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2.64 ms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9EB3E5-90E5-46D6-B0BB-E6D79A0E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72402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(98 × 2 + 8 + 60) ÷ 100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CD0CB3-242E-4E29-8309-60D99CA5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9716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所有请求的平均耗时是多少？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183E49-3F8D-4097-A2F2-225D1E50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19350"/>
            <a:ext cx="4533900" cy="99060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26365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5E0EE0-504B-4502-8C72-581A9411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1935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FCEC5A-6F25-4AC4-A73B-9AF6C061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336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3B82F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3B82F6"/>
                </a:solidFill>
                <a:latin typeface="Noto Sans CJK SC"/>
                <a:ea typeface="Noto Sans CJK SC"/>
                <a:cs typeface="Noto Sans CJK SC"/>
              </a:rPr>
              <a:t>P99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49A72D-8E30-4AAD-AF0D-8FEA3CF09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146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21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8 ms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77D7C7-5C6D-4FCF-8F53-D6993C5D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6702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排序后取第 99 个请求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BF96D9-D8F7-4479-B30A-51BCB359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146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99% 的请求落在什么时延以内？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C8642B0-5399-48BD-AE07-3E4D324E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62350"/>
            <a:ext cx="4533900" cy="99060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26365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23DDB9B-01A4-486E-A387-B6BF6DCB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6235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AE26768-AADB-4B76-801F-B6AD9480D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6766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Max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774F0F0-6FD3-48E4-B598-831CDC8E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576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21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60 ms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014DB4-0459-4C17-815F-DFF26FA9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01002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排序后取第 100 个请求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BCE90F2-6440-4BF6-BA6F-F27A12DC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2576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最慢一次请求是多少？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808E0E7-413C-4243-8661-ED6683CA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38700"/>
            <a:ext cx="4533900" cy="1333500"/>
          </a:xfrm>
          <a:prstGeom xmlns:a="http://schemas.openxmlformats.org/drawingml/2006/main" prst="roundRect">
            <a:avLst>
              <a:gd name="adj" fmla="val 7143"/>
            </a:avLst>
          </a:prstGeom>
          <a:noFill xmlns:a="http://schemas.openxmlformats.org/drawingml/2006/main"/>
          <a:ln xmlns:a="http://schemas.openxmlformats.org/drawingml/2006/main" w="15240">
            <a:solidFill>
              <a:srgbClr val="F59E0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4B36F57-7DBE-4840-A298-6071E57C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0101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低 QPS 的特殊现象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33FACF3-6C81-4C81-973B-06E069F8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391150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固定统计窗口内，QPS 越低，样本越少；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P99 由更少的尾部样本决定，往往更接近 Max，波动也更明显。</a:t>
            </a:r>
          </a:p>
        </p:txBody>
      </p:sp>
    </p:spTree>
    <p:extLst>
      <p:ext uri="{BB962C8B-B14F-4D97-AF65-F5344CB8AC3E}">
        <p14:creationId xmlns:p14="http://schemas.microsoft.com/office/powerpoint/2010/main" val="1015636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C72BE66-A57F-42EF-8D14-2A6033CE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11E692-E2E0-443F-83ED-AEA973AC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80D6BFD-7337-49F6-8BB5-57F60C0E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089">
            <a:extLst xmlns:a="http://schemas.openxmlformats.org/drawingml/2006/main">
              <a:ext uri="{FF2B5EF4-FFF2-40B4-BE49-F238E27FC236}">
                <a16:creationId xmlns:a16="http://schemas.microsoft.com/office/drawing/2014/main" id="{EB0D129B-6D08-4DF6-8C02-90965CAD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1 · 理解 P99</a:t>
            </a:r>
          </a:p>
        </p:txBody>
      </p:sp>
      <p:sp>
        <p:nvSpPr>
          <p:cNvPr id="6" name="page-top-0090">
            <a:extLst xmlns:a="http://schemas.openxmlformats.org/drawingml/2006/main">
              <a:ext uri="{FF2B5EF4-FFF2-40B4-BE49-F238E27FC236}">
                <a16:creationId xmlns:a16="http://schemas.microsoft.com/office/drawing/2014/main" id="{AC0594BD-A77B-4DB8-A23A-1C1E6B4C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03 / 12</a:t>
            </a:r>
          </a:p>
        </p:txBody>
      </p:sp>
      <p:sp>
        <p:nvSpPr>
          <p:cNvPr id="7" name="title-0091">
            <a:extLst xmlns:a="http://schemas.openxmlformats.org/drawingml/2006/main">
              <a:ext uri="{FF2B5EF4-FFF2-40B4-BE49-F238E27FC236}">
                <a16:creationId xmlns:a16="http://schemas.microsoft.com/office/drawing/2014/main" id="{D267AB09-DF1C-4E75-9B6D-C1157B7C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慢请求、排队、重试会放大P99指标</a:t>
            </a:r>
          </a:p>
        </p:txBody>
      </p:sp>
      <p:sp>
        <p:nvSpPr>
          <p:cNvPr id="8" name="line-0092">
            <a:extLst xmlns:a="http://schemas.openxmlformats.org/drawingml/2006/main">
              <a:ext uri="{FF2B5EF4-FFF2-40B4-BE49-F238E27FC236}">
                <a16:creationId xmlns:a16="http://schemas.microsoft.com/office/drawing/2014/main" id="{2FB8BCD8-C3D9-4C74-A4C5-4D29E1F2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DFF2B4-27D6-49E9-9D23-91E0C810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76350"/>
            <a:ext cx="6477000" cy="4895850"/>
          </a:xfrm>
          <a:prstGeom xmlns:a="http://schemas.openxmlformats.org/drawingml/2006/main" prst="roundRect">
            <a:avLst>
              <a:gd name="adj" fmla="val 233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26365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B4A23A-A21F-49A7-B9C2-43B9EFF6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76350"/>
            <a:ext cx="4648200" cy="4895850"/>
          </a:xfrm>
          <a:prstGeom xmlns:a="http://schemas.openxmlformats.org/drawingml/2006/main" prst="roundRect">
            <a:avLst>
              <a:gd name="adj" fmla="val 2459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26365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BC8013-865E-4272-B48A-6B958E5A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4000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同一 Shard · 同一串行处理路径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057A5E-A38B-485E-A040-7385B45A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669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时间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9BDC3-172B-4BA5-B394-3BE7F312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81200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1809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6D384F-7AB1-425A-8E32-662602B4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43100"/>
            <a:ext cx="1143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2180CC-4C10-48CC-9D06-0BBB080C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0980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执行路径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22F1B8-D9A5-49C3-9963-EFA3D5BB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09800"/>
            <a:ext cx="381000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373499-CE03-454E-92F4-CD3B4F96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0980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A：执行 50 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F754C5-413F-4C45-8FBE-0B404DA9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209800"/>
            <a:ext cx="323850" cy="3429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39E738-CACF-40F0-A66E-C09B8CEA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2098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53DDD-92F2-48C5-A204-054B0408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323850" cy="3429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BA422B-F40B-4093-8BD6-F0C410A9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84260E-F9D3-4BF0-8605-DA629E4B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09800"/>
            <a:ext cx="323850" cy="3429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A48BFF-0BAD-4261-B10E-0E071DC25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098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F5BE77-2CF6-4C73-8DBB-64EC7EF8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请求 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3BE02D-2B63-456C-8DD9-50F03327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8765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到达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49E184-75C1-4166-BCED-EA1A3CCC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F59E0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A0CBC6-EF7F-4F58-94D8-D093BDB3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52750"/>
            <a:ext cx="3200400" cy="2095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A2B1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6FC026-8C1D-47EE-94FD-F75A33B3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527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FCD3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CD34D"/>
                </a:solidFill>
                <a:latin typeface="Noto Sans CJK SC"/>
                <a:ea typeface="Noto Sans CJK SC"/>
                <a:cs typeface="Noto Sans CJK SC"/>
              </a:rPr>
              <a:t>等待 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C52958-41E1-4CAC-9AD8-BA131C8E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952750"/>
            <a:ext cx="323850" cy="2095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1190F3-5646-4670-B93D-316327EB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请求 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500861-E35D-4F49-B39A-5A8B5E0B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337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到达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F51A2B-6C17-483A-9596-A8BBD2FD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671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F59E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B96C64-79D2-48B8-A8B4-ACC96ABD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09950"/>
            <a:ext cx="2705100" cy="2095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A2B1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4AB4EB-AA2D-477D-8637-8B3606A2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4099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FCD3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CD34D"/>
                </a:solidFill>
                <a:latin typeface="Noto Sans CJK SC"/>
                <a:ea typeface="Noto Sans CJK SC"/>
                <a:cs typeface="Noto Sans CJK SC"/>
              </a:rPr>
              <a:t>等待 A、B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380B68A-FA63-4D01-A1DB-AE18FE0A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409950"/>
            <a:ext cx="323850" cy="2095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A16FA4-4484-4CD2-ABE6-CAA8001A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909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请求 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9840AD8-946B-4F31-B142-3634B2D3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7909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到达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43C56C-D414-47B3-9D39-756ABF78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9243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F59E0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CF48FA6-C7ED-43A5-BDCA-6019A74D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867150"/>
            <a:ext cx="2209800" cy="2095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A2B1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B83341D-756E-4308-88C7-D21D5AD4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67150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FCD3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CD34D"/>
                </a:solidFill>
                <a:latin typeface="Noto Sans CJK SC"/>
                <a:ea typeface="Noto Sans CJK SC"/>
                <a:cs typeface="Noto Sans CJK SC"/>
              </a:rPr>
              <a:t>等待 A、B、C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876C615-881A-4B62-BFE1-FD15FC37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67150"/>
            <a:ext cx="323850" cy="2095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046A8AD-F159-4856-9A1B-E4B93C66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481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B / C / D 自身执行仍为 1 ms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59F1A5-4AD9-4FB3-9995-F02592E4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248150"/>
            <a:ext cx="2533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端到端时延 = 排队等待 + 自身执行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7A04E9A-A7E3-4D6E-A2E8-4B5DD372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Pipeline 对照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A0D781F-B5A8-4B4E-AC1B-A6146DFA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101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客户端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EAAD7D7-D50E-47A9-A652-D4457DEC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81575"/>
            <a:ext cx="323850" cy="2667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E4C5E27-69EE-4842-9DD5-0A29DB98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981575"/>
            <a:ext cx="323850" cy="2667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70AACAD-B23D-43F4-AD7D-6EBF7C13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81575"/>
            <a:ext cx="323850" cy="2667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8CBF9F5-E1A3-4716-BEF6-3865AB80E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81575"/>
            <a:ext cx="323850" cy="2667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B5EB44F-3CE0-4F7A-82B2-D6906616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81575"/>
            <a:ext cx="323850" cy="2667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B70416F-97A1-45BA-A072-EBACBF1A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076825"/>
            <a:ext cx="1714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0963759-BC71-4B1E-A7F9-54AD8880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0101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同一路径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648D8FD-BEAE-4460-A53E-E36C24A2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981575"/>
            <a:ext cx="704850" cy="2667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3A2B13"/>
          </a:solidFill>
          <a:ln xmlns:a="http://schemas.openxmlformats.org/drawingml/2006/main" w="1333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A 慢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2D583B1-6543-48E5-8270-71101B1F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981575"/>
            <a:ext cx="247650" cy="2667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ED37E60-C6D5-40E1-A137-D3431B22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981575"/>
            <a:ext cx="247650" cy="2667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ACD042E-FE45-4199-AB6A-FE93B370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81575"/>
            <a:ext cx="247650" cy="2667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B0D0BD1-FC63-43AA-95E3-114D72E7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81575"/>
            <a:ext cx="247650" cy="2667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CB79861-CF54-4696-A0E3-91F970A0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483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Pipeline 减少网络往返；大批次遇到前部慢命令时，后续命令会成批等待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AA21B93-21EB-40E9-B8AC-0796AB201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66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超时前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EA3AC5A-622C-4B78-B1F5-06068D0E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8595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执行中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A936025-D674-448C-88F5-2D48073E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47850"/>
            <a:ext cx="9525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A2B13"/>
          </a:solidFill>
          <a:ln xmlns:a="http://schemas.openxmlformats.org/drawingml/2006/main" w="1333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A 慢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2A19B0E-F56B-4FD6-B976-5446AD1F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2410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队列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6E1BD25-8357-4724-9C59-8A3A871D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860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B82F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C1A8076-7A56-42F2-B61F-ACAB7945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2860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B82F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DD0F7F4-BE97-4C71-9C9C-6CC2BFA17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B82F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D48FD61-543D-49A4-A7DD-D87A2B91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295525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待处理：3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5EC383F-6D6E-4D84-9E2E-BB61880A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43200"/>
            <a:ext cx="3962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B / C / D 均超过客户端超时，并分别发起重试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743F80A-44FD-4669-9A59-765483EE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861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03C9942-17A8-4036-BF96-332487E3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33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重试后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C774AD5-DF8F-4EB3-A68A-571018518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75285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执行中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8D26295-15CB-435E-A288-6554397BE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14750"/>
            <a:ext cx="9525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A2B13"/>
          </a:solidFill>
          <a:ln xmlns:a="http://schemas.openxmlformats.org/drawingml/2006/main" w="1333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A 慢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4631672-2705-4760-861C-C96A92C0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9100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队列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4AC39DE-F019-4B4E-AB52-0FCB924E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29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B82F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D29A37B-FD89-4C63-991F-97C2EE8A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529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B82F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15F18FD-FC5A-4C29-828A-ADCC8D2E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1529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B82F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2DF8375-2E22-4197-9ABE-AB825443E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1529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42151A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B′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F6521C6-4667-4C67-8174-C8875657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1529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42151A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C′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85622EF-8DA7-4B84-943C-99184D82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1529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42151A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D′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39656CF-FE6C-4E96-8840-30F253F1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55295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2151A"/>
          </a:solidFill>
          <a:ln xmlns:a="http://schemas.openxmlformats.org/drawingml/2006/main" w="11430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待处理：6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A471DC1-2890-45A2-BAE1-A64D09DE7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101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服务当前完成能力：没有变化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36A6609-854C-4DAC-9CF8-1D08C07D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105400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等待变长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315B4E7-0B29-4F47-B8A8-660AA0A0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191125"/>
            <a:ext cx="1524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E4FC652-BD25-45D4-BF5A-CF07988D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054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超过超时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BB2067E-796C-4816-95A0-34FD80D6B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5191125"/>
            <a:ext cx="1524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6180C07-7974-4171-89A7-E99B31C0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1054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重试入队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94E0ED1-6F51-43EC-B548-5DE1EEFF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191125"/>
            <a:ext cx="1524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C3C699A-5337-4F1C-A834-E544005F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51054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更长等待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7F497BE-D03E-4A87-8A1A-ACF4402B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6197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新请求 QPS + 重试 QPS &gt; 当前完成 QPS → 队列持续增长 → P99 继续上升</a:t>
            </a:r>
          </a:p>
        </p:txBody>
      </p:sp>
    </p:spTree>
    <p:extLst>
      <p:ext uri="{BB962C8B-B14F-4D97-AF65-F5344CB8AC3E}">
        <p14:creationId xmlns:p14="http://schemas.microsoft.com/office/powerpoint/2010/main" val="19244741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3521A1D-CA7B-413D-B3F3-B972318A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295592E-DDB3-43B9-BE01-7F84498C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6665BD2-C404-49EC-B33C-13285603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197">
            <a:extLst xmlns:a="http://schemas.openxmlformats.org/drawingml/2006/main">
              <a:ext uri="{FF2B5EF4-FFF2-40B4-BE49-F238E27FC236}">
                <a16:creationId xmlns:a16="http://schemas.microsoft.com/office/drawing/2014/main" id="{00A0EB4F-F68E-4650-9C73-B0B35B7B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2 · 测量链路</a:t>
            </a:r>
          </a:p>
        </p:txBody>
      </p:sp>
      <p:sp>
        <p:nvSpPr>
          <p:cNvPr id="6" name="page-top-0198">
            <a:extLst xmlns:a="http://schemas.openxmlformats.org/drawingml/2006/main">
              <a:ext uri="{FF2B5EF4-FFF2-40B4-BE49-F238E27FC236}">
                <a16:creationId xmlns:a16="http://schemas.microsoft.com/office/drawing/2014/main" id="{E93708A1-03DA-40F1-8B8D-2B8A46AA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04 / 12</a:t>
            </a:r>
          </a:p>
        </p:txBody>
      </p:sp>
      <p:sp>
        <p:nvSpPr>
          <p:cNvPr id="7" name="title-0199">
            <a:extLst xmlns:a="http://schemas.openxmlformats.org/drawingml/2006/main">
              <a:ext uri="{FF2B5EF4-FFF2-40B4-BE49-F238E27FC236}">
                <a16:creationId xmlns:a16="http://schemas.microsoft.com/office/drawing/2014/main" id="{92C77050-D6E5-46E4-B40F-62B112EA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一条命令的耗时，分别记录在哪些指标里</a:t>
            </a:r>
          </a:p>
        </p:txBody>
      </p:sp>
      <p:sp>
        <p:nvSpPr>
          <p:cNvPr id="8" name="line-0200">
            <a:extLst xmlns:a="http://schemas.openxmlformats.org/drawingml/2006/main">
              <a:ext uri="{FF2B5EF4-FFF2-40B4-BE49-F238E27FC236}">
                <a16:creationId xmlns:a16="http://schemas.microsoft.com/office/drawing/2014/main" id="{F1E55501-FBEB-4E62-B987-2D327AC2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93A0C-4C7C-4680-8F84-BD13AB04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F1D71C-9544-4E7F-8FFA-7EC276FA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D0B5E6-929C-4442-B571-8A8AB850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BED7D3-52C4-426C-B886-3D6C832C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557F8B-CC9A-4C6D-AA0E-45FD484F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F795AC-FCB3-4883-8023-AA0A890E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137864-A3F2-4647-83B7-836BD4EB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D5B4D-56CF-4BFE-A296-8CC372BF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0BD7A6-5B04-49E3-A995-C0F15B94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80F1CF-C4D4-4838-A94C-964AE0909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90750"/>
            <a:ext cx="840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71809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F15923-46A3-4628-941F-CB85E13A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190750"/>
            <a:ext cx="93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60A5FA"/>
            </a:solidFill>
            <a:prstDash val="dash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CB03AF-0F5E-407A-8FB3-C6A6599D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2152650"/>
            <a:ext cx="1143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722251-5470-475A-89A7-C0E28A3A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Client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发送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6729A1-275B-4B7E-B6C4-6A786ECB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8B2899-60BA-4B57-9E2E-37B75CAB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收到请求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4FFD2F-8D81-439E-B9A1-288EFE55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D54558-C432-4E8A-AB7F-27B829B7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086F23-5194-4160-90ED-114E0E3A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转发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5B87D6-8BC4-4243-8794-921D3510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856AF9-9879-49A9-A998-8FA89E63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CD3E5E-2554-4F63-B894-3ED441CA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收到请求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84B7C5-FB57-4A24-AFD1-869279A2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1B5C2E-A4CA-48E9-8C43-F60A9CD6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5016A3-D6EE-42A5-B75E-4B603F9C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Worker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开始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144AAE-B1CD-401F-880B-989DE3A3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D9EDFF-A677-464F-BAF4-6E600244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2A2D73-D4AF-45AA-BA24-1E90C471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Worker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完成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5867BE-681E-4134-9176-DB8EB5BC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309C4D-47BE-4042-A035-EDCF1969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55E8F7-FB06-4ACF-BDCC-788751C7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回包完成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FEED71-C373-44FB-9AA7-BAC08024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53C20F-3210-4B1A-A9F5-EFCE593C1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B0C62E6-9BEF-43B7-AD58-D0989051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收到回包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F7CB6C-1ED9-4B5E-AF92-E34516B0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CA3DBAB-F159-4751-A1C6-E7DB07179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8E11C78-C128-4D7A-AFEF-48F2EA5D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开始发送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7D98F09-CD40-4B7B-83F6-B2804B1B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A8C2BC-7728-44A6-8DEB-F1BA3684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A227541-DC9B-46AF-BBC0-9BB117B4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口径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回包完成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BEBBE94-631B-4C12-9F03-21852114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390AE07-821D-4929-B725-D9B8AD9A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31A0AB3-AE38-430D-AD2F-7FF90634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Client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应用读取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0E7ACB6-BB19-4685-8E5A-07648D3F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523D630-EC3F-4CA7-A189-81B059C0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098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3B82F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3B82F6"/>
                </a:solidFill>
                <a:latin typeface="Noto Sans CJK SC"/>
                <a:ea typeface="Noto Sans CJK SC"/>
                <a:cs typeface="Noto Sans CJK SC"/>
              </a:rPr>
              <a:t>业务端到端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57F49C8-DA28-4BDC-9448-1A2C66B5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647950"/>
            <a:ext cx="933450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EB87BC9-AA22-40B5-A7C6-559BC2CE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705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38D763D-836B-4DF2-8E00-9522C011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2705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45A3FEA-3FB4-4691-A069-F5941725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718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Proxy 总耗时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2A10922-9468-45EC-9A43-B2FC334E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09900"/>
            <a:ext cx="746760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F2253BA-DE44-4C9D-BCE9-4D84DD24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067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67751F2-0CFC-46BB-B948-C22EB0BD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067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B46F6A1-F68F-4A54-9C1A-832F17ED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337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阶段一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BD5AD3A-7F99-4200-8E42-FCC7CBEC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71850"/>
            <a:ext cx="933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489452-3650-41DB-A429-F21D7B15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4290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4944EBD-C90F-46F3-A194-9832EFC4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4290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59000E0-BCE7-4F02-A675-28914FEC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957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阶段二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05D59FE-BBD4-4868-82BA-F16DCCB8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733800"/>
            <a:ext cx="46672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9F64368-EA1F-4ACD-873D-5C73CC48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7909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2EDF48F-C0CC-4668-BFA9-7014E281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7909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ACA54CA-1A0C-4365-B079-482FDF30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576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TOTAL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0DCA3A6-0902-43DD-BDEF-38BAAAB5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095750"/>
            <a:ext cx="28003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A4BD1E2-A9AD-4F14-95E6-2B12636D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41529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DA583BF-5937-49AA-AD95-4CFED24A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1529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91ED805-D35C-4719-9CB2-9A1F7A7F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196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Shard EXEC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EF70DBD-B279-4E51-87CF-7CA397E2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457700"/>
            <a:ext cx="933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22D4CB9-D7B2-4BA4-ACC4-65186E4C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5148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1C2BCB3-55A8-4C9E-83EA-0F06B63F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148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888AA5C-BD0B-44BB-91A5-744AECDA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815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C084F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C084FC"/>
                </a:solidFill>
                <a:latin typeface="Noto Sans CJK SC"/>
                <a:ea typeface="Noto Sans CJK SC"/>
                <a:cs typeface="Noto Sans CJK SC"/>
              </a:rPr>
              <a:t>阶段三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BDF3466-D987-4E6C-BEB6-1018315D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819650"/>
            <a:ext cx="933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C084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5593EC6-DCA5-457E-A068-009F5DA6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876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9DED023-E4C9-4626-984B-FEDF8C75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4876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8C92806-DC25-4236-81B4-80518616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1435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E879F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79F9"/>
                </a:solidFill>
                <a:latin typeface="Noto Sans CJK SC"/>
                <a:ea typeface="Noto Sans CJK SC"/>
                <a:cs typeface="Noto Sans CJK SC"/>
              </a:rPr>
              <a:t>阶段四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ED50018-DB67-424F-A4D9-9359456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181600"/>
            <a:ext cx="933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879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0A87880-88C6-4D49-8D1F-EF7EC05B3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5238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2BA94F4-D04C-4D27-96BD-D5993B58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5238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F435C51-E93A-42E9-867B-DF06FF71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同一条请求：Proxy 总耗时 = 阶段一 + 阶段二 + 阶段三 + 阶段四。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FF02136-E527-4EAB-B68A-C6B0D88F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78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聚合 P99 不能直接加减；P99(TOTAL) − P99(EXEC) 不能当作排队 P99。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9ECA113-4ED7-4A50-9F83-CCD48B03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981700"/>
            <a:ext cx="419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等距排布只表示处理顺序和指标边界，不表示各阶段真实耗时比例。</a:t>
            </a:r>
          </a:p>
        </p:txBody>
      </p:sp>
    </p:spTree>
    <p:extLst>
      <p:ext uri="{BB962C8B-B14F-4D97-AF65-F5344CB8AC3E}">
        <p14:creationId xmlns:p14="http://schemas.microsoft.com/office/powerpoint/2010/main" val="3059634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61C0DA8-87B5-4ACE-AF08-4CA47A82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A8FEBE2-E8F1-4DCF-9FFA-677924C3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3FBA44D-61A0-48AD-B0CD-6665B6E6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300">
            <a:extLst xmlns:a="http://schemas.openxmlformats.org/drawingml/2006/main">
              <a:ext uri="{FF2B5EF4-FFF2-40B4-BE49-F238E27FC236}">
                <a16:creationId xmlns:a16="http://schemas.microsoft.com/office/drawing/2014/main" id="{606C7600-2D31-4073-ACE1-F685E72D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2 · 测量链路</a:t>
            </a:r>
          </a:p>
        </p:txBody>
      </p:sp>
      <p:sp>
        <p:nvSpPr>
          <p:cNvPr id="6" name="page-top-0301">
            <a:extLst xmlns:a="http://schemas.openxmlformats.org/drawingml/2006/main">
              <a:ext uri="{FF2B5EF4-FFF2-40B4-BE49-F238E27FC236}">
                <a16:creationId xmlns:a16="http://schemas.microsoft.com/office/drawing/2014/main" id="{CD1F523F-F646-45D3-8914-838CF5C9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05 / 12</a:t>
            </a:r>
          </a:p>
        </p:txBody>
      </p:sp>
      <p:sp>
        <p:nvSpPr>
          <p:cNvPr id="7" name="title-0302">
            <a:extLst xmlns:a="http://schemas.openxmlformats.org/drawingml/2006/main">
              <a:ext uri="{FF2B5EF4-FFF2-40B4-BE49-F238E27FC236}">
                <a16:creationId xmlns:a16="http://schemas.microsoft.com/office/drawing/2014/main" id="{7FBC2FC6-B93B-4121-9A76-BF6B8B8C0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Proxy 四阶段定位慢在哪一段</a:t>
            </a:r>
          </a:p>
        </p:txBody>
      </p:sp>
      <p:sp>
        <p:nvSpPr>
          <p:cNvPr id="8" name="line-0303">
            <a:extLst xmlns:a="http://schemas.openxmlformats.org/drawingml/2006/main">
              <a:ext uri="{FF2B5EF4-FFF2-40B4-BE49-F238E27FC236}">
                <a16:creationId xmlns:a16="http://schemas.microsoft.com/office/drawing/2014/main" id="{7403CB1F-28E1-4846-8365-0910DDE0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A294A7-DF48-4E5D-84DE-03D8C8B4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200150"/>
            <a:ext cx="468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Average + P99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1F30BB-F74F-4226-A2D8-63FFF478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200150"/>
            <a:ext cx="468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Max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62BC55-9406-4F7D-9821-3AB8BB11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33525"/>
            <a:ext cx="38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AB2709-E61E-4EE4-9AA7-BDA358CD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859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Proxy 总耗时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91F331-46DE-4DE8-AF7B-288BB189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485900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3B82F6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[PROXY-TOTAL-AVG-P99]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8A0DCE-0451-4A4F-8D39-10C6F1A1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485900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3B82F6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[PROXY-TOTAL-MAX]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8EC486-AE0D-4BC2-AF50-90106CE10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38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E8CCDC-FFC5-4B76-A044-88F498AE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66925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阶段一 · 预处理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8F91C9-E3B9-4558-850D-249D1F97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066925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A78BFA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[STAGE1-AVG-P99]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E5773A-1E38-449A-892C-51EC937F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066925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A78BFA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[STAGE1-MAX]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4794D7-35C7-4FDF-95AA-E30F176F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95575"/>
            <a:ext cx="38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9D4556-E3BC-4C1D-8BC4-906C4567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阶段二 · Shard 往返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C41F80-AAC4-4A86-A7DC-9AA89FA9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47950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22D3EE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[STAGE2-AVG-P99]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CAE8D6-1286-40BC-83D7-1D7E256F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47950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22D3EE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[STAGE2-MAX]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DC9D66-B211-4F82-B2E0-932E23FF6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76600"/>
            <a:ext cx="38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84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3C128B-19EA-47A3-9B82-DBF949EB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28975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阶段三 · 回包队列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BA096B-E3D2-49BA-AB4E-D0DE21B4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28975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084FC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[STAGE3-AVG-P99]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E4992B-4FFA-4C4C-9B31-1AC69E06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28975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084FC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[STAGE3-MAX]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822E22-75F4-4399-9268-3D031E62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57625"/>
            <a:ext cx="38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79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E2FEEB-5FBA-4B66-B856-265D96C2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阶段四 · 回包发送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0B3942-CEB8-4B90-A3A6-98534FA4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10000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E879F9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[STAGE4-AVG-P99]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928FC8-22FB-4DCC-80B9-A65E5310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10000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E879F9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[STAGE4-MAX]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3CC83F-C3F4-4DF4-BC48-5E642C83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05350"/>
            <a:ext cx="5581650" cy="628650"/>
          </a:xfrm>
          <a:prstGeom xmlns:a="http://schemas.openxmlformats.org/drawingml/2006/main" prst="roundRect">
            <a:avLst>
              <a:gd name="adj" fmla="val 12121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00E5A4-E3AB-4874-908F-20A86AFA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0535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CFE83F-8571-4BAE-B753-EB33A137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720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阶段二升高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77D49C-45A4-4C43-AE87-18DD4D8C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19675"/>
            <a:ext cx="521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先看 Shard TOTAL / EXEC；正常再查 RPC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0B2E98-2C04-401F-9E4F-ABD82F75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05350"/>
            <a:ext cx="5581650" cy="628650"/>
          </a:xfrm>
          <a:prstGeom xmlns:a="http://schemas.openxmlformats.org/drawingml/2006/main" prst="roundRect">
            <a:avLst>
              <a:gd name="adj" fmla="val 12121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7AC21C-6FA0-42EC-9FB5-6AC2DCF28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0535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D68D8B-7A85-4611-B98E-02673104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7720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阶段二、三同时升高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40021E6-FACE-430B-B8F1-348C72CD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19675"/>
            <a:ext cx="521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看 Shard；检查 Pipeline 前部慢请求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580A13-AD1A-45CA-B882-D16FB02F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67350"/>
            <a:ext cx="5581650" cy="628650"/>
          </a:xfrm>
          <a:prstGeom xmlns:a="http://schemas.openxmlformats.org/drawingml/2006/main" prst="roundRect">
            <a:avLst>
              <a:gd name="adj" fmla="val 12121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6A4FBC3-CD88-4605-8760-97AAA002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6735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B7AE93-F821-4B40-8F2F-1C62A9AF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340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阶段三、四同时升高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F8C589F-9E50-47C4-83E4-1CC493BF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81675"/>
            <a:ext cx="521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看回包（网络 / 客户端读取）与 Pipeline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1334417-64F4-462B-9B2D-06FF5FC0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67350"/>
            <a:ext cx="5581650" cy="628650"/>
          </a:xfrm>
          <a:prstGeom xmlns:a="http://schemas.openxmlformats.org/drawingml/2006/main" prst="roundRect">
            <a:avLst>
              <a:gd name="adj" fmla="val 12121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A6EE308-57F7-4406-9D3A-E705937F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6735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919917F-E54B-4103-A365-A8408340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340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阶段四升高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C9B9A7D-0FA7-44AA-B488-55BC81BE1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781675"/>
            <a:ext cx="521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看回包（网络 / TCP / 客户端读取）</a:t>
            </a:r>
          </a:p>
        </p:txBody>
      </p:sp>
    </p:spTree>
    <p:extLst>
      <p:ext uri="{BB962C8B-B14F-4D97-AF65-F5344CB8AC3E}">
        <p14:creationId xmlns:p14="http://schemas.microsoft.com/office/powerpoint/2010/main" val="6927922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43D8E90-EC77-441A-B470-291925E4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558F199-71AF-4321-958B-2AAFD85C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94881ED-5A38-45AD-8A7D-890C0841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338">
            <a:extLst xmlns:a="http://schemas.openxmlformats.org/drawingml/2006/main">
              <a:ext uri="{FF2B5EF4-FFF2-40B4-BE49-F238E27FC236}">
                <a16:creationId xmlns:a16="http://schemas.microsoft.com/office/drawing/2014/main" id="{27F3C1D8-C576-4263-9A04-10A25F42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2 · 测量链路</a:t>
            </a:r>
          </a:p>
        </p:txBody>
      </p:sp>
      <p:sp>
        <p:nvSpPr>
          <p:cNvPr id="6" name="page-top-0339">
            <a:extLst xmlns:a="http://schemas.openxmlformats.org/drawingml/2006/main">
              <a:ext uri="{FF2B5EF4-FFF2-40B4-BE49-F238E27FC236}">
                <a16:creationId xmlns:a16="http://schemas.microsoft.com/office/drawing/2014/main" id="{BB25F9A2-96E4-4C88-9950-3708B586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06 / 12</a:t>
            </a:r>
          </a:p>
        </p:txBody>
      </p:sp>
      <p:sp>
        <p:nvSpPr>
          <p:cNvPr id="7" name="title-0340">
            <a:extLst xmlns:a="http://schemas.openxmlformats.org/drawingml/2006/main">
              <a:ext uri="{FF2B5EF4-FFF2-40B4-BE49-F238E27FC236}">
                <a16:creationId xmlns:a16="http://schemas.microsoft.com/office/drawing/2014/main" id="{94352ED1-6BC7-4D19-81D2-3E52CE10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Shard TOTAL / EXEC 帮助区分执行内外</a:t>
            </a:r>
          </a:p>
        </p:txBody>
      </p:sp>
      <p:sp>
        <p:nvSpPr>
          <p:cNvPr id="8" name="line-0341">
            <a:extLst xmlns:a="http://schemas.openxmlformats.org/drawingml/2006/main">
              <a:ext uri="{FF2B5EF4-FFF2-40B4-BE49-F238E27FC236}">
                <a16:creationId xmlns:a16="http://schemas.microsoft.com/office/drawing/2014/main" id="{57079109-C6FF-4AB6-BD6A-50129153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23B2F4-5E02-48E9-96BF-310D91FE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2573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rPr>
              <a:t>Average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13A57E-42DE-41DE-AEBE-C845D769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2573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P99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E4B812-8DAD-472B-973C-8F16B7A3E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2573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Max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C6CADF-E349-4976-8FB1-BE29B7D8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95450"/>
            <a:ext cx="38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DEA1EF-B4E8-4A53-B9BF-EC8C7A0B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11239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TOTAL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657FD-4DBF-4C23-B0B0-E9CF12BE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48000"/>
            <a:ext cx="38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DE2A60-440E-4C12-AD04-EDC25D6E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11239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Shard EXEC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5EB4B6-0449-4983-8531-628EE2B9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95450"/>
            <a:ext cx="3238500" cy="1066800"/>
          </a:xfrm>
          <a:prstGeom xmlns:a="http://schemas.openxmlformats.org/drawingml/2006/main" prst="roundRect">
            <a:avLst>
              <a:gd name="adj" fmla="val 625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F59E0B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[TOTAL-AVG]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15FF22-52FA-487C-BCDA-F34482F7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95450"/>
            <a:ext cx="3238500" cy="1066800"/>
          </a:xfrm>
          <a:prstGeom xmlns:a="http://schemas.openxmlformats.org/drawingml/2006/main" prst="roundRect">
            <a:avLst>
              <a:gd name="adj" fmla="val 625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F59E0B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[TOTAL-P99]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AED618-00C5-4383-A53D-C4F20A1C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95450"/>
            <a:ext cx="3238500" cy="1066800"/>
          </a:xfrm>
          <a:prstGeom xmlns:a="http://schemas.openxmlformats.org/drawingml/2006/main" prst="roundRect">
            <a:avLst>
              <a:gd name="adj" fmla="val 625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F59E0B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[TOTAL-MAX]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8DE29B-840F-481E-8C91-9DB03C179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48000"/>
            <a:ext cx="3238500" cy="1066800"/>
          </a:xfrm>
          <a:prstGeom xmlns:a="http://schemas.openxmlformats.org/drawingml/2006/main" prst="roundRect">
            <a:avLst>
              <a:gd name="adj" fmla="val 625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A78BFA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[EXEC-AVG]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D125CA-072E-4771-8EB9-837B53AB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238500" cy="1066800"/>
          </a:xfrm>
          <a:prstGeom xmlns:a="http://schemas.openxmlformats.org/drawingml/2006/main" prst="roundRect">
            <a:avLst>
              <a:gd name="adj" fmla="val 625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A78BFA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[EXEC-P99]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0A95F9-AABF-4763-9C37-5B8AC312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48000"/>
            <a:ext cx="3238500" cy="1066800"/>
          </a:xfrm>
          <a:prstGeom xmlns:a="http://schemas.openxmlformats.org/drawingml/2006/main" prst="roundRect">
            <a:avLst>
              <a:gd name="adj" fmla="val 625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A78BFA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[EXEC-MAX]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EE6055-0D57-4F7D-82DB-83EA0379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14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EXEC 显著升高且量级可比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9DD54F-7E46-4682-9562-E483639B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800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9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8D10EB-CD2C-4D83-96CC-C8651ED6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48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优先验证实际执行路径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8D7E85-45D6-4C64-8AA9-B4EFCFE4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514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TOTAL 升高，EXEC 接近基线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B5C549-6F0C-4354-AD56-837C4F16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800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9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3EB074-2462-4947-A60D-32B14519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048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优先验证排队等非 EXEC 区间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8B36D9-FB07-4F86-AEC9-D9EB0819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14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阶段二升高，TOTAL / EXEC 正常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9416F3-946F-4E73-A70A-3BA54187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800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95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D9963F-3CB7-4D73-85A0-F9E1F6E7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48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优先验证 RPC、网络或统计对齐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6F4102-FBEC-4A36-9CE5-9159CFB6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76900"/>
            <a:ext cx="8763000" cy="361950"/>
          </a:xfrm>
          <a:prstGeom xmlns:a="http://schemas.openxmlformats.org/drawingml/2006/main" prst="roundRect">
            <a:avLst>
              <a:gd name="adj" fmla="val 26316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只比较同一窗口的趋势与异常范围；不能用两个聚合 P99 相减计算排队 P99。</a:t>
            </a:r>
          </a:p>
        </p:txBody>
      </p:sp>
    </p:spTree>
    <p:extLst>
      <p:ext uri="{BB962C8B-B14F-4D97-AF65-F5344CB8AC3E}">
        <p14:creationId xmlns:p14="http://schemas.microsoft.com/office/powerpoint/2010/main" val="5978081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B56B6E9-E576-411C-AE3C-6EB93BF2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D63F17C-5241-478B-96B4-C8E1BFFC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8C58DA0-06FB-4C84-B3D1-0C2193A8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371">
            <a:extLst xmlns:a="http://schemas.openxmlformats.org/drawingml/2006/main">
              <a:ext uri="{FF2B5EF4-FFF2-40B4-BE49-F238E27FC236}">
                <a16:creationId xmlns:a16="http://schemas.microsoft.com/office/drawing/2014/main" id="{A0D8F9C2-C8EA-4360-A61D-BD9A0323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3 · 排查方法</a:t>
            </a:r>
          </a:p>
        </p:txBody>
      </p:sp>
      <p:sp>
        <p:nvSpPr>
          <p:cNvPr id="6" name="page-top-0372">
            <a:extLst xmlns:a="http://schemas.openxmlformats.org/drawingml/2006/main">
              <a:ext uri="{FF2B5EF4-FFF2-40B4-BE49-F238E27FC236}">
                <a16:creationId xmlns:a16="http://schemas.microsoft.com/office/drawing/2014/main" id="{9F6A2843-CB72-471E-8E2E-8C2E2A2F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07 / 12</a:t>
            </a:r>
          </a:p>
        </p:txBody>
      </p:sp>
      <p:sp>
        <p:nvSpPr>
          <p:cNvPr id="7" name="title-0373">
            <a:extLst xmlns:a="http://schemas.openxmlformats.org/drawingml/2006/main">
              <a:ext uri="{FF2B5EF4-FFF2-40B4-BE49-F238E27FC236}">
                <a16:creationId xmlns:a16="http://schemas.microsoft.com/office/drawing/2014/main" id="{169A11D3-F4CD-4465-9D00-B847FAA7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P99 排查要回答三个问题</a:t>
            </a:r>
          </a:p>
        </p:txBody>
      </p:sp>
      <p:sp>
        <p:nvSpPr>
          <p:cNvPr id="8" name="line-0374">
            <a:extLst xmlns:a="http://schemas.openxmlformats.org/drawingml/2006/main">
              <a:ext uri="{FF2B5EF4-FFF2-40B4-BE49-F238E27FC236}">
                <a16:creationId xmlns:a16="http://schemas.microsoft.com/office/drawing/2014/main" id="{BC7409A4-856B-4EA5-98CF-5C8ADCCC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4C478-09E8-4F2F-A032-9D252434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257300"/>
            <a:ext cx="8763000" cy="361950"/>
          </a:xfrm>
          <a:prstGeom xmlns:a="http://schemas.openxmlformats.org/drawingml/2006/main" prst="roundRect">
            <a:avLst>
              <a:gd name="adj" fmla="val 31579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同一时间窗口  ｜  同一统计口径  ｜  同一命令范围  ｜  足够样本量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6273F9-57CD-47DD-BEEE-57EA0247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00375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1809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42090F-AFE2-42BD-BC4C-892F7BA8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62275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293B6-810B-44B9-B61B-B35674C8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000375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1809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82C140-175D-413B-BB1A-6F030685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62275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A9064A-3F19-4AA9-B682-8B254C5D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3181350" cy="1809750"/>
          </a:xfrm>
          <a:prstGeom xmlns:a="http://schemas.openxmlformats.org/drawingml/2006/main" prst="roundRect">
            <a:avLst>
              <a:gd name="adj" fmla="val 6316"/>
            </a:avLst>
          </a:prstGeom>
          <a:noFill xmlns:a="http://schemas.openxmlformats.org/drawingml/2006/main"/>
          <a:ln xmlns:a="http://schemas.openxmlformats.org/drawingml/2006/main" w="15240">
            <a:solidFill>
              <a:srgbClr val="A78BF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CD91B2-CB3C-4E22-B970-16DAF668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514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36603D-5099-4414-B5C1-B3C5B748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哪一段慢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66026F-BB27-438B-9B52-B7E9C076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阶段一 / 二 / 三 / 四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TOTAL / EXEC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56224D-6836-4D3B-8C59-366BD5651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14550"/>
            <a:ext cx="3181350" cy="1809750"/>
          </a:xfrm>
          <a:prstGeom xmlns:a="http://schemas.openxmlformats.org/drawingml/2006/main" prst="roundRect">
            <a:avLst>
              <a:gd name="adj" fmla="val 6316"/>
            </a:avLst>
          </a:prstGeom>
          <a:noFill xmlns:a="http://schemas.openxmlformats.org/drawingml/2006/main"/>
          <a:ln xmlns:a="http://schemas.openxmlformats.org/drawingml/2006/main" w="15240">
            <a:solidFill>
              <a:srgbClr val="60A5F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C0E693-624C-442A-893A-A5D7156C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86000"/>
            <a:ext cx="514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25F8F8-E836-48F1-9756-41D78319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051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谁在变慢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DEBB9C-7A57-442C-B3AA-7CF04F40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43250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全部 / 单 Proxy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单 Shard / 单路径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A35D6A-45F6-425B-9656-41ED355B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14550"/>
            <a:ext cx="3181350" cy="1809750"/>
          </a:xfrm>
          <a:prstGeom xmlns:a="http://schemas.openxmlformats.org/drawingml/2006/main" prst="roundRect">
            <a:avLst>
              <a:gd name="adj" fmla="val 6316"/>
            </a:avLst>
          </a:prstGeom>
          <a:noFill xmlns:a="http://schemas.openxmlformats.org/drawingml/2006/main"/>
          <a:ln xmlns:a="http://schemas.openxmlformats.org/drawingml/2006/main" w="15240">
            <a:solidFill>
              <a:srgbClr val="F59E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CFE1EA-C9BE-42F8-8C84-C829B644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86000"/>
            <a:ext cx="514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A0EAA5-0230-4197-8229-EBAA2B33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051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为什么慢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C3C818-0BAF-490A-AC7E-61B1D5E9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143250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QPS / CPU / I/O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网络 / 队列 / 事件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286AC5-8F18-4CB7-9C82-02866091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业务侧 P99 异常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D33D82-0AB1-4B0D-9860-120AEDC4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291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一条完整定位结论应该长这样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7A25FB-43C3-491E-A6F8-D8436829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625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1809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6B7756-82DA-4997-A699-AC3F56D8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124450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52809F-2F9B-4A74-8791-4CFA4B97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1625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1809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B6A88A-EFE0-44C9-823A-48CB2544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124450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0E0D8F-5C76-4EC1-BE17-C68AB9D5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625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1809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617168-A3BF-45A3-9511-09FBEA98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124450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9C137F-F8EA-4E42-B037-175F7E33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81550"/>
            <a:ext cx="2247900" cy="762000"/>
          </a:xfrm>
          <a:prstGeom xmlns:a="http://schemas.openxmlformats.org/drawingml/2006/main" prst="roundRect">
            <a:avLst>
              <a:gd name="adj" fmla="val 125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阶段四 P99 升高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69A2E8-7B4F-4B49-97CB-4C74A336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81550"/>
            <a:ext cx="2095500" cy="762000"/>
          </a:xfrm>
          <a:prstGeom xmlns:a="http://schemas.openxmlformats.org/drawingml/2006/main" prst="roundRect">
            <a:avLst>
              <a:gd name="adj" fmla="val 125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仅 Proxy 2 异常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DEE055-3CDC-44EC-B426-C4939C561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781550"/>
            <a:ext cx="2914650" cy="762000"/>
          </a:xfrm>
          <a:prstGeom xmlns:a="http://schemas.openxmlformats.org/drawingml/2006/main" prst="roundRect">
            <a:avLst>
              <a:gd name="adj" fmla="val 125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发送队列与重传同窗升高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0AD696-9707-4B90-9415-1DD2105A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81550"/>
            <a:ext cx="2647950" cy="762000"/>
          </a:xfrm>
          <a:prstGeom xmlns:a="http://schemas.openxmlformats.org/drawingml/2006/main" prst="roundRect">
            <a:avLst>
              <a:gd name="adj" fmla="val 125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FACC1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rPr>
              <a:t>回包路径异常：强推断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rPr>
              <a:t>具体原因：待验证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38E63FF-57F9-49DA-A0CF-3CF1D86B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76900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事实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570CE5-8936-4160-86C3-8965F71D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676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范围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C77002C-97C7-441C-B54B-564AC4D9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6769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同窗证据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535138-453E-4F94-806C-35419B7A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76900"/>
            <a:ext cx="2647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结论强度</a:t>
            </a:r>
          </a:p>
        </p:txBody>
      </p:sp>
    </p:spTree>
    <p:extLst>
      <p:ext uri="{BB962C8B-B14F-4D97-AF65-F5344CB8AC3E}">
        <p14:creationId xmlns:p14="http://schemas.microsoft.com/office/powerpoint/2010/main" val="8166716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74D968F-3F1B-4A27-BEA7-6A4D65F5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AA44197-78B4-40E5-97B5-0963C4CE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221EC3A-D975-482F-ABBF-7E22B213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438">
            <a:extLst xmlns:a="http://schemas.openxmlformats.org/drawingml/2006/main">
              <a:ext uri="{FF2B5EF4-FFF2-40B4-BE49-F238E27FC236}">
                <a16:creationId xmlns:a16="http://schemas.microsoft.com/office/drawing/2014/main" id="{71319DB7-F31E-4AB5-AC1D-EF42F530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3 · 排查方法</a:t>
            </a:r>
          </a:p>
        </p:txBody>
      </p:sp>
      <p:sp>
        <p:nvSpPr>
          <p:cNvPr id="6" name="page-top-0439">
            <a:extLst xmlns:a="http://schemas.openxmlformats.org/drawingml/2006/main">
              <a:ext uri="{FF2B5EF4-FFF2-40B4-BE49-F238E27FC236}">
                <a16:creationId xmlns:a16="http://schemas.microsoft.com/office/drawing/2014/main" id="{31934386-0C22-4A53-9AF8-92F048B0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08 / 12</a:t>
            </a:r>
          </a:p>
        </p:txBody>
      </p:sp>
      <p:sp>
        <p:nvSpPr>
          <p:cNvPr id="7" name="title-0440">
            <a:extLst xmlns:a="http://schemas.openxmlformats.org/drawingml/2006/main">
              <a:ext uri="{FF2B5EF4-FFF2-40B4-BE49-F238E27FC236}">
                <a16:creationId xmlns:a16="http://schemas.microsoft.com/office/drawing/2014/main" id="{3EF2E174-7375-48F0-BEFA-F4EE123D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阶段指标定位慢段，路径分布缩小范围</a:t>
            </a:r>
          </a:p>
        </p:txBody>
      </p:sp>
      <p:sp>
        <p:nvSpPr>
          <p:cNvPr id="8" name="line-0441">
            <a:extLst xmlns:a="http://schemas.openxmlformats.org/drawingml/2006/main">
              <a:ext uri="{FF2B5EF4-FFF2-40B4-BE49-F238E27FC236}">
                <a16:creationId xmlns:a16="http://schemas.microsoft.com/office/drawing/2014/main" id="{7C571AEF-9065-45D6-9548-1853FB73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827504-5ADA-4BCF-94F2-34F3AEC7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6002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1809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74C0CA-2D6F-4D88-94A7-209AD29B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1619250"/>
            <a:ext cx="76200" cy="1333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65002A-9C3B-4E46-92D8-826EF4FD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47900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1809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DA14ED-8C9C-431E-8C97-22BDFA5A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2305050"/>
            <a:ext cx="76200" cy="1333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F89C5E-39D9-424A-A503-60522090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105150"/>
            <a:ext cx="0" cy="26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1809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394DA4-30DD-4A3A-8BD8-0CA28A5EE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3219450"/>
            <a:ext cx="76200" cy="1333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320C7-831C-4BBD-B38F-A777BA595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67150"/>
            <a:ext cx="0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1809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AA096A-443E-4B2B-8203-950BF5C7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057650"/>
            <a:ext cx="76200" cy="1333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093E7D-8046-4F61-9A2D-FCBEAB42E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0A5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DF18CA-FEA2-45FA-B577-9277E03B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962150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6B8B10-30B9-403C-B89C-EBA315D3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81300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A78BF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F40D28-9B48-467F-A7EE-FA8B554D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43200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4D71B0-92BD-45C7-BF5E-0E337B42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19500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22D3E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95A4D2-7C12-48E2-A201-86D9C99C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81400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35D988-1FA5-4BCF-A683-772C9CBA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38650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F59E0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11D76C-EB1B-48CC-8A98-29BE3666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400550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32A238-3192-4CAE-B77E-FD53A4E3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24400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FACC1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D6C78C-4346-4DEF-A915-8BB66250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686300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ACC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7D17E0-F40B-41D9-9221-71361687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295400"/>
            <a:ext cx="21717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业务端到端 P99 高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397673-DDC9-4932-BACE-DAB8C324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2571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Proxy 总耗时是否升高？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080B37-0CEF-4B61-A0BD-38B963A7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2571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哪些 Proxy 阶段升高？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（可同时出现）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A7F51D-E148-44EB-BFD7-9EF70824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571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Shard TOTAL 是否同步升高？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B2DAB6-7FE3-4DFC-83D2-FABEBA7D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0050"/>
            <a:ext cx="2571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Shard EXEC 是否显著升高，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且量级 / 增量可比？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EF6834-D37E-42CC-8443-728B31E1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752600"/>
            <a:ext cx="2628900" cy="495300"/>
          </a:xfrm>
          <a:prstGeom xmlns:a="http://schemas.openxmlformats.org/drawingml/2006/main" prst="roundRect">
            <a:avLst>
              <a:gd name="adj" fmla="val 1538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Client / 连接池 / ELB /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外部网络 / 统计口径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BB2353-E26D-4307-9230-226971DC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8125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阶段一 → 接收 / 解析 / 预处理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阶段三 → 回包排队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阶段四 → Client 方向发送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42D070-3DD9-4FB3-9849-D6EF24B4E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71850"/>
            <a:ext cx="2628900" cy="495300"/>
          </a:xfrm>
          <a:prstGeom xmlns:a="http://schemas.openxmlformats.org/drawingml/2006/main" prst="roundRect">
            <a:avLst>
              <a:gd name="adj" fmla="val 1538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22D3EE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RPC / 网络 / 指标对齐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BCBD85-401E-48A1-9998-2DF5C947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210050"/>
            <a:ext cx="2628900" cy="419100"/>
          </a:xfrm>
          <a:prstGeom xmlns:a="http://schemas.openxmlformats.org/drawingml/2006/main" prst="roundRect">
            <a:avLst>
              <a:gd name="adj" fmla="val 1818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优先验证实际执行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A86CCFD-72B0-44C3-BB11-605E8C58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686300"/>
            <a:ext cx="2628900" cy="419100"/>
          </a:xfrm>
          <a:prstGeom xmlns:a="http://schemas.openxmlformats.org/drawingml/2006/main" prst="roundRect">
            <a:avLst>
              <a:gd name="adj" fmla="val 1818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FACC1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rPr>
              <a:t>优先验证非 EXEC 区间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E18F086-1CC0-412B-BF85-5D28CB72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790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C85436-5AA3-4EB8-AA83-C6894CE7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289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1/3/4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458925-AC6A-4F8B-AB51-63774082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4099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否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2E716D3-B34A-4E22-AA22-0B515E0F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2291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是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AE2E1CA-25C4-476C-A67E-B7D7D6C2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7053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rPr>
              <a:t>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455E42B-F058-431B-B228-1E26A732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266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是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5A16E03-D253-4756-B35F-40E9D1B3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9433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是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A9329EB-878B-42C2-B0C3-94ECE3DF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133725"/>
            <a:ext cx="838200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070B16"/>
          </a:solidFill>
          <a:ln xmlns:a="http://schemas.openxmlformats.org/drawingml/2006/main" w="13335">
            <a:solidFill>
              <a:srgbClr val="22D3EE"/>
            </a:solidFill>
            <a:prstDash val="solid"/>
          </a:ln>
        </p:spPr>
        <p:txBody>
          <a:bodyPr xmlns:a="http://schemas.openxmlformats.org/drawingml/2006/main" wrap="square" lIns="19050" tIns="0" rIns="1905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阶段二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8C441C2-59AD-4159-81DE-08FCF950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76350"/>
            <a:ext cx="481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阶段二汇总升高 → 按 proxy_id × shard_id 拆分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2259CD-B6B9-4A15-9EFB-4AE9A568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62100"/>
            <a:ext cx="481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每格 = 同一窗口的一条 Proxy → Shard 路径阶段二 P99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96170B4-AE34-4EF5-B695-C2581D63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47850"/>
            <a:ext cx="481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若集中到一个 Shard → 查看该 Shard 的 TOTAL / EXEC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E3BE077-DCD9-4E78-B786-847C8CDD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71700"/>
            <a:ext cx="481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阶段二 P99（ms）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D876697-19D4-4F20-AEA7-5DF984BC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57450"/>
            <a:ext cx="828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40F9E6B-46D0-4674-B0C5-A6652023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457450"/>
            <a:ext cx="828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2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270E58E-12C3-4436-8998-D186E6A9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457450"/>
            <a:ext cx="828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3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D231544-A375-4DB2-A982-AD9554F8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457450"/>
            <a:ext cx="828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8115896-22A1-4830-95CA-BAF06C74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24150"/>
            <a:ext cx="80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1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1C2B56-216B-40C3-BC93-D496C07AE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241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510B8E-B4A0-411E-AD9C-DB48BAF9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7241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2DF3FA-1C70-47EF-8656-AD3E4B03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241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5A171D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55 ms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0AABAEC-D567-4884-B2FF-0B76B57A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7241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3D40EC5-4EA7-414F-975F-72F4E249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67050"/>
            <a:ext cx="80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2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31D93AF-9B77-4B1B-8133-28EB4505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2996F47-89E2-4599-AADB-5C7371F0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0670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2999880-820F-4335-8246-1341CFBA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0670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5A171D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54 ms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399E896-2A1B-4BB0-84A1-1B2363E0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670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17F80FE-A1BF-4484-AB81-7BC80405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09950"/>
            <a:ext cx="80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6EF9836-AFBB-445F-A307-630C7ADB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099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7518142-E7F8-4F22-9ED6-F64DAA09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4099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B8793CD-8A35-471A-A7A4-D3D3CA15B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099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5A171D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56 ms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55A0E77-278F-45AE-A54C-65C78735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4099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2F2BF41-301C-407F-8128-E6C3C18D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52850"/>
            <a:ext cx="80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7E128E1-3259-4E01-B5A8-6ACD7A33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528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AFE58AD-E903-44BC-926C-6F8D8EBD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7528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FFAC28E-7D61-4E51-8207-B1CE9B6D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7528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5A171D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55 ms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77226B7-A1C4-4474-BB38-99E73305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752850"/>
            <a:ext cx="79057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A97ACAB-3249-4267-A750-6B0BB543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481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所有 Proxy 访问 Shard 3 都慢 → 问题范围集中在 Shard 3 或其共享通信路径。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5D4E4D2-00EE-424F-87F1-B028CB0B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762500"/>
            <a:ext cx="481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3270C39-73B1-465D-B201-1F0FD761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762500"/>
            <a:ext cx="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B646A1D-B789-4EC0-B593-C4FB30ED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86375"/>
            <a:ext cx="481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82775B7-187A-4C88-A6A6-BADE33490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几乎所有路径都慢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8DEB849-DDE1-4932-A391-6C23D857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76825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全局负载 / 共享基础设施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40839EC-7067-4ED4-906B-DF1C5214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810125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某个 Proxy 访问所有 Shard 都慢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BF42AAB-6C38-4019-8C08-931775B9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5076825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该 Proxy / 主机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358EEED-C6B0-4255-8D6A-9440363F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334000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所有 Proxy 访问某个 Shard 都慢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3B7B2A1-19F2-4E97-8049-B21EC6D3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00700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该 Shard / 共享路径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4C58099-9E7A-45C9-A1BE-46675793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5334000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只有某条路径慢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B89B93C-6686-4542-9343-44553592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5600700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特定 RPC 路径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98339C8-993D-4281-BF9E-12B0D2BE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62650"/>
            <a:ext cx="933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“升高”表示相对历史基线或同集群其他节点异常；分层 P99 用于定位，不能直接做加减法。</a:t>
            </a:r>
          </a:p>
        </p:txBody>
      </p:sp>
    </p:spTree>
    <p:extLst>
      <p:ext uri="{BB962C8B-B14F-4D97-AF65-F5344CB8AC3E}">
        <p14:creationId xmlns:p14="http://schemas.microsoft.com/office/powerpoint/2010/main" val="3247457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55570B7-826E-4C02-ACEC-8715591F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E909314-4393-4A5B-95D4-5C93D9E9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88E2A32-4F60-4D6E-A0EE-E246CBA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548">
            <a:extLst xmlns:a="http://schemas.openxmlformats.org/drawingml/2006/main">
              <a:ext uri="{FF2B5EF4-FFF2-40B4-BE49-F238E27FC236}">
                <a16:creationId xmlns:a16="http://schemas.microsoft.com/office/drawing/2014/main" id="{5B6603DD-59C2-42EF-9CAF-C8B7D1E59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3 · 排查方法</a:t>
            </a:r>
          </a:p>
        </p:txBody>
      </p:sp>
      <p:sp>
        <p:nvSpPr>
          <p:cNvPr id="6" name="page-top-0549">
            <a:extLst xmlns:a="http://schemas.openxmlformats.org/drawingml/2006/main">
              <a:ext uri="{FF2B5EF4-FFF2-40B4-BE49-F238E27FC236}">
                <a16:creationId xmlns:a16="http://schemas.microsoft.com/office/drawing/2014/main" id="{45208C07-60ED-4485-B2E6-8AEA0D7D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09 / 12</a:t>
            </a:r>
          </a:p>
        </p:txBody>
      </p:sp>
      <p:sp>
        <p:nvSpPr>
          <p:cNvPr id="7" name="title-0550">
            <a:extLst xmlns:a="http://schemas.openxmlformats.org/drawingml/2006/main">
              <a:ext uri="{FF2B5EF4-FFF2-40B4-BE49-F238E27FC236}">
                <a16:creationId xmlns:a16="http://schemas.microsoft.com/office/drawing/2014/main" id="{FA1F0D3D-380C-496A-A536-6C206198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异常阶段给出方向，通用指标用来验证原因</a:t>
            </a:r>
          </a:p>
        </p:txBody>
      </p:sp>
      <p:sp>
        <p:nvSpPr>
          <p:cNvPr id="8" name="line-0551">
            <a:extLst xmlns:a="http://schemas.openxmlformats.org/drawingml/2006/main">
              <a:ext uri="{FF2B5EF4-FFF2-40B4-BE49-F238E27FC236}">
                <a16:creationId xmlns:a16="http://schemas.microsoft.com/office/drawing/2014/main" id="{3F01E533-670A-40AF-BE4C-255F5D81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AC041-A8A7-4546-B439-17F9BD2E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257300"/>
            <a:ext cx="8572500" cy="361950"/>
          </a:xfrm>
          <a:prstGeom xmlns:a="http://schemas.openxmlformats.org/drawingml/2006/main" prst="roundRect">
            <a:avLst>
              <a:gd name="adj" fmla="val 31579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只检查与异常阶段、异常节点和异常时间同时对应的指标。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B2993A-548A-4142-ABAE-18ADB948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3365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C21D91-0514-4339-8D27-E2C18B44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2238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阶段一升高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1E8AA2-BA54-402D-8A94-A9695C79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095500"/>
            <a:ext cx="1714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AB326D-C0EB-459D-8B22-A881973D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809750"/>
            <a:ext cx="5095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Proxy 进入 QPS / 连接数 / 输入流量 / CPU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DC41FB-53EA-4EE1-AE41-65045CA0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95500"/>
            <a:ext cx="1714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14B096-CC4D-43D0-8F64-A8B5BDEB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80975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验证接收、解析或预处理是否饱和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1AFF95-B26A-4D7A-9DF4-8209BF14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528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3ECFF2-1D73-40E5-9BF9-85D0E7F3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28900"/>
            <a:ext cx="2238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阶段二升高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64C03F-DC68-49C1-9684-0C04A415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914650"/>
            <a:ext cx="1714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2E1DBB-B47B-4B30-9825-2A76EA59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28900"/>
            <a:ext cx="5095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TOTAL / EXEC、Shard 进入与完成 QPS、CPU / I/O、RPC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E086B6-89EC-4E42-9E25-5EA78475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14650"/>
            <a:ext cx="1714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BB0EF8-FE92-4791-BC07-9886134E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区分实际执行、非 EXEC 区间和 Proxy ↔ Shard 通信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551281-936C-4D41-87BC-F97998B7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17195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E4FE92-9586-4553-A057-88CAEB80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48050"/>
            <a:ext cx="2238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阶段三或阶段四升高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40999E-D078-450A-B156-F975BE98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733800"/>
            <a:ext cx="1714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D07BEC-6AEE-4D78-8175-A561B583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48050"/>
            <a:ext cx="5095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响应大小 / 输出流量 / TCP 发送队列 / 重传 / Client 读取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27D944-A571-4431-A7D2-5C2BDB2E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33800"/>
            <a:ext cx="1714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30FA2D-9E3D-483A-AB14-04E21FDF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44805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验证回包是否在排队或发送方向受阻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3CB2EB-ED4E-42C9-8D10-A0A608F8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911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16CCCE-6F34-4F2D-9B59-9F1088B7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67200"/>
            <a:ext cx="2238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业务 P99 高，但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Proxy 总耗时正常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F12A44-B5C4-4DB6-AFD5-6B3842881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552950"/>
            <a:ext cx="1714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52C055-685B-4D0F-805B-BEC4FF1D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67200"/>
            <a:ext cx="5095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连接池 / ELB / 外部 RTT / Client 读取 / 超时统计口径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E54525-08AA-4651-822D-591601BBC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52950"/>
            <a:ext cx="1714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30D04E-9E39-483E-BE67-1DE6756E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26720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验证 Proxy 测量边界之外的问题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633D87-CD9B-4910-ADC7-FBFA7D17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387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rPr>
              <a:t>结论输出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70B79A-7E63-4941-A2FF-C8AC5F31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19700"/>
            <a:ext cx="2305050" cy="647700"/>
          </a:xfrm>
          <a:prstGeom xmlns:a="http://schemas.openxmlformats.org/drawingml/2006/main" prst="roundRect">
            <a:avLst>
              <a:gd name="adj" fmla="val 1176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事实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DB1AE4A-50F4-4813-9CDA-C9473BB0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219700"/>
            <a:ext cx="2305050" cy="647700"/>
          </a:xfrm>
          <a:prstGeom xmlns:a="http://schemas.openxmlformats.org/drawingml/2006/main" prst="roundRect">
            <a:avLst>
              <a:gd name="adj" fmla="val 1176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影响范围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9C2BA6-23AD-4E33-955C-62828A31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19700"/>
            <a:ext cx="2305050" cy="647700"/>
          </a:xfrm>
          <a:prstGeom xmlns:a="http://schemas.openxmlformats.org/drawingml/2006/main" prst="roundRect">
            <a:avLst>
              <a:gd name="adj" fmla="val 1176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原因强度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已确认 / 推断 / 待验证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BD9E26-D9C4-424E-ABD7-B95F8E2E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219700"/>
            <a:ext cx="2305050" cy="647700"/>
          </a:xfrm>
          <a:prstGeom xmlns:a="http://schemas.openxmlformats.org/drawingml/2006/main" prst="roundRect">
            <a:avLst>
              <a:gd name="adj" fmla="val 1176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10B98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rPr>
              <a:t>动作与复测结果</a:t>
            </a:r>
          </a:p>
        </p:txBody>
      </p:sp>
    </p:spTree>
    <p:extLst>
      <p:ext uri="{BB962C8B-B14F-4D97-AF65-F5344CB8AC3E}">
        <p14:creationId xmlns:p14="http://schemas.microsoft.com/office/powerpoint/2010/main" val="2457826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D063263-E41E-41E2-A750-BC57F596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E16648B-89DE-401D-A2B3-4F8C61B6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DD3BFA0-8BA3-4979-8DC8-5762254B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611">
            <a:extLst xmlns:a="http://schemas.openxmlformats.org/drawingml/2006/main">
              <a:ext uri="{FF2B5EF4-FFF2-40B4-BE49-F238E27FC236}">
                <a16:creationId xmlns:a16="http://schemas.microsoft.com/office/drawing/2014/main" id="{751E1155-4964-4A64-A58B-9505A324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4 · 典型场景</a:t>
            </a:r>
          </a:p>
        </p:txBody>
      </p:sp>
      <p:sp>
        <p:nvSpPr>
          <p:cNvPr id="6" name="page-top-0612">
            <a:extLst xmlns:a="http://schemas.openxmlformats.org/drawingml/2006/main">
              <a:ext uri="{FF2B5EF4-FFF2-40B4-BE49-F238E27FC236}">
                <a16:creationId xmlns:a16="http://schemas.microsoft.com/office/drawing/2014/main" id="{DBDA5877-9F95-425F-9641-F129F4CC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10 / 12</a:t>
            </a:r>
          </a:p>
        </p:txBody>
      </p:sp>
      <p:sp>
        <p:nvSpPr>
          <p:cNvPr id="7" name="title-0613">
            <a:extLst xmlns:a="http://schemas.openxmlformats.org/drawingml/2006/main">
              <a:ext uri="{FF2B5EF4-FFF2-40B4-BE49-F238E27FC236}">
                <a16:creationId xmlns:a16="http://schemas.microsoft.com/office/drawing/2014/main" id="{99539CF3-0068-4151-A2FE-D265BC20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Redis 产品侧：六类高频故障形态</a:t>
            </a:r>
          </a:p>
        </p:txBody>
      </p:sp>
      <p:sp>
        <p:nvSpPr>
          <p:cNvPr id="8" name="line-0614">
            <a:extLst xmlns:a="http://schemas.openxmlformats.org/drawingml/2006/main">
              <a:ext uri="{FF2B5EF4-FFF2-40B4-BE49-F238E27FC236}">
                <a16:creationId xmlns:a16="http://schemas.microsoft.com/office/drawing/2014/main" id="{22514845-A27C-44AB-AFD9-32AE2AFB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BA3DD-0227-4B1B-966E-F3ADAE18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0CCF7C-5028-47B6-B954-E2DB778A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313785-590F-40D4-AE15-633A0361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C64D01-AD8F-4D54-8B96-F87BFF98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05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慢点集中在一个 Shard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9E0272-5A9C-40FD-9EDD-FE682403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看见：所有 Proxy 访问同一 Shard 都慢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0A6888-D0EA-4F39-B606-C804B724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首查：热点 Key / 数据倾斜 / 节点资源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AB626A-7F0E-480F-BCA5-8B0FBE0E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39065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4AEC58-F407-4A84-A28F-6EC53EFF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39065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7E5E9C-8CB4-4CA4-B292-9E58FBC9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56210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70F83D-45E1-4B64-A724-048329F1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05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慢点集中在一个 Proxy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547AEE-A283-4630-B7A4-145BADA9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860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看见：一个 Proxy 访问所有 Shard 都慢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6FC322-3B41-494E-8E7D-C5775546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43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首查：CPU 限流 / 事件循环 / 连接倾斜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89A599-669B-4D13-ABEB-A40FFBCB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9065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76422C-1CC0-4D0A-B652-80DA146A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9065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7175DA-0AA7-4362-A4C1-5CFFD831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6210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全局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E879D2-EF95-4EB3-8494-79B594F8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05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集群整体开始排队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045673-4BA4-4AB4-A4C9-C0EC5721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看见：多数路径变慢，Average / P99 同升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83418A-A17A-48F9-9274-25C76905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首查：进入与完成 QPS / 队列 / 容量余量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A2A7A8-CEF9-4C0B-8B6D-7D59C9D0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8140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45DA52-3F72-42B6-9AF3-66E30201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8140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CC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BDD220-A57F-4943-A09C-E8DF667F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5285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FACC1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rPr>
              <a:t>周期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24DAB8-108F-4A53-A43C-2636D88D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95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固定周期出现尖峰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1D787D-1C91-42E4-8361-59A96084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看见：P99 / Max 按固定周期升高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3E2A95-7A61-4400-9EF0-061FBB3F3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33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rPr>
              <a:t>首查：快照 / 压缩 / 备份 / 迁移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F48CDB-525A-479B-A151-5E303868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8140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0EF091-E727-41B9-AB34-181DE22F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8140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B9ED2F1-4BC2-4286-8CEC-498875A7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5285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事件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A388FF-CB04-45F5-BBDD-2F56BEA9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95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切换或恢复期间变慢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F0E1AB-9313-40F8-8885-EC1FAE24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76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看见：时延 / 错误 / 重连同步升高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60834D-7BD6-426B-BCF2-DA440A9C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933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首查：切换 / 复制追赶 / 容量余量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2A2482-6558-4C05-80E7-C6D31FFE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9AAE0B6-79AA-4089-9B8A-9C4A29C4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76A7169-46C2-4A8A-9979-21C90F7D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5285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22D3EE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通信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9DCDC40-4116-4F70-859E-7D1D3357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Shard 执行正常，通信变慢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0CF5E68-C910-4568-BAD4-B2F39A2ED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76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看见：阶段二升高，TOTAL / EXEC 接近基线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9EDBA0A-01DE-426E-B9A2-933AC42B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33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首查：口径对齐 / 重传 / 主机限流 / RPC 网络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623A1DC-0B75-41DE-82E9-AE1F7E88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531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先看慢点集中在哪里，再拆排队与执行，最后叠加时间事件。</a:t>
            </a:r>
          </a:p>
        </p:txBody>
      </p:sp>
    </p:spTree>
    <p:extLst>
      <p:ext uri="{BB962C8B-B14F-4D97-AF65-F5344CB8AC3E}">
        <p14:creationId xmlns:p14="http://schemas.microsoft.com/office/powerpoint/2010/main" val="6464293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9713FAB-CC2F-4E66-BA58-5D4851EF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31B701D-5B69-43C1-8541-AE3D4ABC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BE1EC82-F2D1-4740-9CCC-586B36C7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671">
            <a:extLst xmlns:a="http://schemas.openxmlformats.org/drawingml/2006/main">
              <a:ext uri="{FF2B5EF4-FFF2-40B4-BE49-F238E27FC236}">
                <a16:creationId xmlns:a16="http://schemas.microsoft.com/office/drawing/2014/main" id="{C6D7C227-0EC4-488B-9D90-C92C6823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4 · 典型场景</a:t>
            </a:r>
          </a:p>
        </p:txBody>
      </p:sp>
      <p:sp>
        <p:nvSpPr>
          <p:cNvPr id="6" name="page-top-0672">
            <a:extLst xmlns:a="http://schemas.openxmlformats.org/drawingml/2006/main">
              <a:ext uri="{FF2B5EF4-FFF2-40B4-BE49-F238E27FC236}">
                <a16:creationId xmlns:a16="http://schemas.microsoft.com/office/drawing/2014/main" id="{82942B53-0B6A-4965-89ED-F6405F98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11 / 12</a:t>
            </a:r>
          </a:p>
        </p:txBody>
      </p:sp>
      <p:sp>
        <p:nvSpPr>
          <p:cNvPr id="7" name="title-0673">
            <a:extLst xmlns:a="http://schemas.openxmlformats.org/drawingml/2006/main">
              <a:ext uri="{FF2B5EF4-FFF2-40B4-BE49-F238E27FC236}">
                <a16:creationId xmlns:a16="http://schemas.microsoft.com/office/drawing/2014/main" id="{43974BD7-6796-4802-9883-487494E4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业务使用侧：六类常见触发方式</a:t>
            </a:r>
          </a:p>
        </p:txBody>
      </p:sp>
      <p:sp>
        <p:nvSpPr>
          <p:cNvPr id="8" name="line-0674">
            <a:extLst xmlns:a="http://schemas.openxmlformats.org/drawingml/2006/main">
              <a:ext uri="{FF2B5EF4-FFF2-40B4-BE49-F238E27FC236}">
                <a16:creationId xmlns:a16="http://schemas.microsoft.com/office/drawing/2014/main" id="{796EA290-319F-4403-A686-5C82DDE5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1923A2-33B3-4C49-8468-1FD8E630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23F96E-6C86-4556-B245-F6314336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865241-32FD-4EA3-A340-F0C42383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87630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大 Key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4C586D-D9CD-4B5F-907C-9BC3264F0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05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慢命令 / 大 Key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940D08-9BC0-4969-8164-6D09510D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HGETALL、长 Lua、大 Value、大范围读取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D4D19F-3FF7-4E69-B218-841145FC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治理：拆 Key / 分页 / 限制返回量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FF9B8B-EAF0-468B-BE7E-92D46A0F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39065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1DA46A-1DE5-4475-8F78-41671216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39065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F761BE-A996-4EBD-87F1-26E8846D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56210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热点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9BA560-A3B8-4866-A7AF-3AE29425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05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热 Key / 数据倾斜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A4D656-5642-4E15-A053-0C97FD52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860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少量 Key 或前缀集中访问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6F978F-37D1-420D-9E90-0800C566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43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治理：拆热点 / 本地缓存 / 分散 Key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F34CA4-BE4C-4FE3-8B44-13D54493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9065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F81CB9-BD40-4165-93A8-7FB5C2FF3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9065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053361-49E1-4870-B4D3-A19AF893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6210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连接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92F055-371E-4223-81A1-448ADFF5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05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短连接 / 连接池不足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F10259-AB96-432A-BA60-640E5E71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握手频繁或业务线程等待连接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E2EDB1-C159-46EE-BD0C-26D1B7DD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治理：连接复用 / 调整连接池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E0DF19-A5B0-41E0-B39E-7C49216EF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8140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97EDEC-9DCD-41A8-93DC-77B38B383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8140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927179-1727-4208-B540-CFA1F8FF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5285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批量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5552A4-A33C-4B19-801D-BF54D6CA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95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大 Pipeline / 跨 Shard 批量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618C8C-12D7-48F3-B5DB-83CBC501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批次过大；前部慢命令或慢路径拖住后续结果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916CA9-78CD-42D8-B31F-EC1763507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33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治理：限制批次 / 拆批 / 单批少跨 Shard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77B55F-8A9D-4984-8D13-E680EE68B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8140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BACAA6-857B-492E-A540-54748101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8140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B60940-3E3C-4F1D-9B01-F1D0BE91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5285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重试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EF6A59-55C8-4464-BA28-0EEEBF7E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95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短超时 / 高频重试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711364-1A69-43FA-8462-0AE217A6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76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失败流量形成重试放大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4639EEA-86AA-4D45-959F-3EF89E29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933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治理：退避 / 抖动 / 限制重试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7223AD0-4273-4435-A4DD-2574F02C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98AA966-087F-4C49-B5D8-3F4EA339F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3A6FEE-1013-4BC0-9363-A43DF4B4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5285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TTL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966EA2F-B2D1-49E8-93B7-8AE9D48F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集中 TTL / 缓存重建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E25C051-D48F-488D-8D01-045F46958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76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统一过期、回源和写入洪峰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57AA6B3-DBBA-4752-BAFD-E7487355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33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治理：TTL 随机化 / 合并重建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6873188-1743-4123-BEBD-D11F073D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7531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同时关注：跨地域访问 · 业务客户端读取慢 · 生产环境高开销诊断</a:t>
            </a:r>
          </a:p>
        </p:txBody>
      </p:sp>
    </p:spTree>
    <p:extLst>
      <p:ext uri="{BB962C8B-B14F-4D97-AF65-F5344CB8AC3E}">
        <p14:creationId xmlns:p14="http://schemas.microsoft.com/office/powerpoint/2010/main" val="87961656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18B8BB0-6C16-4F55-BD7B-EEED4DF0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2E0EBCE-31FC-438B-9538-48ED6F34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08C9D35-3497-40DE-A383-C70CC478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731">
            <a:extLst xmlns:a="http://schemas.openxmlformats.org/drawingml/2006/main">
              <a:ext uri="{FF2B5EF4-FFF2-40B4-BE49-F238E27FC236}">
                <a16:creationId xmlns:a16="http://schemas.microsoft.com/office/drawing/2014/main" id="{5E154D23-EE64-45E5-86E7-4EBB4557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5 · 综合练习</a:t>
            </a:r>
          </a:p>
        </p:txBody>
      </p:sp>
      <p:sp>
        <p:nvSpPr>
          <p:cNvPr id="6" name="page-top-0732">
            <a:extLst xmlns:a="http://schemas.openxmlformats.org/drawingml/2006/main">
              <a:ext uri="{FF2B5EF4-FFF2-40B4-BE49-F238E27FC236}">
                <a16:creationId xmlns:a16="http://schemas.microsoft.com/office/drawing/2014/main" id="{3095FBF5-F43E-4ED5-8B2C-43324DE4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12 / 12</a:t>
            </a:r>
          </a:p>
        </p:txBody>
      </p:sp>
      <p:sp>
        <p:nvSpPr>
          <p:cNvPr id="7" name="title-0733">
            <a:extLst xmlns:a="http://schemas.openxmlformats.org/drawingml/2006/main">
              <a:ext uri="{FF2B5EF4-FFF2-40B4-BE49-F238E27FC236}">
                <a16:creationId xmlns:a16="http://schemas.microsoft.com/office/drawing/2014/main" id="{1CD27D1A-8408-46FD-ADEE-7F6E1351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根据两侧证据定位 P99 问题</a:t>
            </a:r>
          </a:p>
        </p:txBody>
      </p:sp>
      <p:sp>
        <p:nvSpPr>
          <p:cNvPr id="8" name="line-0734">
            <a:extLst xmlns:a="http://schemas.openxmlformats.org/drawingml/2006/main">
              <a:ext uri="{FF2B5EF4-FFF2-40B4-BE49-F238E27FC236}">
                <a16:creationId xmlns:a16="http://schemas.microsoft.com/office/drawing/2014/main" id="{9FC7355D-2F99-4A15-9327-AD7EC442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B8AC6-8E81-4278-B3B4-AFE22463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76350"/>
            <a:ext cx="4286250" cy="4343400"/>
          </a:xfrm>
          <a:prstGeom xmlns:a="http://schemas.openxmlformats.org/drawingml/2006/main" prst="roundRect">
            <a:avLst>
              <a:gd name="adj" fmla="val 2667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B82F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FBA8FD-3D48-46F5-9E82-9EB6BD1E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7810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练习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57D332-3E7E-480C-A2E3-CC73FF7BE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3906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低 QPS 与慢命令混合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2C6B5C-6CDD-4676-97AB-B3B76A57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47850"/>
            <a:ext cx="3848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业务侧：本分钟 60 次请求（约 1 QPS）；该分钟 P99 = 80 ms。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83838B-2AB2-4957-9B7E-749C04C9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排序后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D2EF76-EFF7-4627-AAF1-B449C2F8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30099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97B403-B87D-4BCA-8F05-44A45E62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前 59 个 GET：1 ms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C79608-CF1D-4E8B-BD95-4F323E9F4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81300"/>
            <a:ext cx="78105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86FB2B-4954-4B60-BC69-1BDE115B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81300"/>
            <a:ext cx="78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第 60 个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80 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6590B6-E059-4BB9-B8F7-BF1CD39C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2385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F444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5827F5-8DC9-4BC7-B89E-8E0799A70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3829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Average = (59 × 1 + 80) / 60 ≈ 2.32 ms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275EEF-8D2B-437C-8A1D-B6C38B94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67150"/>
            <a:ext cx="3829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ceil(0.99 × 60) = 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54CD18-ACCE-46E3-A061-5F504CB4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48150"/>
            <a:ext cx="3829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P99 取第 60 个请求，因此 P99 = Max = 80 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F1D1A4-0D65-4BCE-B81A-6DE5D49B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3829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低 QPS 不会制造慢请求；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它只是让单个慢请求更容易决定 P99。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674F51-83B2-409F-83AF-19613DF0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276350"/>
            <a:ext cx="6819900" cy="4343400"/>
          </a:xfrm>
          <a:prstGeom xmlns:a="http://schemas.openxmlformats.org/drawingml/2006/main" prst="roundRect">
            <a:avLst>
              <a:gd name="adj" fmla="val 263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E1E2BF-4BAA-4B45-8070-3A972A06A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428750"/>
            <a:ext cx="7810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练习 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A221BC-1CA9-4C02-84CE-354EA5BF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3906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单 Shard 热点与非 EXEC 区间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639F1E-5A4C-46DD-AE75-13A08CAE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752600"/>
            <a:ext cx="638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业务侧：活动后间歇变慢；QPS +20%，集群平均 CPU 45%。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DB219B-1EB4-4809-8C59-D6D12941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190750"/>
            <a:ext cx="12001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22D3EE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1  空间范围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ADA2C7-DEEF-44E8-B8F5-16D8D830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90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Proxy × Shard 阶段二 P99（ms）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B162BB-2F58-49A6-AF8D-80A984AB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4955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352669-9283-4FAF-B8FB-BD4155BE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955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083249-0E86-412E-9A4D-AEAF8FB3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4955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249A70-28A0-4D4A-8FC1-E42DD787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4955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23D538-FD0D-4ABE-A37C-05494DFA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4955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8F6716-1B6C-4341-A1F1-D594EF22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4955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62E2EF-9E73-4967-9B38-B36FEBB4A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4955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89DD91-D584-4196-A9A9-69B73D15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742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53CEF27-22AA-4028-9F73-E63C9C9C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24150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A61A64-6CDA-4031-8F8C-39CBF9AD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724150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1D6623-30C3-4C16-B96E-29CB87E7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724150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303F7A-0BA1-43A7-89CA-39B78EF4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724150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18F615F-C3ED-47D2-BB4D-7CCB8B32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724150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B22461C-7F18-4297-91E0-B046AAB9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724150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00CB879-D24C-4F18-A861-465EE664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724150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5A171D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55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1279AE6-0C8F-401E-B4A8-47EFACFA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81325"/>
            <a:ext cx="742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4F761EB-7C97-4501-B553-0FD0E8D6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981325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FD8C60D-9EBC-4815-A117-ED88BCDE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981325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E9E062B-E50E-40A2-B0C3-E8401696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981325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FAFE15E-931D-4EFC-9A86-34DC1C2A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981325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786A8A0-42E3-461D-9A1C-6A8DB61D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981325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6FAC133-FBD8-48EE-8D69-158BF740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981325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95946A4-8F6C-46B4-83D4-7CD48D56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1325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5A171D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55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2F791DE-26B1-40C3-9D1F-9C813865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742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E820363-3CD6-4EBC-B1A1-3A5F49D4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238500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98ADDC2-2792-4F32-9682-ADE47784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238500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44F9BA8-95B2-4551-9A83-7D36477C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238500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EDDBACE-A666-4DFC-B9C2-00C3C02F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238500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3FA3A11-A6E7-436F-93D5-0DE596D3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238500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AC36A15-513C-4937-B980-E0DE6322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238500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93BFFF2-9171-4A99-9E0D-519E5B33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238500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5A171D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55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D6F1D5D-5AA5-4B21-A694-33FD75F7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495675"/>
            <a:ext cx="742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4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0646094-DD06-4164-93F4-3FC0C194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495675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8FD4620-6AE5-4CB5-AB66-392333BD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495675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D2601DC-0367-4F96-93AD-CDFA62D7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495675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99025FB-92D5-42D3-91C2-8D088094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495675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9A6E189-C7E8-43E7-9E28-365A103C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95675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4BA0605-9997-41F4-868B-F6ED9CCB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495675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26365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CC1D0B0-2E7E-4B2D-8DE5-271A14AA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495675"/>
            <a:ext cx="581025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5A171D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55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34BB673-7CB9-4B62-8758-F636BA06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790950"/>
            <a:ext cx="426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所有 Proxy → Shard 7 约 55 ms；其他路径约 2 ms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19B8CDD-581E-4220-96DD-51D35A0E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095750"/>
            <a:ext cx="12001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2  异常区间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46A584D-69BB-4893-9F18-CA8BA750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14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A55ECB6-792A-4C4A-B42E-97882D39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1148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60 ms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5A824F2-ED5A-4623-9598-E7AD0601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005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TOTAL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1AED5DB-E3CB-44EA-BB09-D24CF7EA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29125"/>
            <a:ext cx="2667000" cy="17145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D37C7F0-BFA0-4DB6-89E6-7507FDA5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29125"/>
            <a:ext cx="2352675" cy="17145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17B9EA8-731C-4751-A9F7-37D57443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3815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53 ms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17BC2D5-7A12-421B-B70B-66298B1E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148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EXEC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90DC441-BE53-4E7D-9418-74D2EF41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2667000" cy="17145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DA95D77-F82E-4F1E-A0DF-88B2EB5EF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219075" cy="17145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EEE11A9-4A67-4F01-8B25-38C3AC72F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686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5 ms · 接近基线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B2FE583-FEA7-4A1E-8D25-78749CE4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381500"/>
            <a:ext cx="1181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非 EXEC 区间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优先验证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DDAC2F0-CB05-4E3F-BBCB-1034E18C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029200"/>
            <a:ext cx="12001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FACC1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rPr>
              <a:t>3  负载线索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A3C70BB-6EEE-4AFE-9ED9-7BA5E417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101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rPr>
              <a:t>Shard 7 进入 QPS = 其他 Shard 的 7 倍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AB43C21-FEF9-4306-899B-5371CFC3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31495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支持热点或排队假设，但尚未证明根因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7B3646E-2C68-40DC-83A9-5BFEE9A5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10250"/>
            <a:ext cx="2686050" cy="400050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影响范围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EDC75F6-8885-4320-939A-E6FF4E2C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810250"/>
            <a:ext cx="2686050" cy="400050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异常区间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71D2079-A35F-4B90-AE92-7A4D6CCE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810250"/>
            <a:ext cx="2686050" cy="400050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10B98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当前能确认 / 不能确认什么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0810CA9-B93D-4312-857B-3E0B5BF3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810250"/>
            <a:ext cx="2686050" cy="400050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10B98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下一步验证什么</a:t>
            </a:r>
          </a:p>
        </p:txBody>
      </p:sp>
    </p:spTree>
    <p:extLst>
      <p:ext uri="{BB962C8B-B14F-4D97-AF65-F5344CB8AC3E}">
        <p14:creationId xmlns:p14="http://schemas.microsoft.com/office/powerpoint/2010/main" val="2637911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2026-07-21T10:14:38.9530000Z</dcterms:created>
  <dcterms:modified xsi:type="dcterms:W3CDTF">2026-07-21T10:14:38.9530000Z</dcterms:modified>
</coreProperties>
</file>