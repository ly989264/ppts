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b88196954c46b8" /><Relationship Type="http://schemas.openxmlformats.org/officeDocument/2006/relationships/extended-properties" Target="/docProps/app.xml" Id="R1d882606440b4384" /><Relationship Type="http://schemas.openxmlformats.org/officeDocument/2006/relationships/officeDocument" Target="/ppt/presentation.xml" Id="R7627dafc46c14f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0464fa82744d16"/>
  </p:sldMasterIdLst>
  <p:notesMasterIdLst>
    <p:notesMasterId xmlns:r="http://schemas.openxmlformats.org/officeDocument/2006/relationships" r:id="Re3ea870b49844e1a"/>
  </p:notesMasterIdLst>
  <p:sldIdLst>
    <p:sldId xmlns:r="http://schemas.openxmlformats.org/officeDocument/2006/relationships" id="256" r:id="R5d541321c6eb46dd"/>
    <p:sldId xmlns:r="http://schemas.openxmlformats.org/officeDocument/2006/relationships" id="257" r:id="R88ea5120341e48c5"/>
    <p:sldId xmlns:r="http://schemas.openxmlformats.org/officeDocument/2006/relationships" id="258" r:id="Rd27fd5db235246a3"/>
    <p:sldId xmlns:r="http://schemas.openxmlformats.org/officeDocument/2006/relationships" id="259" r:id="Rce78e8ad1a3144be"/>
    <p:sldId xmlns:r="http://schemas.openxmlformats.org/officeDocument/2006/relationships" id="260" r:id="Rc70ffbc9deeb46d0"/>
    <p:sldId xmlns:r="http://schemas.openxmlformats.org/officeDocument/2006/relationships" id="261" r:id="Rfab77537276446ad"/>
    <p:sldId xmlns:r="http://schemas.openxmlformats.org/officeDocument/2006/relationships" id="262" r:id="R609e588c3f954d43"/>
    <p:sldId xmlns:r="http://schemas.openxmlformats.org/officeDocument/2006/relationships" id="263" r:id="R98d169e7e30d4e94"/>
    <p:sldId xmlns:r="http://schemas.openxmlformats.org/officeDocument/2006/relationships" id="264" r:id="Rb7ebdc0ac1164689"/>
    <p:sldId xmlns:r="http://schemas.openxmlformats.org/officeDocument/2006/relationships" id="265" r:id="R94791cb672ca494b"/>
    <p:sldId xmlns:r="http://schemas.openxmlformats.org/officeDocument/2006/relationships" id="266" r:id="Rc457a09724d24e51"/>
    <p:sldId xmlns:r="http://schemas.openxmlformats.org/officeDocument/2006/relationships" id="267" r:id="R782d40b5868341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90aefc8a4d4dab" /><Relationship Type="http://schemas.openxmlformats.org/officeDocument/2006/relationships/slideMaster" Target="/ppt/slideMasters/slideMaster1.xml" Id="R190464fa82744d16" /><Relationship Type="http://schemas.openxmlformats.org/officeDocument/2006/relationships/notesMaster" Target="/ppt/notesMasters/notesMaster1.xml" Id="Re3ea870b49844e1a" /><Relationship Type="http://schemas.openxmlformats.org/officeDocument/2006/relationships/presProps" Target="/ppt/presProps.xml" Id="R489b67a5323541be" /><Relationship Type="http://schemas.openxmlformats.org/officeDocument/2006/relationships/viewProps" Target="/ppt/viewProps.xml" Id="R082a6ef7c7d3468d" /><Relationship Type="http://schemas.openxmlformats.org/officeDocument/2006/relationships/tableStyles" Target="/ppt/tableStyles.xml" Id="R52408cbaf64b421c" /><Relationship Type="http://schemas.openxmlformats.org/officeDocument/2006/relationships/slide" Target="/ppt/slides/slide1.xml" Id="R5d541321c6eb46dd" /><Relationship Type="http://schemas.openxmlformats.org/officeDocument/2006/relationships/slide" Target="/ppt/slides/slide2.xml" Id="R88ea5120341e48c5" /><Relationship Type="http://schemas.openxmlformats.org/officeDocument/2006/relationships/slide" Target="/ppt/slides/slide3.xml" Id="Rd27fd5db235246a3" /><Relationship Type="http://schemas.openxmlformats.org/officeDocument/2006/relationships/slide" Target="/ppt/slides/slide4.xml" Id="Rce78e8ad1a3144be" /><Relationship Type="http://schemas.openxmlformats.org/officeDocument/2006/relationships/slide" Target="/ppt/slides/slide5.xml" Id="Rc70ffbc9deeb46d0" /><Relationship Type="http://schemas.openxmlformats.org/officeDocument/2006/relationships/slide" Target="/ppt/slides/slide6.xml" Id="Rfab77537276446ad" /><Relationship Type="http://schemas.openxmlformats.org/officeDocument/2006/relationships/slide" Target="/ppt/slides/slide7.xml" Id="R609e588c3f954d43" /><Relationship Type="http://schemas.openxmlformats.org/officeDocument/2006/relationships/slide" Target="/ppt/slides/slide8.xml" Id="R98d169e7e30d4e94" /><Relationship Type="http://schemas.openxmlformats.org/officeDocument/2006/relationships/slide" Target="/ppt/slides/slide9.xml" Id="Rb7ebdc0ac1164689" /><Relationship Type="http://schemas.openxmlformats.org/officeDocument/2006/relationships/slide" Target="/ppt/slides/slide10.xml" Id="R94791cb672ca494b" /><Relationship Type="http://schemas.openxmlformats.org/officeDocument/2006/relationships/slide" Target="/ppt/slides/slide11.xml" Id="Rc457a09724d24e51" /><Relationship Type="http://schemas.openxmlformats.org/officeDocument/2006/relationships/slide" Target="/ppt/slides/slide12.xml" Id="R782d40b5868341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43de9b6d7d40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7a18a9259745e6" /><Relationship Type="http://schemas.openxmlformats.org/officeDocument/2006/relationships/notesMaster" Target="/ppt/notesMasters/notesMaster1.xml" Id="R7f80da0437e34b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044510f5e84953" /><Relationship Type="http://schemas.openxmlformats.org/officeDocument/2006/relationships/notesMaster" Target="/ppt/notesMasters/notesMaster1.xml" Id="R38f451db1e1e4b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12795e84504b89" /><Relationship Type="http://schemas.openxmlformats.org/officeDocument/2006/relationships/notesMaster" Target="/ppt/notesMasters/notesMaster1.xml" Id="Rf446791e5ee64a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2d1b5036a64d35" /><Relationship Type="http://schemas.openxmlformats.org/officeDocument/2006/relationships/notesMaster" Target="/ppt/notesMasters/notesMaster1.xml" Id="R671a7b0a41324d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0aaa9a7dbb4ffe" /><Relationship Type="http://schemas.openxmlformats.org/officeDocument/2006/relationships/notesMaster" Target="/ppt/notesMasters/notesMaster1.xml" Id="R7c7f6ca3339443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1677e2e4ca41b7" /><Relationship Type="http://schemas.openxmlformats.org/officeDocument/2006/relationships/notesMaster" Target="/ppt/notesMasters/notesMaster1.xml" Id="R549bda9d4e79486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2fd099441d45a8" /><Relationship Type="http://schemas.openxmlformats.org/officeDocument/2006/relationships/notesMaster" Target="/ppt/notesMasters/notesMaster1.xml" Id="Rc2b88625f2b741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0a5719bf8649d1" /><Relationship Type="http://schemas.openxmlformats.org/officeDocument/2006/relationships/notesMaster" Target="/ppt/notesMasters/notesMaster1.xml" Id="Rd70598a0865f42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22dd5071ce4ef9" /><Relationship Type="http://schemas.openxmlformats.org/officeDocument/2006/relationships/notesMaster" Target="/ppt/notesMasters/notesMaster1.xml" Id="R8656f4de779347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13226c2c51408d" /><Relationship Type="http://schemas.openxmlformats.org/officeDocument/2006/relationships/notesMaster" Target="/ppt/notesMasters/notesMaster1.xml" Id="R9b3c4f8b922d49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bee8d340184b9a" /><Relationship Type="http://schemas.openxmlformats.org/officeDocument/2006/relationships/notesMaster" Target="/ppt/notesMasters/notesMaster1.xml" Id="Rc6c800dda32442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dedd69563549a3" /><Relationship Type="http://schemas.openxmlformats.org/officeDocument/2006/relationships/notesMaster" Target="/ppt/notesMasters/notesMaster1.xml" Id="R0c86350e0a1c4b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本页先建立双方的视角边界。业务侧只知道 Redis 服务地址，并感知端到端时延、错误、超时、重试和连接池等待。业务侧不知道内部的 Proxy、Shard，也不知道某一次请求落到哪个内部组件。后续排查中，客户只需要提供业务侧可见证据，内部链路由 Redis 产品侧排查人员完成还原。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这一页讲清三个指标各自承担的含义。Average 描述整体平均成本，P99 描述尾部边界，Max 描述单次极值。P99 不是孤立指标，必须和 QPS、窗口内请求数、命令类型一起看。低 QPS 场景不会凭空制造慢请求，但样本少时，一个慢命令或者一次抖动就可能成为 P99 或 Max，因此要延长窗口并按命令拆分。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P99 对业务的主要影响来自尾部请求占用连接、线程和并发额度。请求开始排队后，少量慢请求会拖住后续请求，超时又会触发重试，重试会增加进入流量，队列继续增长。排查中要同时看 offered QPS、完成 QPS、队列深度、错误、超时和重试。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业务侧端到端时延包含连接池等待、业务运行时、外部接入链路和 Redis 产品内部处理等多段成本。Redis 产品内部再拆成入口处理、排队、RPC、Shard 排队和执行。不同层的 P99 不能相加，因为它们通常来自不同请求。定位时要用分层 P99 找额外耗时在哪一段。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四个观测面分别回答不同问题。业务体验面说明客户真实感知，Proxy 面说明入口与 RPC 状态，Shard 面说明分片排队和执行，系统与网络面说明主机和链路事件。只有同一时间、同一命令、同一范围的数据才能放在一起比较。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四阶段流程的核心是先把业务侧现象固定住，再查产品监控。第一阶段要确认绝对时间、影响范围、指标口径、错误和业务变更。第二阶段查看 Redis 产品侧监控。第三阶段建立证据链和待验证项。第四阶段向客户说明事实、边界、动作和复测方式。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服务整体下钻时不要只看集群平均值。空间对比最关键：一整行变热通常指向某个入口处理范围，一整列变热通常指向某个分片处理范围，全局变热才更像整体容量或基础设施问题。热力图只是定位图，不是最终根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分析原因前先按指标形态分型。全体时延同升通常指向容量和排队。Average 正常但 P99 与 Max 升高，常见于少量慢请求、局部节点或周期事件。P99 接近 Max 且 QPS 低，要优先确认样本数。P99 下降但超时上升，要确认统计口径是否把超时请求排除在外。随后沿链路定位额外耗时边界。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客户回复要控制在事实、边界、动作和复测四类信息。内部组件名称可以用于工单和复盘，对客户侧要转成可验证语言。回复中不要使用绝对化判断，要说明测量边界、证据强度和后续动作。复测要保持负载、命令比例和请求规模可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侧常见问题可以先按空间形态归类。一整列变热优先检查对应分片，一整行变热优先检查对应入口，全局同升优先检查容量和基础设施。周期尖峰、切换恢复、网络或主机抖动需要把事件时间线叠加到时延曲线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业务使用方式会影响单次请求成本和流量形态。大对象和复杂命令增加执行、编码和网络传输成本；热 Key 和数据倾斜导致局部分片排队；短连接和连接池不足会在业务端和入口处引入额外等待；大批量和 fan-out 容易等待最慢分片；短超时和高频重试会放大进入流量；集中 TTL 会造成回源和写入洪峰。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第一题的关键是样本量和命令拆分。每分钟 60 次请求时，单分钟 P99 很可能等于窗口内最慢请求。本例的慢请求来自 HGETALL 和大响应，治理动作应优先限制大范围读取和大对象返回。第二题的关键是空间定位和排队拆分。所有入口到同一分片变慢，且排队 P99 远高于执行 P99，说明主要额外耗时在局部数据处理范围的排队。客户回复应使用“局部数据处理范围出现排队”这类表述。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45fe04e3ae486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991625ccb7457a" /><Relationship Type="http://schemas.openxmlformats.org/officeDocument/2006/relationships/slideLayout" Target="/ppt/slideLayouts/slideLayout1.xml" Id="R80d7bb65e97949a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d7bb65e97949a5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edcb3e25a42b6" /><Relationship Type="http://schemas.openxmlformats.org/officeDocument/2006/relationships/notesSlide" Target="/ppt/notesSlides/notesSlide1.xml" Id="Rb0804d02ad6843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12db913b247fe" /><Relationship Type="http://schemas.openxmlformats.org/officeDocument/2006/relationships/notesSlide" Target="/ppt/notesSlides/notesSlide2.xml" Id="R80d242a9406e4f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10a575c264a9e" /><Relationship Type="http://schemas.openxmlformats.org/officeDocument/2006/relationships/notesSlide" Target="/ppt/notesSlides/notesSlide3.xml" Id="Reda85ef0ff7f43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7ec4a04fa4380" /><Relationship Type="http://schemas.openxmlformats.org/officeDocument/2006/relationships/notesSlide" Target="/ppt/notesSlides/notesSlide4.xml" Id="Rf857e178289245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ff4cd90e5c4561" /><Relationship Type="http://schemas.openxmlformats.org/officeDocument/2006/relationships/notesSlide" Target="/ppt/notesSlides/notesSlide5.xml" Id="Rc6a0f245cfe44b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3ae5432024ba0" /><Relationship Type="http://schemas.openxmlformats.org/officeDocument/2006/relationships/notesSlide" Target="/ppt/notesSlides/notesSlide6.xml" Id="Rd4a0927031e048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7cbc2f004457b" /><Relationship Type="http://schemas.openxmlformats.org/officeDocument/2006/relationships/notesSlide" Target="/ppt/notesSlides/notesSlide7.xml" Id="R58be736e94e446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52c42455447c1" /><Relationship Type="http://schemas.openxmlformats.org/officeDocument/2006/relationships/notesSlide" Target="/ppt/notesSlides/notesSlide8.xml" Id="R44ea5052009345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20dc293ad4ed6" /><Relationship Type="http://schemas.openxmlformats.org/officeDocument/2006/relationships/notesSlide" Target="/ppt/notesSlides/notesSlide9.xml" Id="R655ccf03e33348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54ffd836e4869" /><Relationship Type="http://schemas.openxmlformats.org/officeDocument/2006/relationships/notesSlide" Target="/ppt/notesSlides/notesSlide10.xml" Id="R51bb1540b06a49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0813dd7fe74374" /><Relationship Type="http://schemas.openxmlformats.org/officeDocument/2006/relationships/notesSlide" Target="/ppt/notesSlides/notesSlide11.xml" Id="Rbc6c967a1d934e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f47f784754be3" /><Relationship Type="http://schemas.openxmlformats.org/officeDocument/2006/relationships/notesSlide" Target="/ppt/notesSlides/notesSlide12.xml" Id="R61e74868f43d40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9F2B921-5B72-4BF0-B6F2-60F0AF62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6"/>
          </a:solidFill>
          <a:ln xmlns:a="http://schemas.openxmlformats.org/drawingml/2006/main" w="12700">
            <a:solidFill>
              <a:srgbClr val="070B1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AD1AC3A-60C0-429F-A54C-6F1EA717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2AE8227-1A76-44A1-8726-F92003B4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"/>
            <a:ext cx="1219169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5" name="section-0001">
            <a:extLst xmlns:a="http://schemas.openxmlformats.org/drawingml/2006/main">
              <a:ext uri="{FF2B5EF4-FFF2-40B4-BE49-F238E27FC236}">
                <a16:creationId xmlns:a16="http://schemas.microsoft.com/office/drawing/2014/main" id="{DE93F8AB-95B6-4743-84DA-C95A201C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REDIS P99 TRAINING</a:t>
            </a:r>
          </a:p>
        </p:txBody>
      </p:sp>
      <p:sp>
        <p:nvSpPr>
          <p:cNvPr id="6" name="page-top-0002">
            <a:extLst xmlns:a="http://schemas.openxmlformats.org/drawingml/2006/main">
              <a:ext uri="{FF2B5EF4-FFF2-40B4-BE49-F238E27FC236}">
                <a16:creationId xmlns:a16="http://schemas.microsoft.com/office/drawing/2014/main" id="{763B151A-5C6F-4A76-AAA5-D3FC92ED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01 / 12</a:t>
            </a:r>
          </a:p>
        </p:txBody>
      </p:sp>
      <p:sp>
        <p:nvSpPr>
          <p:cNvPr id="7" name="cover-title-0003">
            <a:extLst xmlns:a="http://schemas.openxmlformats.org/drawingml/2006/main">
              <a:ext uri="{FF2B5EF4-FFF2-40B4-BE49-F238E27FC236}">
                <a16:creationId xmlns:a16="http://schemas.microsoft.com/office/drawing/2014/main" id="{284CCF10-0FC4-4A74-B043-ECB3BC98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9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Redis P99 时延</a:t>
            </a:r>
          </a:p>
        </p:txBody>
      </p:sp>
      <p:sp>
        <p:nvSpPr>
          <p:cNvPr id="8" name="cover-subtitle-0004">
            <a:extLst xmlns:a="http://schemas.openxmlformats.org/drawingml/2006/main">
              <a:ext uri="{FF2B5EF4-FFF2-40B4-BE49-F238E27FC236}">
                <a16:creationId xmlns:a16="http://schemas.microsoft.com/office/drawing/2014/main" id="{8CF8BDC9-F7E8-4A5D-AEBC-EC9C207A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定义 · 测量 · 定位</a:t>
            </a:r>
          </a:p>
        </p:txBody>
      </p:sp>
      <p:sp>
        <p:nvSpPr>
          <p:cNvPr id="9" name="region-label-0005">
            <a:extLst xmlns:a="http://schemas.openxmlformats.org/drawingml/2006/main">
              <a:ext uri="{FF2B5EF4-FFF2-40B4-BE49-F238E27FC236}">
                <a16:creationId xmlns:a16="http://schemas.microsoft.com/office/drawing/2014/main" id="{D19B165F-E329-40D8-964B-7429E0C8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业务侧</a:t>
            </a:r>
          </a:p>
        </p:txBody>
      </p:sp>
      <p:sp>
        <p:nvSpPr>
          <p:cNvPr id="10" name="region-label-0006">
            <a:extLst xmlns:a="http://schemas.openxmlformats.org/drawingml/2006/main">
              <a:ext uri="{FF2B5EF4-FFF2-40B4-BE49-F238E27FC236}">
                <a16:creationId xmlns:a16="http://schemas.microsoft.com/office/drawing/2014/main" id="{F28CED22-64AF-4483-81FF-689010C7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050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Redis 产品内部</a:t>
            </a:r>
          </a:p>
        </p:txBody>
      </p:sp>
      <p:sp>
        <p:nvSpPr>
          <p:cNvPr id="11" name="line-0007">
            <a:extLst xmlns:a="http://schemas.openxmlformats.org/drawingml/2006/main">
              <a:ext uri="{FF2B5EF4-FFF2-40B4-BE49-F238E27FC236}">
                <a16:creationId xmlns:a16="http://schemas.microsoft.com/office/drawing/2014/main" id="{20699AA2-A22D-43B1-8E78-C6FBFE66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47850"/>
            <a:ext cx="0" cy="396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334766"/>
            </a:solidFill>
            <a:prstDash val="solid"/>
          </a:ln>
        </p:spPr>
      </p:sp>
      <p:sp>
        <p:nvSpPr>
          <p:cNvPr id="12" name="node-0008">
            <a:extLst xmlns:a="http://schemas.openxmlformats.org/drawingml/2006/main">
              <a:ext uri="{FF2B5EF4-FFF2-40B4-BE49-F238E27FC236}">
                <a16:creationId xmlns:a16="http://schemas.microsoft.com/office/drawing/2014/main" id="{5076BE4C-9879-460E-AA2B-24DD8128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962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13" name="node-label-0009">
            <a:extLst xmlns:a="http://schemas.openxmlformats.org/drawingml/2006/main">
              <a:ext uri="{FF2B5EF4-FFF2-40B4-BE49-F238E27FC236}">
                <a16:creationId xmlns:a16="http://schemas.microsoft.com/office/drawing/2014/main" id="{D4C015CC-45D3-4A82-B137-AE57EFF1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180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业务应用 / SDK</a:t>
            </a:r>
          </a:p>
        </p:txBody>
      </p:sp>
      <p:sp>
        <p:nvSpPr>
          <p:cNvPr id="14" name="node-0010">
            <a:extLst xmlns:a="http://schemas.openxmlformats.org/drawingml/2006/main">
              <a:ext uri="{FF2B5EF4-FFF2-40B4-BE49-F238E27FC236}">
                <a16:creationId xmlns:a16="http://schemas.microsoft.com/office/drawing/2014/main" id="{40661667-870E-44CF-B618-1D294F04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57500"/>
            <a:ext cx="819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41642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5" name="node-label-0011">
            <a:extLst xmlns:a="http://schemas.openxmlformats.org/drawingml/2006/main">
              <a:ext uri="{FF2B5EF4-FFF2-40B4-BE49-F238E27FC236}">
                <a16:creationId xmlns:a16="http://schemas.microsoft.com/office/drawing/2014/main" id="{026D5994-62D2-45EA-8C7A-CA842FBC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876550"/>
            <a:ext cx="66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LB</a:t>
            </a:r>
          </a:p>
        </p:txBody>
      </p:sp>
      <p:sp>
        <p:nvSpPr>
          <p:cNvPr id="16" name="node-0012">
            <a:extLst xmlns:a="http://schemas.openxmlformats.org/drawingml/2006/main">
              <a:ext uri="{FF2B5EF4-FFF2-40B4-BE49-F238E27FC236}">
                <a16:creationId xmlns:a16="http://schemas.microsoft.com/office/drawing/2014/main" id="{74513151-D80E-4020-ADBA-3CDF6EBD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24100"/>
            <a:ext cx="133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41642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7" name="node-label-0013">
            <a:extLst xmlns:a="http://schemas.openxmlformats.org/drawingml/2006/main">
              <a:ext uri="{FF2B5EF4-FFF2-40B4-BE49-F238E27FC236}">
                <a16:creationId xmlns:a16="http://schemas.microsoft.com/office/drawing/2014/main" id="{B4B0C062-3EE1-4953-A662-37A4BFE8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4315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Proxy 1</a:t>
            </a:r>
          </a:p>
        </p:txBody>
      </p:sp>
      <p:sp>
        <p:nvSpPr>
          <p:cNvPr id="18" name="node-0014">
            <a:extLst xmlns:a="http://schemas.openxmlformats.org/drawingml/2006/main">
              <a:ext uri="{FF2B5EF4-FFF2-40B4-BE49-F238E27FC236}">
                <a16:creationId xmlns:a16="http://schemas.microsoft.com/office/drawing/2014/main" id="{5101A3DD-CBCA-4278-B311-C08B6CC8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19450"/>
            <a:ext cx="133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41642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9" name="node-label-0015">
            <a:extLst xmlns:a="http://schemas.openxmlformats.org/drawingml/2006/main">
              <a:ext uri="{FF2B5EF4-FFF2-40B4-BE49-F238E27FC236}">
                <a16:creationId xmlns:a16="http://schemas.microsoft.com/office/drawing/2014/main" id="{21186F76-BBED-4B92-8C64-65B394E5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3850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Proxy 2</a:t>
            </a:r>
          </a:p>
        </p:txBody>
      </p:sp>
      <p:sp>
        <p:nvSpPr>
          <p:cNvPr id="20" name="node-0016">
            <a:extLst xmlns:a="http://schemas.openxmlformats.org/drawingml/2006/main">
              <a:ext uri="{FF2B5EF4-FFF2-40B4-BE49-F238E27FC236}">
                <a16:creationId xmlns:a16="http://schemas.microsoft.com/office/drawing/2014/main" id="{5CCB60AC-9011-4F54-A818-39AE92E1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14800"/>
            <a:ext cx="133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41642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21" name="node-label-0017">
            <a:extLst xmlns:a="http://schemas.openxmlformats.org/drawingml/2006/main">
              <a:ext uri="{FF2B5EF4-FFF2-40B4-BE49-F238E27FC236}">
                <a16:creationId xmlns:a16="http://schemas.microsoft.com/office/drawing/2014/main" id="{2FCF4772-EE0A-4A5A-BD23-E0800508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3385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Proxy 3</a:t>
            </a:r>
          </a:p>
        </p:txBody>
      </p:sp>
      <p:sp>
        <p:nvSpPr>
          <p:cNvPr id="22" name="node-0018">
            <a:extLst xmlns:a="http://schemas.openxmlformats.org/drawingml/2006/main">
              <a:ext uri="{FF2B5EF4-FFF2-40B4-BE49-F238E27FC236}">
                <a16:creationId xmlns:a16="http://schemas.microsoft.com/office/drawing/2014/main" id="{BE7688FA-BF0F-4627-80E8-3DB655E3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24100"/>
            <a:ext cx="133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1B0D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3" name="node-label-0019">
            <a:extLst xmlns:a="http://schemas.openxmlformats.org/drawingml/2006/main">
              <a:ext uri="{FF2B5EF4-FFF2-40B4-BE49-F238E27FC236}">
                <a16:creationId xmlns:a16="http://schemas.microsoft.com/office/drawing/2014/main" id="{9C747F51-D3A1-42A5-AC6D-20A07571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4315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Shard 1</a:t>
            </a:r>
          </a:p>
        </p:txBody>
      </p:sp>
      <p:sp>
        <p:nvSpPr>
          <p:cNvPr id="24" name="node-0020">
            <a:extLst xmlns:a="http://schemas.openxmlformats.org/drawingml/2006/main">
              <a:ext uri="{FF2B5EF4-FFF2-40B4-BE49-F238E27FC236}">
                <a16:creationId xmlns:a16="http://schemas.microsoft.com/office/drawing/2014/main" id="{6EA99696-BD6E-42E0-8BA3-AE127D45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19450"/>
            <a:ext cx="133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1B0D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5" name="node-label-0021">
            <a:extLst xmlns:a="http://schemas.openxmlformats.org/drawingml/2006/main">
              <a:ext uri="{FF2B5EF4-FFF2-40B4-BE49-F238E27FC236}">
                <a16:creationId xmlns:a16="http://schemas.microsoft.com/office/drawing/2014/main" id="{52C97A6B-FD75-4516-96F0-6D786CF6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3850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Shard 2</a:t>
            </a:r>
          </a:p>
        </p:txBody>
      </p:sp>
      <p:sp>
        <p:nvSpPr>
          <p:cNvPr id="26" name="node-0022">
            <a:extLst xmlns:a="http://schemas.openxmlformats.org/drawingml/2006/main">
              <a:ext uri="{FF2B5EF4-FFF2-40B4-BE49-F238E27FC236}">
                <a16:creationId xmlns:a16="http://schemas.microsoft.com/office/drawing/2014/main" id="{D5DC088A-FACF-4B56-98F2-02B1C3AD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14800"/>
            <a:ext cx="133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51B0D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27" name="node-label-0023">
            <a:extLst xmlns:a="http://schemas.openxmlformats.org/drawingml/2006/main">
              <a:ext uri="{FF2B5EF4-FFF2-40B4-BE49-F238E27FC236}">
                <a16:creationId xmlns:a16="http://schemas.microsoft.com/office/drawing/2014/main" id="{3BF765B4-3453-4E6A-B081-0F693417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3385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Shard 3</a:t>
            </a:r>
          </a:p>
        </p:txBody>
      </p:sp>
      <p:cxnSp>
        <p:nvCxnSpPr>
          <p:cNvPr id="78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514600" y="3200400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B82F6"/>
            </a:solidFill>
            <a:prstDash val="solid"/>
            <a:headEnd type="none" w="med" len="med"/>
          </a:ln>
        </p:spPr>
      </p:cxnSp>
      <p:cxnSp>
        <p:nvCxnSpPr>
          <p:cNvPr id="79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4819650" y="2590800"/>
            <a:ext cx="1085850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A78BFA"/>
            </a:solidFill>
            <a:prstDash val="solid"/>
            <a:headEnd type="none" w="med" len="med"/>
          </a:ln>
        </p:spPr>
      </p:cxnSp>
      <p:cxnSp>
        <p:nvCxnSpPr>
          <p:cNvPr id="80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819650" y="3200400"/>
            <a:ext cx="108585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A78BFA"/>
            </a:solidFill>
            <a:prstDash val="solid"/>
            <a:headEnd type="none" w="med" len="med"/>
          </a:ln>
        </p:spPr>
      </p:cxnSp>
      <p:cxnSp>
        <p:nvCxnSpPr>
          <p:cNvPr id="81" name=""/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819650" y="3200400"/>
            <a:ext cx="1085850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A78BFA"/>
            </a:solidFill>
            <a:prstDash val="solid"/>
            <a:headEnd type="none" w="med" len="med"/>
          </a:ln>
        </p:spPr>
      </p:cxnSp>
      <p:cxnSp>
        <p:nvCxnSpPr>
          <p:cNvPr id="82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239000" y="25908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9415F"/>
            </a:solidFill>
            <a:prstDash val="solid"/>
            <a:headEnd type="none" w="med" len="med"/>
          </a:ln>
        </p:spPr>
      </p:cxnSp>
      <p:cxnSp>
        <p:nvCxnSpPr>
          <p:cNvPr id="83" name=""/>
          <p:cNvCxnSpPr>
            <a:stCxn xmlns:a="http://schemas.openxmlformats.org/drawingml/2006/main" id="16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239000" y="2590800"/>
            <a:ext cx="238125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9415F"/>
            </a:solidFill>
            <a:prstDash val="solid"/>
            <a:headEnd type="none" w="med" len="med"/>
          </a:ln>
        </p:spPr>
      </p:cxnSp>
      <p:cxnSp>
        <p:nvCxnSpPr>
          <p:cNvPr id="84" name=""/>
          <p:cNvCxnSpPr>
            <a:stCxn xmlns:a="http://schemas.openxmlformats.org/drawingml/2006/main" id="16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239000" y="2590800"/>
            <a:ext cx="2381250" cy="17907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9415F"/>
            </a:solidFill>
            <a:prstDash val="solid"/>
            <a:headEnd type="none" w="med" len="med"/>
          </a:ln>
        </p:spPr>
      </p:cxnSp>
      <p:cxnSp>
        <p:nvCxnSpPr>
          <p:cNvPr id="85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7239000" y="2590800"/>
            <a:ext cx="238125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9415F"/>
            </a:solidFill>
            <a:prstDash val="solid"/>
            <a:headEnd type="none" w="med" len="med"/>
          </a:ln>
        </p:spPr>
      </p:cxnSp>
      <p:cxnSp>
        <p:nvCxnSpPr>
          <p:cNvPr id="86" name=""/>
          <p:cNvCxnSpPr>
            <a:stCxn xmlns:a="http://schemas.openxmlformats.org/drawingml/2006/main" id="18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239000" y="34861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9415F"/>
            </a:solidFill>
            <a:prstDash val="solid"/>
            <a:headEnd type="none" w="med" len="med"/>
          </a:ln>
        </p:spPr>
      </p:cxnSp>
      <p:cxnSp>
        <p:nvCxnSpPr>
          <p:cNvPr id="87" name=""/>
          <p:cNvCxnSpPr>
            <a:stCxn xmlns:a="http://schemas.openxmlformats.org/drawingml/2006/main" id="18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239000" y="3486150"/>
            <a:ext cx="238125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9415F"/>
            </a:solidFill>
            <a:prstDash val="solid"/>
            <a:headEnd type="none" w="med" len="med"/>
          </a:ln>
        </p:spPr>
      </p:cxnSp>
      <p:cxnSp>
        <p:nvCxnSpPr>
          <p:cNvPr id="88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7239000" y="2590800"/>
            <a:ext cx="2381250" cy="17907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9415F"/>
            </a:solidFill>
            <a:prstDash val="solid"/>
            <a:headEnd type="none" w="med" len="med"/>
          </a:ln>
        </p:spPr>
      </p:cxnSp>
      <p:cxnSp>
        <p:nvCxnSpPr>
          <p:cNvPr id="89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7239000" y="3486150"/>
            <a:ext cx="238125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9415F"/>
            </a:solidFill>
            <a:prstDash val="solid"/>
            <a:headEnd type="none" w="med" len="med"/>
          </a:ln>
        </p:spPr>
      </p:cxnSp>
      <p:cxnSp>
        <p:nvCxnSpPr>
          <p:cNvPr id="90" name=""/>
          <p:cNvCxnSpPr>
            <a:stCxn xmlns:a="http://schemas.openxmlformats.org/drawingml/2006/main" id="20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239000" y="43815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9415F"/>
            </a:solidFill>
            <a:prstDash val="solid"/>
            <a:headEnd type="none" w="med" len="med"/>
          </a:ln>
        </p:spPr>
      </p:cxnSp>
      <p:sp>
        <p:nvSpPr>
          <p:cNvPr id="41" name="pill-0024">
            <a:extLst xmlns:a="http://schemas.openxmlformats.org/drawingml/2006/main">
              <a:ext uri="{FF2B5EF4-FFF2-40B4-BE49-F238E27FC236}">
                <a16:creationId xmlns:a16="http://schemas.microsoft.com/office/drawing/2014/main" id="{099E9D0D-3C85-4F52-A9D1-067B093F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48000"/>
            <a:ext cx="1219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03A"/>
          </a:solidFill>
          <a:ln xmlns:a="http://schemas.openxmlformats.org/drawingml/2006/main" w="11430">
            <a:solidFill>
              <a:srgbClr val="60A5FA"/>
            </a:solidFill>
            <a:prstDash val="solid"/>
          </a:ln>
        </p:spPr>
      </p:sp>
      <p:sp>
        <p:nvSpPr>
          <p:cNvPr id="42" name="pill-label-0025">
            <a:extLst xmlns:a="http://schemas.openxmlformats.org/drawingml/2006/main">
              <a:ext uri="{FF2B5EF4-FFF2-40B4-BE49-F238E27FC236}">
                <a16:creationId xmlns:a16="http://schemas.microsoft.com/office/drawing/2014/main" id="{74FF16BF-1B11-4D58-BEE1-26693601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67050"/>
            <a:ext cx="106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Redis 服务地址</a:t>
            </a:r>
          </a:p>
        </p:txBody>
      </p:sp>
      <p:sp>
        <p:nvSpPr>
          <p:cNvPr id="43" name="chevron-0026">
            <a:extLst xmlns:a="http://schemas.openxmlformats.org/drawingml/2006/main">
              <a:ext uri="{FF2B5EF4-FFF2-40B4-BE49-F238E27FC236}">
                <a16:creationId xmlns:a16="http://schemas.microsoft.com/office/drawing/2014/main" id="{66532029-F3B1-4CF2-AF3A-2AAE8445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675" y="3105150"/>
            <a:ext cx="104775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4763">
            <a:solidFill>
              <a:srgbClr val="3B82F6"/>
            </a:solidFill>
            <a:prstDash val="solid"/>
          </a:ln>
        </p:spPr>
      </p:sp>
      <p:sp>
        <p:nvSpPr>
          <p:cNvPr id="44" name="chevron-0027">
            <a:extLst xmlns:a="http://schemas.openxmlformats.org/drawingml/2006/main">
              <a:ext uri="{FF2B5EF4-FFF2-40B4-BE49-F238E27FC236}">
                <a16:creationId xmlns:a16="http://schemas.microsoft.com/office/drawing/2014/main" id="{AC74D8C9-B23A-49FD-B062-8F25A821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40000">
            <a:off x="5391150" y="2781300"/>
            <a:ext cx="9525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4763">
            <a:solidFill>
              <a:srgbClr val="A78BFA"/>
            </a:solidFill>
            <a:prstDash val="solid"/>
          </a:ln>
        </p:spPr>
      </p:sp>
      <p:sp>
        <p:nvSpPr>
          <p:cNvPr id="45" name="chevron-0028">
            <a:extLst xmlns:a="http://schemas.openxmlformats.org/drawingml/2006/main">
              <a:ext uri="{FF2B5EF4-FFF2-40B4-BE49-F238E27FC236}">
                <a16:creationId xmlns:a16="http://schemas.microsoft.com/office/drawing/2014/main" id="{5DD9F2E5-7E8A-49DD-9BB4-003C0F74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">
            <a:off x="5391150" y="3286125"/>
            <a:ext cx="9525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4763">
            <a:solidFill>
              <a:srgbClr val="A78BFA"/>
            </a:solidFill>
            <a:prstDash val="solid"/>
          </a:ln>
        </p:spPr>
      </p:sp>
      <p:sp>
        <p:nvSpPr>
          <p:cNvPr id="46" name="chevron-0029">
            <a:extLst xmlns:a="http://schemas.openxmlformats.org/drawingml/2006/main">
              <a:ext uri="{FF2B5EF4-FFF2-40B4-BE49-F238E27FC236}">
                <a16:creationId xmlns:a16="http://schemas.microsoft.com/office/drawing/2014/main" id="{D7F0A831-50A1-4571-BF2D-859D449A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20000">
            <a:off x="5391150" y="3790950"/>
            <a:ext cx="95250" cy="1619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4763">
            <a:solidFill>
              <a:srgbClr val="A78BFA"/>
            </a:solidFill>
            <a:prstDash val="solid"/>
          </a:ln>
        </p:spPr>
      </p:sp>
      <p:sp>
        <p:nvSpPr>
          <p:cNvPr id="47" name="layer-label-0030">
            <a:extLst xmlns:a="http://schemas.openxmlformats.org/drawingml/2006/main">
              <a:ext uri="{FF2B5EF4-FFF2-40B4-BE49-F238E27FC236}">
                <a16:creationId xmlns:a16="http://schemas.microsoft.com/office/drawing/2014/main" id="{09A54771-4E26-4BE3-B4DD-E1357B89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19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Proxy 接入层</a:t>
            </a:r>
          </a:p>
        </p:txBody>
      </p:sp>
      <p:sp>
        <p:nvSpPr>
          <p:cNvPr id="48" name="layer-label-0031">
            <a:extLst xmlns:a="http://schemas.openxmlformats.org/drawingml/2006/main">
              <a:ext uri="{FF2B5EF4-FFF2-40B4-BE49-F238E27FC236}">
                <a16:creationId xmlns:a16="http://schemas.microsoft.com/office/drawing/2014/main" id="{4C32749D-32C8-4A4C-82D9-90BA5E55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Shard 数据层</a:t>
            </a:r>
          </a:p>
        </p:txBody>
      </p:sp>
      <p:sp>
        <p:nvSpPr>
          <p:cNvPr id="49" name="pill-0032">
            <a:extLst xmlns:a="http://schemas.openxmlformats.org/drawingml/2006/main">
              <a:ext uri="{FF2B5EF4-FFF2-40B4-BE49-F238E27FC236}">
                <a16:creationId xmlns:a16="http://schemas.microsoft.com/office/drawing/2014/main" id="{40085A52-4907-4AF8-82AB-53EF258D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81650"/>
            <a:ext cx="2381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1329"/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50" name="pill-label-0033">
            <a:extLst xmlns:a="http://schemas.openxmlformats.org/drawingml/2006/main">
              <a:ext uri="{FF2B5EF4-FFF2-40B4-BE49-F238E27FC236}">
                <a16:creationId xmlns:a16="http://schemas.microsoft.com/office/drawing/2014/main" id="{A7722089-8AF6-4564-953E-D05A62F7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600700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Proxy 与 Shard 全连通</a:t>
            </a:r>
          </a:p>
        </p:txBody>
      </p:sp>
      <p:sp>
        <p:nvSpPr>
          <p:cNvPr id="51" name="line-0034">
            <a:extLst xmlns:a="http://schemas.openxmlformats.org/drawingml/2006/main">
              <a:ext uri="{FF2B5EF4-FFF2-40B4-BE49-F238E27FC236}">
                <a16:creationId xmlns:a16="http://schemas.microsoft.com/office/drawing/2014/main" id="{33C509D3-CBE5-4C82-87A4-A41BD3E6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3398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1B2240E-243F-4944-A811-CB300348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6"/>
          </a:solidFill>
          <a:ln xmlns:a="http://schemas.openxmlformats.org/drawingml/2006/main" w="12700">
            <a:solidFill>
              <a:srgbClr val="070B1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C4E261E-9BD0-4FA0-8F07-9AE2706C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625454C-0473-4AE5-892A-6AEC4CD4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"/>
            <a:ext cx="1219169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5" name="section-0035">
            <a:extLst xmlns:a="http://schemas.openxmlformats.org/drawingml/2006/main">
              <a:ext uri="{FF2B5EF4-FFF2-40B4-BE49-F238E27FC236}">
                <a16:creationId xmlns:a16="http://schemas.microsoft.com/office/drawing/2014/main" id="{9DF1AF00-98DA-4ED0-8DB4-BFC632C5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PART 1 · 理解 P99</a:t>
            </a:r>
          </a:p>
        </p:txBody>
      </p:sp>
      <p:sp>
        <p:nvSpPr>
          <p:cNvPr id="6" name="page-top-0036">
            <a:extLst xmlns:a="http://schemas.openxmlformats.org/drawingml/2006/main">
              <a:ext uri="{FF2B5EF4-FFF2-40B4-BE49-F238E27FC236}">
                <a16:creationId xmlns:a16="http://schemas.microsoft.com/office/drawing/2014/main" id="{7C3AFBBB-1A29-4F71-AB54-4981893A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  <p:sp>
        <p:nvSpPr>
          <p:cNvPr id="7" name="title-0037">
            <a:extLst xmlns:a="http://schemas.openxmlformats.org/drawingml/2006/main">
              <a:ext uri="{FF2B5EF4-FFF2-40B4-BE49-F238E27FC236}">
                <a16:creationId xmlns:a16="http://schemas.microsoft.com/office/drawing/2014/main" id="{29FC4E2F-AD93-4EAA-8F7D-B42E7E73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P99：99% 请求的时延边界</a:t>
            </a:r>
          </a:p>
        </p:txBody>
      </p:sp>
      <p:sp>
        <p:nvSpPr>
          <p:cNvPr id="8" name="line-0038">
            <a:extLst xmlns:a="http://schemas.openxmlformats.org/drawingml/2006/main">
              <a:ext uri="{FF2B5EF4-FFF2-40B4-BE49-F238E27FC236}">
                <a16:creationId xmlns:a16="http://schemas.microsoft.com/office/drawing/2014/main" id="{C594A810-FD4D-4832-9D56-2EF4B071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9" name="left-panel-0039">
            <a:extLst xmlns:a="http://schemas.openxmlformats.org/drawingml/2006/main">
              <a:ext uri="{FF2B5EF4-FFF2-40B4-BE49-F238E27FC236}">
                <a16:creationId xmlns:a16="http://schemas.microsoft.com/office/drawing/2014/main" id="{C5CC6C0A-71D8-4343-962D-62F53DB5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76350"/>
            <a:ext cx="6572250" cy="4895850"/>
          </a:xfrm>
          <a:prstGeom xmlns:a="http://schemas.openxmlformats.org/drawingml/2006/main" prst="roundRect">
            <a:avLst>
              <a:gd name="adj" fmla="val 2335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2383">
            <a:solidFill>
              <a:srgbClr val="263750"/>
            </a:solidFill>
            <a:prstDash val="solid"/>
          </a:ln>
        </p:spPr>
      </p:sp>
      <p:sp>
        <p:nvSpPr>
          <p:cNvPr id="10" name="sort-caption-0040">
            <a:extLst xmlns:a="http://schemas.openxmlformats.org/drawingml/2006/main">
              <a:ext uri="{FF2B5EF4-FFF2-40B4-BE49-F238E27FC236}">
                <a16:creationId xmlns:a16="http://schemas.microsoft.com/office/drawing/2014/main" id="{6A986CC7-F247-4B89-83E4-98F78E0C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同一批 100 个请求，按耗时从小到大排序</a:t>
            </a:r>
          </a:p>
        </p:txBody>
      </p:sp>
      <p:sp>
        <p:nvSpPr>
          <p:cNvPr id="11" name="ratio-track-0041">
            <a:extLst xmlns:a="http://schemas.openxmlformats.org/drawingml/2006/main">
              <a:ext uri="{FF2B5EF4-FFF2-40B4-BE49-F238E27FC236}">
                <a16:creationId xmlns:a16="http://schemas.microsoft.com/office/drawing/2014/main" id="{5AD21708-9DB8-4C1A-8E92-4E1DDE83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58102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01B2E"/>
          </a:solidFill>
          <a:ln xmlns:a="http://schemas.openxmlformats.org/drawingml/2006/main" w="9525">
            <a:solidFill>
              <a:srgbClr val="334766"/>
            </a:solidFill>
            <a:prstDash val="solid"/>
          </a:ln>
        </p:spPr>
      </p:sp>
      <p:sp>
        <p:nvSpPr>
          <p:cNvPr id="12" name="ratio-99-0042">
            <a:extLst xmlns:a="http://schemas.openxmlformats.org/drawingml/2006/main">
              <a:ext uri="{FF2B5EF4-FFF2-40B4-BE49-F238E27FC236}">
                <a16:creationId xmlns:a16="http://schemas.microsoft.com/office/drawing/2014/main" id="{2F1CBA25-DB01-4A32-BEDE-8ADC215A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5752148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4763">
            <a:solidFill>
              <a:srgbClr val="3B82F6"/>
            </a:solidFill>
            <a:prstDash val="solid"/>
          </a:ln>
        </p:spPr>
      </p:sp>
      <p:sp>
        <p:nvSpPr>
          <p:cNvPr id="13" name="ratio-1-0043">
            <a:extLst xmlns:a="http://schemas.openxmlformats.org/drawingml/2006/main">
              <a:ext uri="{FF2B5EF4-FFF2-40B4-BE49-F238E27FC236}">
                <a16:creationId xmlns:a16="http://schemas.microsoft.com/office/drawing/2014/main" id="{D0C794FE-567E-4770-91DC-FACCF0BD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248" y="2057400"/>
            <a:ext cx="58103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4763">
            <a:solidFill>
              <a:srgbClr val="EF4444"/>
            </a:solidFill>
            <a:prstDash val="solid"/>
          </a:ln>
        </p:spPr>
      </p:sp>
      <p:sp>
        <p:nvSpPr>
          <p:cNvPr id="14" name="ratio-label-0044">
            <a:extLst xmlns:a="http://schemas.openxmlformats.org/drawingml/2006/main">
              <a:ext uri="{FF2B5EF4-FFF2-40B4-BE49-F238E27FC236}">
                <a16:creationId xmlns:a16="http://schemas.microsoft.com/office/drawing/2014/main" id="{9CD6C96B-2DA7-4161-B8EB-33F63740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 99 个请求</a:t>
            </a:r>
          </a:p>
        </p:txBody>
      </p:sp>
      <p:sp>
        <p:nvSpPr>
          <p:cNvPr id="15" name="line-0045">
            <a:extLst xmlns:a="http://schemas.openxmlformats.org/drawingml/2006/main">
              <a:ext uri="{FF2B5EF4-FFF2-40B4-BE49-F238E27FC236}">
                <a16:creationId xmlns:a16="http://schemas.microsoft.com/office/drawing/2014/main" id="{6FF0C8A1-1C59-4BE1-98A8-DB925515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823" y="196215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FBBF24"/>
            </a:solidFill>
            <a:prstDash val="solid"/>
          </a:ln>
        </p:spPr>
      </p:sp>
      <p:sp>
        <p:nvSpPr>
          <p:cNvPr id="16" name="one-callout-0046">
            <a:extLst xmlns:a="http://schemas.openxmlformats.org/drawingml/2006/main">
              <a:ext uri="{FF2B5EF4-FFF2-40B4-BE49-F238E27FC236}">
                <a16:creationId xmlns:a16="http://schemas.microsoft.com/office/drawing/2014/main" id="{BE665653-D90F-4059-9D2E-E94D7A0B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335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1 个请求</a:t>
            </a:r>
          </a:p>
        </p:txBody>
      </p:sp>
      <p:sp>
        <p:nvSpPr>
          <p:cNvPr id="17" name="p99-boundary-0047">
            <a:extLst xmlns:a="http://schemas.openxmlformats.org/drawingml/2006/main">
              <a:ext uri="{FF2B5EF4-FFF2-40B4-BE49-F238E27FC236}">
                <a16:creationId xmlns:a16="http://schemas.microsoft.com/office/drawing/2014/main" id="{307239C3-3FE7-4583-856B-A506804E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146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P99 边界</a:t>
            </a:r>
          </a:p>
        </p:txBody>
      </p:sp>
      <p:sp>
        <p:nvSpPr>
          <p:cNvPr id="18" name="tail-title-0048">
            <a:extLst xmlns:a="http://schemas.openxmlformats.org/drawingml/2006/main">
              <a:ext uri="{FF2B5EF4-FFF2-40B4-BE49-F238E27FC236}">
                <a16:creationId xmlns:a16="http://schemas.microsoft.com/office/drawing/2014/main" id="{8DD9B1DA-8454-4B6E-B3FF-53E519B3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尾部 5 个请求放大</a:t>
            </a:r>
          </a:p>
        </p:txBody>
      </p:sp>
      <p:sp>
        <p:nvSpPr>
          <p:cNvPr id="19" name="tail-cell-0049">
            <a:extLst xmlns:a="http://schemas.openxmlformats.org/drawingml/2006/main">
              <a:ext uri="{FF2B5EF4-FFF2-40B4-BE49-F238E27FC236}">
                <a16:creationId xmlns:a16="http://schemas.microsoft.com/office/drawing/2014/main" id="{6832599B-0025-4412-9FB4-2470BC07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C30"/>
          </a:solidFill>
          <a:ln xmlns:a="http://schemas.openxmlformats.org/drawingml/2006/main" w="9525">
            <a:solidFill>
              <a:srgbClr val="334766"/>
            </a:solidFill>
            <a:prstDash val="solid"/>
          </a:ln>
        </p:spPr>
      </p:sp>
      <p:sp>
        <p:nvSpPr>
          <p:cNvPr id="20" name="tail-rank-0050">
            <a:extLst xmlns:a="http://schemas.openxmlformats.org/drawingml/2006/main">
              <a:ext uri="{FF2B5EF4-FFF2-40B4-BE49-F238E27FC236}">
                <a16:creationId xmlns:a16="http://schemas.microsoft.com/office/drawing/2014/main" id="{ADB8AB9E-D44C-4613-9605-7EA93DA5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#96</a:t>
            </a:r>
          </a:p>
        </p:txBody>
      </p:sp>
      <p:sp>
        <p:nvSpPr>
          <p:cNvPr id="21" name="tail-value-0051">
            <a:extLst xmlns:a="http://schemas.openxmlformats.org/drawingml/2006/main">
              <a:ext uri="{FF2B5EF4-FFF2-40B4-BE49-F238E27FC236}">
                <a16:creationId xmlns:a16="http://schemas.microsoft.com/office/drawing/2014/main" id="{0B421E72-53A0-483E-9A86-D9BC51DB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2 ms</a:t>
            </a:r>
          </a:p>
        </p:txBody>
      </p:sp>
      <p:sp>
        <p:nvSpPr>
          <p:cNvPr id="22" name="tail-cell-0052">
            <a:extLst xmlns:a="http://schemas.openxmlformats.org/drawingml/2006/main">
              <a:ext uri="{FF2B5EF4-FFF2-40B4-BE49-F238E27FC236}">
                <a16:creationId xmlns:a16="http://schemas.microsoft.com/office/drawing/2014/main" id="{7E698DC0-6C5B-4825-A28C-7C538727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4861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C30"/>
          </a:solidFill>
          <a:ln xmlns:a="http://schemas.openxmlformats.org/drawingml/2006/main" w="9525">
            <a:solidFill>
              <a:srgbClr val="334766"/>
            </a:solidFill>
            <a:prstDash val="solid"/>
          </a:ln>
        </p:spPr>
      </p:sp>
      <p:sp>
        <p:nvSpPr>
          <p:cNvPr id="23" name="tail-rank-0053">
            <a:extLst xmlns:a="http://schemas.openxmlformats.org/drawingml/2006/main">
              <a:ext uri="{FF2B5EF4-FFF2-40B4-BE49-F238E27FC236}">
                <a16:creationId xmlns:a16="http://schemas.microsoft.com/office/drawing/2014/main" id="{1075B2A6-9E4A-43BF-BD69-6208D1EC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623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#97</a:t>
            </a:r>
          </a:p>
        </p:txBody>
      </p:sp>
      <p:sp>
        <p:nvSpPr>
          <p:cNvPr id="24" name="tail-value-0054">
            <a:extLst xmlns:a="http://schemas.openxmlformats.org/drawingml/2006/main">
              <a:ext uri="{FF2B5EF4-FFF2-40B4-BE49-F238E27FC236}">
                <a16:creationId xmlns:a16="http://schemas.microsoft.com/office/drawing/2014/main" id="{7EA7D38F-12F5-43A2-B005-E6EACCF6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100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2 ms</a:t>
            </a:r>
          </a:p>
        </p:txBody>
      </p:sp>
      <p:sp>
        <p:nvSpPr>
          <p:cNvPr id="25" name="tail-cell-0055">
            <a:extLst xmlns:a="http://schemas.openxmlformats.org/drawingml/2006/main">
              <a:ext uri="{FF2B5EF4-FFF2-40B4-BE49-F238E27FC236}">
                <a16:creationId xmlns:a16="http://schemas.microsoft.com/office/drawing/2014/main" id="{0CCCCE39-B7C3-4AFA-B068-55181892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4861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11C30"/>
          </a:solidFill>
          <a:ln xmlns:a="http://schemas.openxmlformats.org/drawingml/2006/main" w="9525">
            <a:solidFill>
              <a:srgbClr val="334766"/>
            </a:solidFill>
            <a:prstDash val="solid"/>
          </a:ln>
        </p:spPr>
      </p:sp>
      <p:sp>
        <p:nvSpPr>
          <p:cNvPr id="26" name="tail-rank-0056">
            <a:extLst xmlns:a="http://schemas.openxmlformats.org/drawingml/2006/main">
              <a:ext uri="{FF2B5EF4-FFF2-40B4-BE49-F238E27FC236}">
                <a16:creationId xmlns:a16="http://schemas.microsoft.com/office/drawing/2014/main" id="{C322FB9B-6182-4487-ACB4-44BE212F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#98</a:t>
            </a:r>
          </a:p>
        </p:txBody>
      </p:sp>
      <p:sp>
        <p:nvSpPr>
          <p:cNvPr id="27" name="tail-value-0057">
            <a:extLst xmlns:a="http://schemas.openxmlformats.org/drawingml/2006/main">
              <a:ext uri="{FF2B5EF4-FFF2-40B4-BE49-F238E27FC236}">
                <a16:creationId xmlns:a16="http://schemas.microsoft.com/office/drawing/2014/main" id="{E2DC8DF4-C4F6-4982-921E-5FA977FF5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100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2 ms</a:t>
            </a:r>
          </a:p>
        </p:txBody>
      </p:sp>
      <p:sp>
        <p:nvSpPr>
          <p:cNvPr id="28" name="tail-cell-0058">
            <a:extLst xmlns:a="http://schemas.openxmlformats.org/drawingml/2006/main">
              <a:ext uri="{FF2B5EF4-FFF2-40B4-BE49-F238E27FC236}">
                <a16:creationId xmlns:a16="http://schemas.microsoft.com/office/drawing/2014/main" id="{FC740C4C-C7B2-483D-8A14-6CB815CC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861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9" name="tail-rank-0059">
            <a:extLst xmlns:a="http://schemas.openxmlformats.org/drawingml/2006/main">
              <a:ext uri="{FF2B5EF4-FFF2-40B4-BE49-F238E27FC236}">
                <a16:creationId xmlns:a16="http://schemas.microsoft.com/office/drawing/2014/main" id="{E5A6282E-2AD0-4860-89B3-76EC3B6D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623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#99</a:t>
            </a:r>
          </a:p>
        </p:txBody>
      </p:sp>
      <p:sp>
        <p:nvSpPr>
          <p:cNvPr id="30" name="tail-value-0060">
            <a:extLst xmlns:a="http://schemas.openxmlformats.org/drawingml/2006/main">
              <a:ext uri="{FF2B5EF4-FFF2-40B4-BE49-F238E27FC236}">
                <a16:creationId xmlns:a16="http://schemas.microsoft.com/office/drawing/2014/main" id="{278B6B32-781E-424D-B8D3-A90061F6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8 ms</a:t>
            </a:r>
          </a:p>
        </p:txBody>
      </p:sp>
      <p:sp>
        <p:nvSpPr>
          <p:cNvPr id="31" name="tail-cell-0061">
            <a:extLst xmlns:a="http://schemas.openxmlformats.org/drawingml/2006/main">
              <a:ext uri="{FF2B5EF4-FFF2-40B4-BE49-F238E27FC236}">
                <a16:creationId xmlns:a16="http://schemas.microsoft.com/office/drawing/2014/main" id="{240B758D-0247-4B09-82B0-EA86FD7F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86150"/>
            <a:ext cx="1066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35131B"/>
          </a:solidFill>
          <a:ln xmlns:a="http://schemas.openxmlformats.org/drawingml/2006/main" w="19050">
            <a:solidFill>
              <a:srgbClr val="EF4444"/>
            </a:solidFill>
            <a:prstDash val="solid"/>
          </a:ln>
        </p:spPr>
      </p:sp>
      <p:sp>
        <p:nvSpPr>
          <p:cNvPr id="32" name="tail-rank-0062">
            <a:extLst xmlns:a="http://schemas.openxmlformats.org/drawingml/2006/main">
              <a:ext uri="{FF2B5EF4-FFF2-40B4-BE49-F238E27FC236}">
                <a16:creationId xmlns:a16="http://schemas.microsoft.com/office/drawing/2014/main" id="{6EFFADD9-E343-44FD-914F-54F90B8B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623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#100</a:t>
            </a:r>
          </a:p>
        </p:txBody>
      </p:sp>
      <p:sp>
        <p:nvSpPr>
          <p:cNvPr id="33" name="tail-value-0063">
            <a:extLst xmlns:a="http://schemas.openxmlformats.org/drawingml/2006/main">
              <a:ext uri="{FF2B5EF4-FFF2-40B4-BE49-F238E27FC236}">
                <a16:creationId xmlns:a16="http://schemas.microsoft.com/office/drawing/2014/main" id="{92B7EEA0-FF2B-4B2A-82C7-277F7D61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100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5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60 ms</a:t>
            </a:r>
          </a:p>
        </p:txBody>
      </p:sp>
      <p:sp>
        <p:nvSpPr>
          <p:cNvPr id="34" name="line-0064">
            <a:extLst xmlns:a="http://schemas.openxmlformats.org/drawingml/2006/main">
              <a:ext uri="{FF2B5EF4-FFF2-40B4-BE49-F238E27FC236}">
                <a16:creationId xmlns:a16="http://schemas.microsoft.com/office/drawing/2014/main" id="{5E4894F9-57E6-461B-8B36-88D05043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52800"/>
            <a:ext cx="0" cy="1219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BBF24"/>
            </a:solidFill>
            <a:prstDash val="solid"/>
          </a:ln>
        </p:spPr>
      </p:sp>
      <p:sp>
        <p:nvSpPr>
          <p:cNvPr id="35" name="p99-example-0065">
            <a:extLst xmlns:a="http://schemas.openxmlformats.org/drawingml/2006/main">
              <a:ext uri="{FF2B5EF4-FFF2-40B4-BE49-F238E27FC236}">
                <a16:creationId xmlns:a16="http://schemas.microsoft.com/office/drawing/2014/main" id="{9176F730-7F21-47DF-BEAF-21F622AD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4005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第 99 个请求 = 8 ms</a:t>
            </a:r>
          </a:p>
        </p:txBody>
      </p:sp>
      <p:sp>
        <p:nvSpPr>
          <p:cNvPr id="36" name="bound-summary-0066">
            <a:extLst xmlns:a="http://schemas.openxmlformats.org/drawingml/2006/main">
              <a:ext uri="{FF2B5EF4-FFF2-40B4-BE49-F238E27FC236}">
                <a16:creationId xmlns:a16="http://schemas.microsoft.com/office/drawing/2014/main" id="{6A930931-D5C3-4DB7-82F9-563E2999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99 个请求耗时 ≤ 8 ms</a:t>
            </a:r>
          </a:p>
        </p:txBody>
      </p:sp>
      <p:sp>
        <p:nvSpPr>
          <p:cNvPr id="37" name="max-summary-0067">
            <a:extLst xmlns:a="http://schemas.openxmlformats.org/drawingml/2006/main">
              <a:ext uri="{FF2B5EF4-FFF2-40B4-BE49-F238E27FC236}">
                <a16:creationId xmlns:a16="http://schemas.microsoft.com/office/drawing/2014/main" id="{7D4FF1D3-40CA-44B2-9E3A-F087D402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7205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350" b="0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最慢 1 个请求 = 60 ms</a:t>
            </a:r>
          </a:p>
        </p:txBody>
      </p:sp>
      <p:sp>
        <p:nvSpPr>
          <p:cNvPr id="38" name="metric-row-0068">
            <a:extLst xmlns:a="http://schemas.openxmlformats.org/drawingml/2006/main">
              <a:ext uri="{FF2B5EF4-FFF2-40B4-BE49-F238E27FC236}">
                <a16:creationId xmlns:a16="http://schemas.microsoft.com/office/drawing/2014/main" id="{741C250C-D099-4746-B6BA-918CDB2B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76350"/>
            <a:ext cx="45339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0B2B25"/>
          </a:solidFill>
          <a:ln xmlns:a="http://schemas.openxmlformats.org/drawingml/2006/main" w="12383">
            <a:solidFill>
              <a:srgbClr val="10B981"/>
            </a:solidFill>
            <a:prstDash val="solid"/>
          </a:ln>
        </p:spPr>
      </p:sp>
      <p:sp>
        <p:nvSpPr>
          <p:cNvPr id="39" name="strip-0069">
            <a:extLst xmlns:a="http://schemas.openxmlformats.org/drawingml/2006/main">
              <a:ext uri="{FF2B5EF4-FFF2-40B4-BE49-F238E27FC236}">
                <a16:creationId xmlns:a16="http://schemas.microsoft.com/office/drawing/2014/main" id="{70BEB8D0-4BE9-4BA5-A6DD-90785D585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276350"/>
            <a:ext cx="47625" cy="9906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4763">
            <a:solidFill>
              <a:srgbClr val="10B981"/>
            </a:solidFill>
            <a:prstDash val="solid"/>
          </a:ln>
        </p:spPr>
      </p:sp>
      <p:sp>
        <p:nvSpPr>
          <p:cNvPr id="40" name="metric-name-0070">
            <a:extLst xmlns:a="http://schemas.openxmlformats.org/drawingml/2006/main">
              <a:ext uri="{FF2B5EF4-FFF2-40B4-BE49-F238E27FC236}">
                <a16:creationId xmlns:a16="http://schemas.microsoft.com/office/drawing/2014/main" id="{C196DD05-ED1B-414E-8B03-397F87BE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90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B981"/>
                </a:solidFill>
                <a:latin typeface="Microsoft YaHei"/>
                <a:ea typeface="Microsoft YaHei"/>
                <a:cs typeface="Microsoft YaHei"/>
              </a:rPr>
              <a:t>Average</a:t>
            </a:r>
          </a:p>
        </p:txBody>
      </p:sp>
      <p:sp>
        <p:nvSpPr>
          <p:cNvPr id="41" name="metric-value-0071">
            <a:extLst xmlns:a="http://schemas.openxmlformats.org/drawingml/2006/main">
              <a:ext uri="{FF2B5EF4-FFF2-40B4-BE49-F238E27FC236}">
                <a16:creationId xmlns:a16="http://schemas.microsoft.com/office/drawing/2014/main" id="{EF3C3758-3287-4B71-8C21-3B20070A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71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20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2.64 ms</a:t>
            </a:r>
          </a:p>
        </p:txBody>
      </p:sp>
      <p:sp>
        <p:nvSpPr>
          <p:cNvPr id="42" name="metric-formula-0072">
            <a:extLst xmlns:a="http://schemas.openxmlformats.org/drawingml/2006/main">
              <a:ext uri="{FF2B5EF4-FFF2-40B4-BE49-F238E27FC236}">
                <a16:creationId xmlns:a16="http://schemas.microsoft.com/office/drawing/2014/main" id="{687A69B6-42C5-4A60-9D8A-A3C6F35B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414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(98 × 2 + 8 + 60) ÷ 100</a:t>
            </a:r>
          </a:p>
        </p:txBody>
      </p:sp>
      <p:sp>
        <p:nvSpPr>
          <p:cNvPr id="43" name="metric-question-0073">
            <a:extLst xmlns:a="http://schemas.openxmlformats.org/drawingml/2006/main">
              <a:ext uri="{FF2B5EF4-FFF2-40B4-BE49-F238E27FC236}">
                <a16:creationId xmlns:a16="http://schemas.microsoft.com/office/drawing/2014/main" id="{F6A556FB-E527-4395-AD34-EE8C9C44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90725"/>
            <a:ext cx="414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所有请求的平均耗时是多少？</a:t>
            </a:r>
          </a:p>
        </p:txBody>
      </p:sp>
      <p:sp>
        <p:nvSpPr>
          <p:cNvPr id="44" name="metric-row-0074">
            <a:extLst xmlns:a="http://schemas.openxmlformats.org/drawingml/2006/main">
              <a:ext uri="{FF2B5EF4-FFF2-40B4-BE49-F238E27FC236}">
                <a16:creationId xmlns:a16="http://schemas.microsoft.com/office/drawing/2014/main" id="{2DD1916F-9093-421D-8C61-173DA0D3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19350"/>
            <a:ext cx="45339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12383">
            <a:solidFill>
              <a:srgbClr val="3B82F6"/>
            </a:solidFill>
            <a:prstDash val="solid"/>
          </a:ln>
        </p:spPr>
      </p:sp>
      <p:sp>
        <p:nvSpPr>
          <p:cNvPr id="45" name="strip-0075">
            <a:extLst xmlns:a="http://schemas.openxmlformats.org/drawingml/2006/main">
              <a:ext uri="{FF2B5EF4-FFF2-40B4-BE49-F238E27FC236}">
                <a16:creationId xmlns:a16="http://schemas.microsoft.com/office/drawing/2014/main" id="{7E7FBAFB-F627-4E51-96F0-D57BF4CC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19350"/>
            <a:ext cx="47625" cy="9906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4763">
            <a:solidFill>
              <a:srgbClr val="3B82F6"/>
            </a:solidFill>
            <a:prstDash val="solid"/>
          </a:ln>
        </p:spPr>
      </p:sp>
      <p:sp>
        <p:nvSpPr>
          <p:cNvPr id="46" name="metric-name-0076">
            <a:extLst xmlns:a="http://schemas.openxmlformats.org/drawingml/2006/main">
              <a:ext uri="{FF2B5EF4-FFF2-40B4-BE49-F238E27FC236}">
                <a16:creationId xmlns:a16="http://schemas.microsoft.com/office/drawing/2014/main" id="{1C3E6EF8-2A97-4263-A860-09DA593B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33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B82F6"/>
                </a:solidFill>
                <a:latin typeface="Microsoft YaHei"/>
                <a:ea typeface="Microsoft YaHei"/>
                <a:cs typeface="Microsoft YaHei"/>
              </a:rPr>
              <a:t>P99</a:t>
            </a:r>
          </a:p>
        </p:txBody>
      </p:sp>
      <p:sp>
        <p:nvSpPr>
          <p:cNvPr id="47" name="metric-value-0077">
            <a:extLst xmlns:a="http://schemas.openxmlformats.org/drawingml/2006/main">
              <a:ext uri="{FF2B5EF4-FFF2-40B4-BE49-F238E27FC236}">
                <a16:creationId xmlns:a16="http://schemas.microsoft.com/office/drawing/2014/main" id="{2FD4265D-C9A2-4B41-BB31-275A4F83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14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20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8 ms</a:t>
            </a:r>
          </a:p>
        </p:txBody>
      </p:sp>
      <p:sp>
        <p:nvSpPr>
          <p:cNvPr id="48" name="metric-formula-0078">
            <a:extLst xmlns:a="http://schemas.openxmlformats.org/drawingml/2006/main">
              <a:ext uri="{FF2B5EF4-FFF2-40B4-BE49-F238E27FC236}">
                <a16:creationId xmlns:a16="http://schemas.microsoft.com/office/drawing/2014/main" id="{561C6A39-9398-43E9-B794-2D1E1674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76550"/>
            <a:ext cx="414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排序后取第 99 个请求</a:t>
            </a:r>
          </a:p>
        </p:txBody>
      </p:sp>
      <p:sp>
        <p:nvSpPr>
          <p:cNvPr id="49" name="metric-question-0079">
            <a:extLst xmlns:a="http://schemas.openxmlformats.org/drawingml/2006/main">
              <a:ext uri="{FF2B5EF4-FFF2-40B4-BE49-F238E27FC236}">
                <a16:creationId xmlns:a16="http://schemas.microsoft.com/office/drawing/2014/main" id="{6603AC91-29FF-422F-A508-F57E5162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33725"/>
            <a:ext cx="414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99% 的请求落在什么时延以内？</a:t>
            </a:r>
          </a:p>
        </p:txBody>
      </p:sp>
      <p:sp>
        <p:nvSpPr>
          <p:cNvPr id="50" name="metric-row-0080">
            <a:extLst xmlns:a="http://schemas.openxmlformats.org/drawingml/2006/main">
              <a:ext uri="{FF2B5EF4-FFF2-40B4-BE49-F238E27FC236}">
                <a16:creationId xmlns:a16="http://schemas.microsoft.com/office/drawing/2014/main" id="{3AC50FD4-2034-4F9C-BD36-29D1B294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4533900" cy="9906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35131B"/>
          </a:solidFill>
          <a:ln xmlns:a="http://schemas.openxmlformats.org/drawingml/2006/main" w="12383">
            <a:solidFill>
              <a:srgbClr val="EF4444"/>
            </a:solidFill>
            <a:prstDash val="solid"/>
          </a:ln>
        </p:spPr>
      </p:sp>
      <p:sp>
        <p:nvSpPr>
          <p:cNvPr id="51" name="strip-0081">
            <a:extLst xmlns:a="http://schemas.openxmlformats.org/drawingml/2006/main">
              <a:ext uri="{FF2B5EF4-FFF2-40B4-BE49-F238E27FC236}">
                <a16:creationId xmlns:a16="http://schemas.microsoft.com/office/drawing/2014/main" id="{9F8E4D6D-F007-4AA0-B08A-5CEB3F92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47625" cy="9906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4763">
            <a:solidFill>
              <a:srgbClr val="EF4444"/>
            </a:solidFill>
            <a:prstDash val="solid"/>
          </a:ln>
        </p:spPr>
      </p:sp>
      <p:sp>
        <p:nvSpPr>
          <p:cNvPr id="52" name="metric-name-0082">
            <a:extLst xmlns:a="http://schemas.openxmlformats.org/drawingml/2006/main">
              <a:ext uri="{FF2B5EF4-FFF2-40B4-BE49-F238E27FC236}">
                <a16:creationId xmlns:a16="http://schemas.microsoft.com/office/drawing/2014/main" id="{C79F05FD-9281-4277-A5D9-24310BBC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766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Max</a:t>
            </a:r>
          </a:p>
        </p:txBody>
      </p:sp>
      <p:sp>
        <p:nvSpPr>
          <p:cNvPr id="53" name="metric-value-0083">
            <a:extLst xmlns:a="http://schemas.openxmlformats.org/drawingml/2006/main">
              <a:ext uri="{FF2B5EF4-FFF2-40B4-BE49-F238E27FC236}">
                <a16:creationId xmlns:a16="http://schemas.microsoft.com/office/drawing/2014/main" id="{C50F775B-1C34-4405-9C1E-A45ECFBF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57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20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60 ms</a:t>
            </a:r>
          </a:p>
        </p:txBody>
      </p:sp>
      <p:sp>
        <p:nvSpPr>
          <p:cNvPr id="54" name="metric-formula-0084">
            <a:extLst xmlns:a="http://schemas.openxmlformats.org/drawingml/2006/main">
              <a:ext uri="{FF2B5EF4-FFF2-40B4-BE49-F238E27FC236}">
                <a16:creationId xmlns:a16="http://schemas.microsoft.com/office/drawing/2014/main" id="{1590D66F-4B88-4426-9B1B-EB737BE2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19550"/>
            <a:ext cx="414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排序后取第 100 个请求</a:t>
            </a:r>
          </a:p>
        </p:txBody>
      </p:sp>
      <p:sp>
        <p:nvSpPr>
          <p:cNvPr id="55" name="metric-question-0085">
            <a:extLst xmlns:a="http://schemas.openxmlformats.org/drawingml/2006/main">
              <a:ext uri="{FF2B5EF4-FFF2-40B4-BE49-F238E27FC236}">
                <a16:creationId xmlns:a16="http://schemas.microsoft.com/office/drawing/2014/main" id="{E8D53FAE-F6AD-491D-8750-2F33EBBD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76725"/>
            <a:ext cx="414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最慢一次请求是多少？</a:t>
            </a:r>
          </a:p>
        </p:txBody>
      </p:sp>
      <p:sp>
        <p:nvSpPr>
          <p:cNvPr id="56" name="low-qps-0086">
            <a:extLst xmlns:a="http://schemas.openxmlformats.org/drawingml/2006/main">
              <a:ext uri="{FF2B5EF4-FFF2-40B4-BE49-F238E27FC236}">
                <a16:creationId xmlns:a16="http://schemas.microsoft.com/office/drawing/2014/main" id="{5C5D70A9-A30B-432D-B70D-B77E8362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38700"/>
            <a:ext cx="453390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33220A"/>
          </a:solidFill>
          <a:ln xmlns:a="http://schemas.openxmlformats.org/drawingml/2006/main" w="12383">
            <a:solidFill>
              <a:srgbClr val="F59E0B"/>
            </a:solidFill>
            <a:prstDash val="solid"/>
          </a:ln>
        </p:spPr>
      </p:sp>
      <p:sp>
        <p:nvSpPr>
          <p:cNvPr id="57" name="low-qps-title-0087">
            <a:extLst xmlns:a="http://schemas.openxmlformats.org/drawingml/2006/main">
              <a:ext uri="{FF2B5EF4-FFF2-40B4-BE49-F238E27FC236}">
                <a16:creationId xmlns:a16="http://schemas.microsoft.com/office/drawing/2014/main" id="{7E10E474-C1EF-4F38-9118-0040C597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72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低 QPS 的特殊现象</a:t>
            </a:r>
          </a:p>
        </p:txBody>
      </p:sp>
      <p:sp>
        <p:nvSpPr>
          <p:cNvPr id="58" name="low-qps-body-0088">
            <a:extLst xmlns:a="http://schemas.openxmlformats.org/drawingml/2006/main">
              <a:ext uri="{FF2B5EF4-FFF2-40B4-BE49-F238E27FC236}">
                <a16:creationId xmlns:a16="http://schemas.microsoft.com/office/drawing/2014/main" id="{6C9E10AA-402D-4962-ADA0-4014DE2CB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530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固定统计窗口内，QPS 越低，样本越少；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P99 更容易接近 Max，波动也更明显。</a:t>
            </a:r>
          </a:p>
        </p:txBody>
      </p:sp>
    </p:spTree>
    <p:extLst>
      <p:ext uri="{BB962C8B-B14F-4D97-AF65-F5344CB8AC3E}">
        <p14:creationId xmlns:p14="http://schemas.microsoft.com/office/powerpoint/2010/main" val="101563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C72BE66-A57F-42EF-8D14-2A6033CE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6"/>
          </a:solidFill>
          <a:ln xmlns:a="http://schemas.openxmlformats.org/drawingml/2006/main" w="12700">
            <a:solidFill>
              <a:srgbClr val="070B1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11E692-E2E0-443F-83ED-AEA973AC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0D6BFD-7337-49F6-8BB5-57F60C0E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"/>
            <a:ext cx="1219169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5" name="section-0089">
            <a:extLst xmlns:a="http://schemas.openxmlformats.org/drawingml/2006/main">
              <a:ext uri="{FF2B5EF4-FFF2-40B4-BE49-F238E27FC236}">
                <a16:creationId xmlns:a16="http://schemas.microsoft.com/office/drawing/2014/main" id="{EB0D129B-6D08-4DF6-8C02-90965CAD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PART 1 · 理解 P99</a:t>
            </a:r>
          </a:p>
        </p:txBody>
      </p:sp>
      <p:sp>
        <p:nvSpPr>
          <p:cNvPr id="6" name="page-top-0090">
            <a:extLst xmlns:a="http://schemas.openxmlformats.org/drawingml/2006/main">
              <a:ext uri="{FF2B5EF4-FFF2-40B4-BE49-F238E27FC236}">
                <a16:creationId xmlns:a16="http://schemas.microsoft.com/office/drawing/2014/main" id="{AC0594BD-A77B-4DB8-A23A-1C1E6B4C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  <p:sp>
        <p:nvSpPr>
          <p:cNvPr id="7" name="title-0091">
            <a:extLst xmlns:a="http://schemas.openxmlformats.org/drawingml/2006/main">
              <a:ext uri="{FF2B5EF4-FFF2-40B4-BE49-F238E27FC236}">
                <a16:creationId xmlns:a16="http://schemas.microsoft.com/office/drawing/2014/main" id="{D267AB09-DF1C-4E75-9B6D-C1157B7C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慢请求、排队与重试如何放大 P99</a:t>
            </a:r>
          </a:p>
        </p:txBody>
      </p:sp>
      <p:sp>
        <p:nvSpPr>
          <p:cNvPr id="8" name="line-0092">
            <a:extLst xmlns:a="http://schemas.openxmlformats.org/drawingml/2006/main">
              <a:ext uri="{FF2B5EF4-FFF2-40B4-BE49-F238E27FC236}">
                <a16:creationId xmlns:a16="http://schemas.microsoft.com/office/drawing/2014/main" id="{2FB8BCD8-C3D9-4C74-A4C5-4D29E1F2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9" name="timeline-panel-0093">
            <a:extLst xmlns:a="http://schemas.openxmlformats.org/drawingml/2006/main">
              <a:ext uri="{FF2B5EF4-FFF2-40B4-BE49-F238E27FC236}">
                <a16:creationId xmlns:a16="http://schemas.microsoft.com/office/drawing/2014/main" id="{B50F5062-8FEF-43CC-AFF5-D6B4A8CC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76350"/>
            <a:ext cx="6477000" cy="4895850"/>
          </a:xfrm>
          <a:prstGeom xmlns:a="http://schemas.openxmlformats.org/drawingml/2006/main" prst="roundRect">
            <a:avLst>
              <a:gd name="adj" fmla="val 2335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2383">
            <a:solidFill>
              <a:srgbClr val="263750"/>
            </a:solidFill>
            <a:prstDash val="solid"/>
          </a:ln>
        </p:spPr>
      </p:sp>
      <p:sp>
        <p:nvSpPr>
          <p:cNvPr id="10" name="retry-panel-0094">
            <a:extLst xmlns:a="http://schemas.openxmlformats.org/drawingml/2006/main">
              <a:ext uri="{FF2B5EF4-FFF2-40B4-BE49-F238E27FC236}">
                <a16:creationId xmlns:a16="http://schemas.microsoft.com/office/drawing/2014/main" id="{407E2441-4475-453E-9938-41A705C1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76350"/>
            <a:ext cx="4648200" cy="489585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2383">
            <a:solidFill>
              <a:srgbClr val="263750"/>
            </a:solidFill>
            <a:prstDash val="solid"/>
          </a:ln>
        </p:spPr>
      </p:sp>
      <p:sp>
        <p:nvSpPr>
          <p:cNvPr id="11" name="pill-0095">
            <a:extLst xmlns:a="http://schemas.openxmlformats.org/drawingml/2006/main">
              <a:ext uri="{FF2B5EF4-FFF2-40B4-BE49-F238E27FC236}">
                <a16:creationId xmlns:a16="http://schemas.microsoft.com/office/drawing/2014/main" id="{3C6AEE43-460A-4FD0-A14F-7E232F92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2857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220A"/>
          </a:solidFill>
          <a:ln xmlns:a="http://schemas.openxmlformats.org/drawingml/2006/main" w="11430">
            <a:solidFill>
              <a:srgbClr val="FBBF24"/>
            </a:solidFill>
            <a:prstDash val="solid"/>
          </a:ln>
        </p:spPr>
      </p:sp>
      <p:sp>
        <p:nvSpPr>
          <p:cNvPr id="12" name="pill-label-0096">
            <a:extLst xmlns:a="http://schemas.openxmlformats.org/drawingml/2006/main">
              <a:ext uri="{FF2B5EF4-FFF2-40B4-BE49-F238E27FC236}">
                <a16:creationId xmlns:a16="http://schemas.microsoft.com/office/drawing/2014/main" id="{6D1D8404-CB76-440D-8C4F-FE76E3CC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同一 Shard · 同一串行处理路径</a:t>
            </a:r>
          </a:p>
        </p:txBody>
      </p:sp>
      <p:sp>
        <p:nvSpPr>
          <p:cNvPr id="13" name="time-axis-label-0097">
            <a:extLst xmlns:a="http://schemas.openxmlformats.org/drawingml/2006/main">
              <a:ext uri="{FF2B5EF4-FFF2-40B4-BE49-F238E27FC236}">
                <a16:creationId xmlns:a16="http://schemas.microsoft.com/office/drawing/2014/main" id="{C2EBD888-33F3-4A4A-8182-689764F8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95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时间 →</a:t>
            </a:r>
          </a:p>
        </p:txBody>
      </p:sp>
      <p:sp>
        <p:nvSpPr>
          <p:cNvPr id="14" name="line-0098">
            <a:extLst xmlns:a="http://schemas.openxmlformats.org/drawingml/2006/main">
              <a:ext uri="{FF2B5EF4-FFF2-40B4-BE49-F238E27FC236}">
                <a16:creationId xmlns:a16="http://schemas.microsoft.com/office/drawing/2014/main" id="{F76FAA36-F205-4438-9835-80C2422A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90725"/>
            <a:ext cx="546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34766"/>
            </a:solidFill>
            <a:prstDash val="solid"/>
          </a:ln>
        </p:spPr>
      </p:sp>
      <p:sp>
        <p:nvSpPr>
          <p:cNvPr id="15" name="slow-a-0099">
            <a:extLst xmlns:a="http://schemas.openxmlformats.org/drawingml/2006/main">
              <a:ext uri="{FF2B5EF4-FFF2-40B4-BE49-F238E27FC236}">
                <a16:creationId xmlns:a16="http://schemas.microsoft.com/office/drawing/2014/main" id="{A4164D3F-EF2B-4EE8-9272-3895D1FE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52650"/>
            <a:ext cx="34290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6" name="slow-a-label-0100">
            <a:extLst xmlns:a="http://schemas.openxmlformats.org/drawingml/2006/main">
              <a:ext uri="{FF2B5EF4-FFF2-40B4-BE49-F238E27FC236}">
                <a16:creationId xmlns:a16="http://schemas.microsoft.com/office/drawing/2014/main" id="{D88FB444-A5D2-4E8E-B59E-70AA09FD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09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1212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21212"/>
                </a:solidFill>
                <a:latin typeface="Microsoft YaHei"/>
                <a:ea typeface="Microsoft YaHei"/>
                <a:cs typeface="Microsoft YaHei"/>
              </a:rPr>
              <a:t>A：执行 50 ms</a:t>
            </a:r>
          </a:p>
        </p:txBody>
      </p:sp>
      <p:sp>
        <p:nvSpPr>
          <p:cNvPr id="17" name="fast-request-0101">
            <a:extLst xmlns:a="http://schemas.openxmlformats.org/drawingml/2006/main">
              <a:ext uri="{FF2B5EF4-FFF2-40B4-BE49-F238E27FC236}">
                <a16:creationId xmlns:a16="http://schemas.microsoft.com/office/drawing/2014/main" id="{E45A8E8C-185E-4503-BDDE-FCF4C80D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4000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18" name="fast-label-0102">
            <a:extLst xmlns:a="http://schemas.openxmlformats.org/drawingml/2006/main">
              <a:ext uri="{FF2B5EF4-FFF2-40B4-BE49-F238E27FC236}">
                <a16:creationId xmlns:a16="http://schemas.microsoft.com/office/drawing/2014/main" id="{7FB8D3ED-E186-4F98-B015-E9A4F7BE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28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 1ms</a:t>
            </a:r>
          </a:p>
        </p:txBody>
      </p:sp>
      <p:sp>
        <p:nvSpPr>
          <p:cNvPr id="19" name="fast-request-0103">
            <a:extLst xmlns:a="http://schemas.openxmlformats.org/drawingml/2006/main">
              <a:ext uri="{FF2B5EF4-FFF2-40B4-BE49-F238E27FC236}">
                <a16:creationId xmlns:a16="http://schemas.microsoft.com/office/drawing/2014/main" id="{B02AAE19-789C-4C4E-A183-D6763DA2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152650"/>
            <a:ext cx="4000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0" name="fast-label-0104">
            <a:extLst xmlns:a="http://schemas.openxmlformats.org/drawingml/2006/main">
              <a:ext uri="{FF2B5EF4-FFF2-40B4-BE49-F238E27FC236}">
                <a16:creationId xmlns:a16="http://schemas.microsoft.com/office/drawing/2014/main" id="{3ECD965E-BE2A-4EB3-A9D6-A412FE00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228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1ms</a:t>
            </a:r>
          </a:p>
        </p:txBody>
      </p:sp>
      <p:sp>
        <p:nvSpPr>
          <p:cNvPr id="21" name="fast-request-0105">
            <a:extLst xmlns:a="http://schemas.openxmlformats.org/drawingml/2006/main">
              <a:ext uri="{FF2B5EF4-FFF2-40B4-BE49-F238E27FC236}">
                <a16:creationId xmlns:a16="http://schemas.microsoft.com/office/drawing/2014/main" id="{45882835-63A6-43B7-8D3C-DD6FCC33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52650"/>
            <a:ext cx="4000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2" name="fast-label-0106">
            <a:extLst xmlns:a="http://schemas.openxmlformats.org/drawingml/2006/main">
              <a:ext uri="{FF2B5EF4-FFF2-40B4-BE49-F238E27FC236}">
                <a16:creationId xmlns:a16="http://schemas.microsoft.com/office/drawing/2014/main" id="{688D0D10-65E8-449F-8B4F-2AAAD99E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28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 1ms</a:t>
            </a:r>
          </a:p>
        </p:txBody>
      </p:sp>
      <p:sp>
        <p:nvSpPr>
          <p:cNvPr id="23" name="request-label-0107">
            <a:extLst xmlns:a="http://schemas.openxmlformats.org/drawingml/2006/main">
              <a:ext uri="{FF2B5EF4-FFF2-40B4-BE49-F238E27FC236}">
                <a16:creationId xmlns:a16="http://schemas.microsoft.com/office/drawing/2014/main" id="{80581C21-F80E-47E8-B6D5-98E063E8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请求 B</a:t>
            </a:r>
          </a:p>
        </p:txBody>
      </p:sp>
      <p:sp>
        <p:nvSpPr>
          <p:cNvPr id="24" name="dot-0108">
            <a:extLst xmlns:a="http://schemas.openxmlformats.org/drawingml/2006/main">
              <a:ext uri="{FF2B5EF4-FFF2-40B4-BE49-F238E27FC236}">
                <a16:creationId xmlns:a16="http://schemas.microsoft.com/office/drawing/2014/main" id="{219C52B2-78F8-4D06-91E6-0D80A389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8860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5" name="arrival-0109">
            <a:extLst xmlns:a="http://schemas.openxmlformats.org/drawingml/2006/main">
              <a:ext uri="{FF2B5EF4-FFF2-40B4-BE49-F238E27FC236}">
                <a16:creationId xmlns:a16="http://schemas.microsoft.com/office/drawing/2014/main" id="{8419B013-1236-4649-B492-B7F7CE8D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908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到达</a:t>
            </a:r>
          </a:p>
        </p:txBody>
      </p:sp>
      <p:sp>
        <p:nvSpPr>
          <p:cNvPr id="26" name="wait-band-0110">
            <a:extLst xmlns:a="http://schemas.openxmlformats.org/drawingml/2006/main">
              <a:ext uri="{FF2B5EF4-FFF2-40B4-BE49-F238E27FC236}">
                <a16:creationId xmlns:a16="http://schemas.microsoft.com/office/drawing/2014/main" id="{956A516D-CE60-46F3-AD1E-0782DD8E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28925"/>
            <a:ext cx="2857500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82610"/>
          </a:solidFill>
          <a:ln xmlns:a="http://schemas.openxmlformats.org/drawingml/2006/main" w="7620">
            <a:solidFill>
              <a:srgbClr val="F59E0B"/>
            </a:solidFill>
            <a:prstDash val="solid"/>
          </a:ln>
        </p:spPr>
      </p:sp>
      <p:sp>
        <p:nvSpPr>
          <p:cNvPr id="27" name="wait-label-0111">
            <a:extLst xmlns:a="http://schemas.openxmlformats.org/drawingml/2006/main">
              <a:ext uri="{FF2B5EF4-FFF2-40B4-BE49-F238E27FC236}">
                <a16:creationId xmlns:a16="http://schemas.microsoft.com/office/drawing/2014/main" id="{E7396DD9-CBBF-4F68-9C91-C4566BFA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38450"/>
            <a:ext cx="278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等待 A</a:t>
            </a:r>
          </a:p>
        </p:txBody>
      </p:sp>
      <p:sp>
        <p:nvSpPr>
          <p:cNvPr id="28" name="self-exec-0112">
            <a:extLst xmlns:a="http://schemas.openxmlformats.org/drawingml/2006/main">
              <a:ext uri="{FF2B5EF4-FFF2-40B4-BE49-F238E27FC236}">
                <a16:creationId xmlns:a16="http://schemas.microsoft.com/office/drawing/2014/main" id="{5D2AF97C-B39E-457B-84DF-A2E8A8B7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28925"/>
            <a:ext cx="2857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6668">
            <a:solidFill>
              <a:srgbClr val="60A5FA"/>
            </a:solidFill>
            <a:prstDash val="solid"/>
          </a:ln>
        </p:spPr>
      </p:sp>
      <p:sp>
        <p:nvSpPr>
          <p:cNvPr id="29" name="exec-label-0113">
            <a:extLst xmlns:a="http://schemas.openxmlformats.org/drawingml/2006/main">
              <a:ext uri="{FF2B5EF4-FFF2-40B4-BE49-F238E27FC236}">
                <a16:creationId xmlns:a16="http://schemas.microsoft.com/office/drawing/2014/main" id="{1316F000-A1EC-4EF0-ACD2-A4C5666A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67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30" name="return-label-0114">
            <a:extLst xmlns:a="http://schemas.openxmlformats.org/drawingml/2006/main">
              <a:ext uri="{FF2B5EF4-FFF2-40B4-BE49-F238E27FC236}">
                <a16:creationId xmlns:a16="http://schemas.microsoft.com/office/drawing/2014/main" id="{84714455-3F9E-4AA9-A7D0-6A388572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479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返回</a:t>
            </a:r>
          </a:p>
        </p:txBody>
      </p:sp>
      <p:sp>
        <p:nvSpPr>
          <p:cNvPr id="31" name="request-label-0115">
            <a:extLst xmlns:a="http://schemas.openxmlformats.org/drawingml/2006/main">
              <a:ext uri="{FF2B5EF4-FFF2-40B4-BE49-F238E27FC236}">
                <a16:creationId xmlns:a16="http://schemas.microsoft.com/office/drawing/2014/main" id="{78060D8E-2DBA-4073-A774-3E81524C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请求 C</a:t>
            </a:r>
          </a:p>
        </p:txBody>
      </p:sp>
      <p:sp>
        <p:nvSpPr>
          <p:cNvPr id="32" name="dot-0116">
            <a:extLst xmlns:a="http://schemas.openxmlformats.org/drawingml/2006/main">
              <a:ext uri="{FF2B5EF4-FFF2-40B4-BE49-F238E27FC236}">
                <a16:creationId xmlns:a16="http://schemas.microsoft.com/office/drawing/2014/main" id="{81BDB2CC-E689-46BC-819F-F0E10B19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33" name="arrival-0117">
            <a:extLst xmlns:a="http://schemas.openxmlformats.org/drawingml/2006/main">
              <a:ext uri="{FF2B5EF4-FFF2-40B4-BE49-F238E27FC236}">
                <a16:creationId xmlns:a16="http://schemas.microsoft.com/office/drawing/2014/main" id="{8A480924-44FE-4708-8363-0B73FE47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0861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到达</a:t>
            </a:r>
          </a:p>
        </p:txBody>
      </p:sp>
      <p:sp>
        <p:nvSpPr>
          <p:cNvPr id="34" name="wait-band-0118">
            <a:extLst xmlns:a="http://schemas.openxmlformats.org/drawingml/2006/main">
              <a:ext uri="{FF2B5EF4-FFF2-40B4-BE49-F238E27FC236}">
                <a16:creationId xmlns:a16="http://schemas.microsoft.com/office/drawing/2014/main" id="{3EAFA6E4-50D6-436E-9F7F-592EF4ED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24225"/>
            <a:ext cx="2733675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82610"/>
          </a:solidFill>
          <a:ln xmlns:a="http://schemas.openxmlformats.org/drawingml/2006/main" w="7620">
            <a:solidFill>
              <a:srgbClr val="F59E0B"/>
            </a:solidFill>
            <a:prstDash val="solid"/>
          </a:ln>
        </p:spPr>
      </p:sp>
      <p:sp>
        <p:nvSpPr>
          <p:cNvPr id="35" name="wait-label-0119">
            <a:extLst xmlns:a="http://schemas.openxmlformats.org/drawingml/2006/main">
              <a:ext uri="{FF2B5EF4-FFF2-40B4-BE49-F238E27FC236}">
                <a16:creationId xmlns:a16="http://schemas.microsoft.com/office/drawing/2014/main" id="{425E655F-9B14-42FD-AB28-40987E3D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333750"/>
            <a:ext cx="2657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等待 A、B</a:t>
            </a:r>
          </a:p>
        </p:txBody>
      </p:sp>
      <p:sp>
        <p:nvSpPr>
          <p:cNvPr id="36" name="self-exec-0120">
            <a:extLst xmlns:a="http://schemas.openxmlformats.org/drawingml/2006/main">
              <a:ext uri="{FF2B5EF4-FFF2-40B4-BE49-F238E27FC236}">
                <a16:creationId xmlns:a16="http://schemas.microsoft.com/office/drawing/2014/main" id="{0502C355-426A-45F2-B120-232AD9DD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324225"/>
            <a:ext cx="2857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6668">
            <a:solidFill>
              <a:srgbClr val="60A5FA"/>
            </a:solidFill>
            <a:prstDash val="solid"/>
          </a:ln>
        </p:spPr>
      </p:sp>
      <p:sp>
        <p:nvSpPr>
          <p:cNvPr id="37" name="exec-label-0121">
            <a:extLst xmlns:a="http://schemas.openxmlformats.org/drawingml/2006/main">
              <a:ext uri="{FF2B5EF4-FFF2-40B4-BE49-F238E27FC236}">
                <a16:creationId xmlns:a16="http://schemas.microsoft.com/office/drawing/2014/main" id="{A1660D15-9D66-4331-876C-F64DCB47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5623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38" name="return-label-0122">
            <a:extLst xmlns:a="http://schemas.openxmlformats.org/drawingml/2006/main">
              <a:ext uri="{FF2B5EF4-FFF2-40B4-BE49-F238E27FC236}">
                <a16:creationId xmlns:a16="http://schemas.microsoft.com/office/drawing/2014/main" id="{819A75C9-3966-4374-92FD-440AA546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3432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返回</a:t>
            </a:r>
          </a:p>
        </p:txBody>
      </p:sp>
      <p:sp>
        <p:nvSpPr>
          <p:cNvPr id="39" name="request-label-0123">
            <a:extLst xmlns:a="http://schemas.openxmlformats.org/drawingml/2006/main">
              <a:ext uri="{FF2B5EF4-FFF2-40B4-BE49-F238E27FC236}">
                <a16:creationId xmlns:a16="http://schemas.microsoft.com/office/drawing/2014/main" id="{230A1220-2EBE-47B8-A9D8-035659A5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909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请求 D</a:t>
            </a:r>
          </a:p>
        </p:txBody>
      </p:sp>
      <p:sp>
        <p:nvSpPr>
          <p:cNvPr id="40" name="dot-0124">
            <a:extLst xmlns:a="http://schemas.openxmlformats.org/drawingml/2006/main">
              <a:ext uri="{FF2B5EF4-FFF2-40B4-BE49-F238E27FC236}">
                <a16:creationId xmlns:a16="http://schemas.microsoft.com/office/drawing/2014/main" id="{D82D7C5A-54E3-49DC-B29F-3FEDFBC4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76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41" name="arrival-0125">
            <a:extLst xmlns:a="http://schemas.openxmlformats.org/drawingml/2006/main">
              <a:ext uri="{FF2B5EF4-FFF2-40B4-BE49-F238E27FC236}">
                <a16:creationId xmlns:a16="http://schemas.microsoft.com/office/drawing/2014/main" id="{11ACDB55-A797-458F-B5B8-EF7F26E3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814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到达</a:t>
            </a:r>
          </a:p>
        </p:txBody>
      </p:sp>
      <p:sp>
        <p:nvSpPr>
          <p:cNvPr id="42" name="wait-band-0126">
            <a:extLst xmlns:a="http://schemas.openxmlformats.org/drawingml/2006/main">
              <a:ext uri="{FF2B5EF4-FFF2-40B4-BE49-F238E27FC236}">
                <a16:creationId xmlns:a16="http://schemas.microsoft.com/office/drawing/2014/main" id="{389EEDFE-EB81-4E9F-850E-5E7D3BF8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19525"/>
            <a:ext cx="2609850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82610"/>
          </a:solidFill>
          <a:ln xmlns:a="http://schemas.openxmlformats.org/drawingml/2006/main" w="7620">
            <a:solidFill>
              <a:srgbClr val="F59E0B"/>
            </a:solidFill>
            <a:prstDash val="solid"/>
          </a:ln>
        </p:spPr>
      </p:sp>
      <p:sp>
        <p:nvSpPr>
          <p:cNvPr id="43" name="wait-label-0127">
            <a:extLst xmlns:a="http://schemas.openxmlformats.org/drawingml/2006/main">
              <a:ext uri="{FF2B5EF4-FFF2-40B4-BE49-F238E27FC236}">
                <a16:creationId xmlns:a16="http://schemas.microsoft.com/office/drawing/2014/main" id="{8C960C0F-FB68-465A-A0A3-B929CF6F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29050"/>
            <a:ext cx="2533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等待 A、B、C</a:t>
            </a:r>
          </a:p>
        </p:txBody>
      </p:sp>
      <p:sp>
        <p:nvSpPr>
          <p:cNvPr id="44" name="self-exec-0128">
            <a:extLst xmlns:a="http://schemas.openxmlformats.org/drawingml/2006/main">
              <a:ext uri="{FF2B5EF4-FFF2-40B4-BE49-F238E27FC236}">
                <a16:creationId xmlns:a16="http://schemas.microsoft.com/office/drawing/2014/main" id="{1911D846-EA37-4C10-AF90-2DD96E46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19525"/>
            <a:ext cx="285750" cy="1905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6668">
            <a:solidFill>
              <a:srgbClr val="60A5FA"/>
            </a:solidFill>
            <a:prstDash val="solid"/>
          </a:ln>
        </p:spPr>
      </p:sp>
      <p:sp>
        <p:nvSpPr>
          <p:cNvPr id="45" name="exec-label-0129">
            <a:extLst xmlns:a="http://schemas.openxmlformats.org/drawingml/2006/main">
              <a:ext uri="{FF2B5EF4-FFF2-40B4-BE49-F238E27FC236}">
                <a16:creationId xmlns:a16="http://schemas.microsoft.com/office/drawing/2014/main" id="{B52D0E33-E96B-4C75-A3EC-C481F5C0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57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46" name="return-label-0130">
            <a:extLst xmlns:a="http://schemas.openxmlformats.org/drawingml/2006/main">
              <a:ext uri="{FF2B5EF4-FFF2-40B4-BE49-F238E27FC236}">
                <a16:creationId xmlns:a16="http://schemas.microsoft.com/office/drawing/2014/main" id="{19B7747D-BD8B-412C-B460-8617295AA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3857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返回</a:t>
            </a:r>
          </a:p>
        </p:txBody>
      </p:sp>
      <p:sp>
        <p:nvSpPr>
          <p:cNvPr id="47" name="timeline-note-0131">
            <a:extLst xmlns:a="http://schemas.openxmlformats.org/drawingml/2006/main">
              <a:ext uri="{FF2B5EF4-FFF2-40B4-BE49-F238E27FC236}">
                <a16:creationId xmlns:a16="http://schemas.microsoft.com/office/drawing/2014/main" id="{CF55FCF9-5050-40A5-815D-6690533F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B / C / D 自身执行仍只有 1 ms</a:t>
            </a:r>
          </a:p>
        </p:txBody>
      </p:sp>
      <p:sp>
        <p:nvSpPr>
          <p:cNvPr id="48" name="timeline-note-0132">
            <a:extLst xmlns:a="http://schemas.openxmlformats.org/drawingml/2006/main">
              <a:ext uri="{FF2B5EF4-FFF2-40B4-BE49-F238E27FC236}">
                <a16:creationId xmlns:a16="http://schemas.microsoft.com/office/drawing/2014/main" id="{CCD485DC-CE71-4E36-A1EA-D2BCB7D0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624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75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端到端时延 = 排队等待 + 自身执行</a:t>
            </a:r>
          </a:p>
        </p:txBody>
      </p:sp>
      <p:sp>
        <p:nvSpPr>
          <p:cNvPr id="49" name="line-0133">
            <a:extLst xmlns:a="http://schemas.openxmlformats.org/drawingml/2006/main">
              <a:ext uri="{FF2B5EF4-FFF2-40B4-BE49-F238E27FC236}">
                <a16:creationId xmlns:a16="http://schemas.microsoft.com/office/drawing/2014/main" id="{3F1C982E-5AEA-4E57-A87C-824FDB63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601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50" name="pipeline-title-0134">
            <a:extLst xmlns:a="http://schemas.openxmlformats.org/drawingml/2006/main">
              <a:ext uri="{FF2B5EF4-FFF2-40B4-BE49-F238E27FC236}">
                <a16:creationId xmlns:a16="http://schemas.microsoft.com/office/drawing/2014/main" id="{064C2FC0-47C3-4046-BB92-A00B684E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Pipeline 对照</a:t>
            </a:r>
          </a:p>
        </p:txBody>
      </p:sp>
      <p:sp>
        <p:nvSpPr>
          <p:cNvPr id="51" name="pipeline-client-0135">
            <a:extLst xmlns:a="http://schemas.openxmlformats.org/drawingml/2006/main">
              <a:ext uri="{FF2B5EF4-FFF2-40B4-BE49-F238E27FC236}">
                <a16:creationId xmlns:a16="http://schemas.microsoft.com/office/drawing/2014/main" id="{62BCE5EB-2D1B-4956-B023-48A226DA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24475"/>
            <a:ext cx="3429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3220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52" name="pipeline-letter-0136">
            <a:extLst xmlns:a="http://schemas.openxmlformats.org/drawingml/2006/main">
              <a:ext uri="{FF2B5EF4-FFF2-40B4-BE49-F238E27FC236}">
                <a16:creationId xmlns:a16="http://schemas.microsoft.com/office/drawing/2014/main" id="{20811407-07AA-4128-A21D-3EB4EF0B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53" name="pipeline-client-0137">
            <a:extLst xmlns:a="http://schemas.openxmlformats.org/drawingml/2006/main">
              <a:ext uri="{FF2B5EF4-FFF2-40B4-BE49-F238E27FC236}">
                <a16:creationId xmlns:a16="http://schemas.microsoft.com/office/drawing/2014/main" id="{3846954D-3E97-4F17-A87C-F7DDB01F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24475"/>
            <a:ext cx="3429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54" name="pipeline-letter-0138">
            <a:extLst xmlns:a="http://schemas.openxmlformats.org/drawingml/2006/main">
              <a:ext uri="{FF2B5EF4-FFF2-40B4-BE49-F238E27FC236}">
                <a16:creationId xmlns:a16="http://schemas.microsoft.com/office/drawing/2014/main" id="{3DC501CD-C0EE-4190-A9CA-115CB5F5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625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5" name="pipeline-client-0139">
            <a:extLst xmlns:a="http://schemas.openxmlformats.org/drawingml/2006/main">
              <a:ext uri="{FF2B5EF4-FFF2-40B4-BE49-F238E27FC236}">
                <a16:creationId xmlns:a16="http://schemas.microsoft.com/office/drawing/2014/main" id="{A8AC7084-CF2B-4585-9255-7D0C19A8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24475"/>
            <a:ext cx="3429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56" name="pipeline-letter-0140">
            <a:extLst xmlns:a="http://schemas.openxmlformats.org/drawingml/2006/main">
              <a:ext uri="{FF2B5EF4-FFF2-40B4-BE49-F238E27FC236}">
                <a16:creationId xmlns:a16="http://schemas.microsoft.com/office/drawing/2014/main" id="{F7C7DDC5-55A9-48D7-8E64-EC7F5087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625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57" name="pipeline-client-0141">
            <a:extLst xmlns:a="http://schemas.openxmlformats.org/drawingml/2006/main">
              <a:ext uri="{FF2B5EF4-FFF2-40B4-BE49-F238E27FC236}">
                <a16:creationId xmlns:a16="http://schemas.microsoft.com/office/drawing/2014/main" id="{01D81258-B4F0-4669-BE0E-CF1663FA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24475"/>
            <a:ext cx="3429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58" name="pipeline-letter-0142">
            <a:extLst xmlns:a="http://schemas.openxmlformats.org/drawingml/2006/main">
              <a:ext uri="{FF2B5EF4-FFF2-40B4-BE49-F238E27FC236}">
                <a16:creationId xmlns:a16="http://schemas.microsoft.com/office/drawing/2014/main" id="{65E3232E-3CC6-40A8-94D2-5AECA914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625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59" name="pipeline-client-0143">
            <a:extLst xmlns:a="http://schemas.openxmlformats.org/drawingml/2006/main">
              <a:ext uri="{FF2B5EF4-FFF2-40B4-BE49-F238E27FC236}">
                <a16:creationId xmlns:a16="http://schemas.microsoft.com/office/drawing/2014/main" id="{312453BB-83ED-4D86-9144-BAC3721B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24475"/>
            <a:ext cx="3429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60" name="pipeline-letter-0144">
            <a:extLst xmlns:a="http://schemas.openxmlformats.org/drawingml/2006/main">
              <a:ext uri="{FF2B5EF4-FFF2-40B4-BE49-F238E27FC236}">
                <a16:creationId xmlns:a16="http://schemas.microsoft.com/office/drawing/2014/main" id="{ACB7B33F-ED8B-435D-A82A-0813C818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625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61" name="pipeline-send-0145">
            <a:extLst xmlns:a="http://schemas.openxmlformats.org/drawingml/2006/main">
              <a:ext uri="{FF2B5EF4-FFF2-40B4-BE49-F238E27FC236}">
                <a16:creationId xmlns:a16="http://schemas.microsoft.com/office/drawing/2014/main" id="{35CC9EF0-3995-4F97-9295-AEF88310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3625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连续发送</a:t>
            </a:r>
          </a:p>
        </p:txBody>
      </p:sp>
      <p:sp>
        <p:nvSpPr>
          <p:cNvPr id="62" name="chevron-0146">
            <a:extLst xmlns:a="http://schemas.openxmlformats.org/drawingml/2006/main">
              <a:ext uri="{FF2B5EF4-FFF2-40B4-BE49-F238E27FC236}">
                <a16:creationId xmlns:a16="http://schemas.microsoft.com/office/drawing/2014/main" id="{65ADC034-0A6A-4214-A874-C17CEFC8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5362575"/>
            <a:ext cx="171450" cy="2095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63" name="pipeline-server-0147">
            <a:extLst xmlns:a="http://schemas.openxmlformats.org/drawingml/2006/main">
              <a:ext uri="{FF2B5EF4-FFF2-40B4-BE49-F238E27FC236}">
                <a16:creationId xmlns:a16="http://schemas.microsoft.com/office/drawing/2014/main" id="{4E95B813-7325-4CD5-ABBA-2FAB30F0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24475"/>
            <a:ext cx="4191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64" name="pipeline-server-label-0148">
            <a:extLst xmlns:a="http://schemas.openxmlformats.org/drawingml/2006/main">
              <a:ext uri="{FF2B5EF4-FFF2-40B4-BE49-F238E27FC236}">
                <a16:creationId xmlns:a16="http://schemas.microsoft.com/office/drawing/2014/main" id="{242DC815-F43E-4C8C-8CF0-79506E59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62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A 慢</a:t>
            </a:r>
          </a:p>
        </p:txBody>
      </p:sp>
      <p:sp>
        <p:nvSpPr>
          <p:cNvPr id="65" name="pipeline-server-0149">
            <a:extLst xmlns:a="http://schemas.openxmlformats.org/drawingml/2006/main">
              <a:ext uri="{FF2B5EF4-FFF2-40B4-BE49-F238E27FC236}">
                <a16:creationId xmlns:a16="http://schemas.microsoft.com/office/drawing/2014/main" id="{3087E4DA-BAAB-4DF7-9CD8-B8E0204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24475"/>
            <a:ext cx="4191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66" name="pipeline-server-label-0150">
            <a:extLst xmlns:a="http://schemas.openxmlformats.org/drawingml/2006/main">
              <a:ext uri="{FF2B5EF4-FFF2-40B4-BE49-F238E27FC236}">
                <a16:creationId xmlns:a16="http://schemas.microsoft.com/office/drawing/2014/main" id="{5636E2D1-48A4-4D26-9FEC-B7CBB434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62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67" name="pipeline-server-0151">
            <a:extLst xmlns:a="http://schemas.openxmlformats.org/drawingml/2006/main">
              <a:ext uri="{FF2B5EF4-FFF2-40B4-BE49-F238E27FC236}">
                <a16:creationId xmlns:a16="http://schemas.microsoft.com/office/drawing/2014/main" id="{24E14150-D519-4377-A827-2C080050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24475"/>
            <a:ext cx="4191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68" name="pipeline-server-label-0152">
            <a:extLst xmlns:a="http://schemas.openxmlformats.org/drawingml/2006/main">
              <a:ext uri="{FF2B5EF4-FFF2-40B4-BE49-F238E27FC236}">
                <a16:creationId xmlns:a16="http://schemas.microsoft.com/office/drawing/2014/main" id="{AA551E32-0A6F-412E-9FD5-051AE7B7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62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69" name="pipeline-server-0153">
            <a:extLst xmlns:a="http://schemas.openxmlformats.org/drawingml/2006/main">
              <a:ext uri="{FF2B5EF4-FFF2-40B4-BE49-F238E27FC236}">
                <a16:creationId xmlns:a16="http://schemas.microsoft.com/office/drawing/2014/main" id="{92A1B64B-9515-47F2-849E-362D30CE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24475"/>
            <a:ext cx="4191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70" name="pipeline-server-label-0154">
            <a:extLst xmlns:a="http://schemas.openxmlformats.org/drawingml/2006/main">
              <a:ext uri="{FF2B5EF4-FFF2-40B4-BE49-F238E27FC236}">
                <a16:creationId xmlns:a16="http://schemas.microsoft.com/office/drawing/2014/main" id="{BE1A6899-7375-428D-8454-2DAA0A9F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62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71" name="pipeline-server-0155">
            <a:extLst xmlns:a="http://schemas.openxmlformats.org/drawingml/2006/main">
              <a:ext uri="{FF2B5EF4-FFF2-40B4-BE49-F238E27FC236}">
                <a16:creationId xmlns:a16="http://schemas.microsoft.com/office/drawing/2014/main" id="{6CDD2432-27AD-485A-9C18-AACF3171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24475"/>
            <a:ext cx="41910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72" name="pipeline-server-label-0156">
            <a:extLst xmlns:a="http://schemas.openxmlformats.org/drawingml/2006/main">
              <a:ext uri="{FF2B5EF4-FFF2-40B4-BE49-F238E27FC236}">
                <a16:creationId xmlns:a16="http://schemas.microsoft.com/office/drawing/2014/main" id="{EF445FD7-128D-470E-A3BA-677E0DB6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625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0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73" name="pipeline-note-0157">
            <a:extLst xmlns:a="http://schemas.openxmlformats.org/drawingml/2006/main">
              <a:ext uri="{FF2B5EF4-FFF2-40B4-BE49-F238E27FC236}">
                <a16:creationId xmlns:a16="http://schemas.microsoft.com/office/drawing/2014/main" id="{6BF7FCD7-A920-4500-BFF0-83246C1E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594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Pipeline 减少网络往返；批次较大且前部有慢命令时，后续命令会成批等待。</a:t>
            </a:r>
          </a:p>
        </p:txBody>
      </p:sp>
      <p:sp>
        <p:nvSpPr>
          <p:cNvPr id="74" name="before-title-0158">
            <a:extLst xmlns:a="http://schemas.openxmlformats.org/drawingml/2006/main">
              <a:ext uri="{FF2B5EF4-FFF2-40B4-BE49-F238E27FC236}">
                <a16:creationId xmlns:a16="http://schemas.microsoft.com/office/drawing/2014/main" id="{258FD8C7-0467-4A27-AFAB-30B15337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859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超时前</a:t>
            </a:r>
          </a:p>
        </p:txBody>
      </p:sp>
      <p:sp>
        <p:nvSpPr>
          <p:cNvPr id="75" name="queue-label-0159">
            <a:extLst xmlns:a="http://schemas.openxmlformats.org/drawingml/2006/main">
              <a:ext uri="{FF2B5EF4-FFF2-40B4-BE49-F238E27FC236}">
                <a16:creationId xmlns:a16="http://schemas.microsoft.com/office/drawing/2014/main" id="{9E57BF82-021A-48AB-8889-40ACF009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240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执行中</a:t>
            </a:r>
          </a:p>
        </p:txBody>
      </p:sp>
      <p:sp>
        <p:nvSpPr>
          <p:cNvPr id="76" name="queue-a-0160">
            <a:extLst xmlns:a="http://schemas.openxmlformats.org/drawingml/2006/main">
              <a:ext uri="{FF2B5EF4-FFF2-40B4-BE49-F238E27FC236}">
                <a16:creationId xmlns:a16="http://schemas.microsoft.com/office/drawing/2014/main" id="{CD7EE6A0-BF26-42E3-9D7F-D53BCEA1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85950"/>
            <a:ext cx="8763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77" name="queue-a-label-0161">
            <a:extLst xmlns:a="http://schemas.openxmlformats.org/drawingml/2006/main">
              <a:ext uri="{FF2B5EF4-FFF2-40B4-BE49-F238E27FC236}">
                <a16:creationId xmlns:a16="http://schemas.microsoft.com/office/drawing/2014/main" id="{05331EA4-7FAC-4240-8A2F-526BC489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431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A 慢</a:t>
            </a:r>
          </a:p>
        </p:txBody>
      </p:sp>
      <p:sp>
        <p:nvSpPr>
          <p:cNvPr id="78" name="queue-label-0162">
            <a:extLst xmlns:a="http://schemas.openxmlformats.org/drawingml/2006/main">
              <a:ext uri="{FF2B5EF4-FFF2-40B4-BE49-F238E27FC236}">
                <a16:creationId xmlns:a16="http://schemas.microsoft.com/office/drawing/2014/main" id="{889B5181-2DEF-4770-A122-AED21E86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431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队列</a:t>
            </a:r>
          </a:p>
        </p:txBody>
      </p:sp>
      <p:sp>
        <p:nvSpPr>
          <p:cNvPr id="79" name="queue-original-0163">
            <a:extLst xmlns:a="http://schemas.openxmlformats.org/drawingml/2006/main">
              <a:ext uri="{FF2B5EF4-FFF2-40B4-BE49-F238E27FC236}">
                <a16:creationId xmlns:a16="http://schemas.microsoft.com/office/drawing/2014/main" id="{CD6AEF13-DE9D-45C8-A114-247BC0E5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86000"/>
            <a:ext cx="4572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80" name="queue-original-label-0164">
            <a:extLst xmlns:a="http://schemas.openxmlformats.org/drawingml/2006/main">
              <a:ext uri="{FF2B5EF4-FFF2-40B4-BE49-F238E27FC236}">
                <a16:creationId xmlns:a16="http://schemas.microsoft.com/office/drawing/2014/main" id="{CC2D41BE-6405-4D0E-BE49-3F5F4B3A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52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81" name="queue-original-0165">
            <a:extLst xmlns:a="http://schemas.openxmlformats.org/drawingml/2006/main">
              <a:ext uri="{FF2B5EF4-FFF2-40B4-BE49-F238E27FC236}">
                <a16:creationId xmlns:a16="http://schemas.microsoft.com/office/drawing/2014/main" id="{FC7132AC-1E5F-40A8-A143-165B6105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86000"/>
            <a:ext cx="4572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82" name="queue-original-label-0166">
            <a:extLst xmlns:a="http://schemas.openxmlformats.org/drawingml/2006/main">
              <a:ext uri="{FF2B5EF4-FFF2-40B4-BE49-F238E27FC236}">
                <a16:creationId xmlns:a16="http://schemas.microsoft.com/office/drawing/2014/main" id="{E6288965-0D39-48D4-8E5E-BDC4E607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52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83" name="queue-original-0167">
            <a:extLst xmlns:a="http://schemas.openxmlformats.org/drawingml/2006/main">
              <a:ext uri="{FF2B5EF4-FFF2-40B4-BE49-F238E27FC236}">
                <a16:creationId xmlns:a16="http://schemas.microsoft.com/office/drawing/2014/main" id="{9111BCAC-F448-412E-B284-32C30FBB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86000"/>
            <a:ext cx="4572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84" name="queue-original-label-0168">
            <a:extLst xmlns:a="http://schemas.openxmlformats.org/drawingml/2006/main">
              <a:ext uri="{FF2B5EF4-FFF2-40B4-BE49-F238E27FC236}">
                <a16:creationId xmlns:a16="http://schemas.microsoft.com/office/drawing/2014/main" id="{9A4AB2CD-50EC-42A9-A130-744F46BA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526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85" name="pill-0169">
            <a:extLst xmlns:a="http://schemas.openxmlformats.org/drawingml/2006/main">
              <a:ext uri="{FF2B5EF4-FFF2-40B4-BE49-F238E27FC236}">
                <a16:creationId xmlns:a16="http://schemas.microsoft.com/office/drawing/2014/main" id="{FE022CA7-9E5E-4FC7-8682-C94CE885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30505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13D"/>
          </a:solidFill>
          <a:ln xmlns:a="http://schemas.openxmlformats.org/drawingml/2006/main" w="11430">
            <a:solidFill>
              <a:srgbClr val="60A5FA"/>
            </a:solidFill>
            <a:prstDash val="solid"/>
          </a:ln>
        </p:spPr>
      </p:sp>
      <p:sp>
        <p:nvSpPr>
          <p:cNvPr id="86" name="pill-label-0170">
            <a:extLst xmlns:a="http://schemas.openxmlformats.org/drawingml/2006/main">
              <a:ext uri="{FF2B5EF4-FFF2-40B4-BE49-F238E27FC236}">
                <a16:creationId xmlns:a16="http://schemas.microsoft.com/office/drawing/2014/main" id="{5808278D-1D87-4CE8-8AE3-D542C6CE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324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待处理：3</a:t>
            </a:r>
          </a:p>
        </p:txBody>
      </p:sp>
      <p:sp>
        <p:nvSpPr>
          <p:cNvPr id="87" name="retry-event-0171">
            <a:extLst xmlns:a="http://schemas.openxmlformats.org/drawingml/2006/main">
              <a:ext uri="{FF2B5EF4-FFF2-40B4-BE49-F238E27FC236}">
                <a16:creationId xmlns:a16="http://schemas.microsoft.com/office/drawing/2014/main" id="{07833473-315D-46EC-9C23-D814EED2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857500"/>
            <a:ext cx="398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B / C / D 均超时，并分别发起重试</a:t>
            </a:r>
          </a:p>
        </p:txBody>
      </p:sp>
      <p:sp>
        <p:nvSpPr>
          <p:cNvPr id="88" name="chevron-0172">
            <a:extLst xmlns:a="http://schemas.openxmlformats.org/drawingml/2006/main">
              <a:ext uri="{FF2B5EF4-FFF2-40B4-BE49-F238E27FC236}">
                <a16:creationId xmlns:a16="http://schemas.microsoft.com/office/drawing/2014/main" id="{49EBE30B-6BCB-4798-B910-72137AD3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53550" y="3124200"/>
            <a:ext cx="1905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4763">
            <a:solidFill>
              <a:srgbClr val="EF4444"/>
            </a:solidFill>
            <a:prstDash val="solid"/>
          </a:ln>
        </p:spPr>
      </p:sp>
      <p:sp>
        <p:nvSpPr>
          <p:cNvPr id="89" name="after-title-0173">
            <a:extLst xmlns:a="http://schemas.openxmlformats.org/drawingml/2006/main">
              <a:ext uri="{FF2B5EF4-FFF2-40B4-BE49-F238E27FC236}">
                <a16:creationId xmlns:a16="http://schemas.microsoft.com/office/drawing/2014/main" id="{2A95030F-0C5F-4716-89EB-D7376B42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290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重试后</a:t>
            </a:r>
          </a:p>
        </p:txBody>
      </p:sp>
      <p:sp>
        <p:nvSpPr>
          <p:cNvPr id="90" name="queue-label-0174">
            <a:extLst xmlns:a="http://schemas.openxmlformats.org/drawingml/2006/main">
              <a:ext uri="{FF2B5EF4-FFF2-40B4-BE49-F238E27FC236}">
                <a16:creationId xmlns:a16="http://schemas.microsoft.com/office/drawing/2014/main" id="{7EAF4028-237B-41E7-B36B-767A0879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8481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执行中</a:t>
            </a:r>
          </a:p>
        </p:txBody>
      </p:sp>
      <p:sp>
        <p:nvSpPr>
          <p:cNvPr id="91" name="queue-a-0175">
            <a:extLst xmlns:a="http://schemas.openxmlformats.org/drawingml/2006/main">
              <a:ext uri="{FF2B5EF4-FFF2-40B4-BE49-F238E27FC236}">
                <a16:creationId xmlns:a16="http://schemas.microsoft.com/office/drawing/2014/main" id="{37A091A6-5C92-4164-BF3E-90621B31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10000"/>
            <a:ext cx="876300" cy="3048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92" name="queue-a-label-0176">
            <a:extLst xmlns:a="http://schemas.openxmlformats.org/drawingml/2006/main">
              <a:ext uri="{FF2B5EF4-FFF2-40B4-BE49-F238E27FC236}">
                <a16:creationId xmlns:a16="http://schemas.microsoft.com/office/drawing/2014/main" id="{928E62A1-AA63-49F2-8A44-E90F56F2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671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1616"/>
                </a:solidFill>
                <a:latin typeface="Microsoft YaHei"/>
                <a:ea typeface="Microsoft YaHei"/>
                <a:cs typeface="Microsoft YaHei"/>
              </a:rPr>
              <a:t>A 慢</a:t>
            </a:r>
          </a:p>
        </p:txBody>
      </p:sp>
      <p:sp>
        <p:nvSpPr>
          <p:cNvPr id="93" name="queue-label-0177">
            <a:extLst xmlns:a="http://schemas.openxmlformats.org/drawingml/2006/main">
              <a:ext uri="{FF2B5EF4-FFF2-40B4-BE49-F238E27FC236}">
                <a16:creationId xmlns:a16="http://schemas.microsoft.com/office/drawing/2014/main" id="{9514E6B8-4369-4A17-8759-E60C393D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672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队列</a:t>
            </a:r>
          </a:p>
        </p:txBody>
      </p:sp>
      <p:sp>
        <p:nvSpPr>
          <p:cNvPr id="94" name="queue-item-0178">
            <a:extLst xmlns:a="http://schemas.openxmlformats.org/drawingml/2006/main">
              <a:ext uri="{FF2B5EF4-FFF2-40B4-BE49-F238E27FC236}">
                <a16:creationId xmlns:a16="http://schemas.microsoft.com/office/drawing/2014/main" id="{587A8ABA-9BCD-48E4-983D-83CCB80D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10050"/>
            <a:ext cx="4000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95" name="queue-item-label-0179">
            <a:extLst xmlns:a="http://schemas.openxmlformats.org/drawingml/2006/main">
              <a:ext uri="{FF2B5EF4-FFF2-40B4-BE49-F238E27FC236}">
                <a16:creationId xmlns:a16="http://schemas.microsoft.com/office/drawing/2014/main" id="{DF2B324B-C062-4378-9FB8-9C753E3E7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76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96" name="queue-item-0180">
            <a:extLst xmlns:a="http://schemas.openxmlformats.org/drawingml/2006/main">
              <a:ext uri="{FF2B5EF4-FFF2-40B4-BE49-F238E27FC236}">
                <a16:creationId xmlns:a16="http://schemas.microsoft.com/office/drawing/2014/main" id="{51D62770-8856-49AD-B753-BC58F080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10050"/>
            <a:ext cx="4000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97" name="queue-item-label-0181">
            <a:extLst xmlns:a="http://schemas.openxmlformats.org/drawingml/2006/main">
              <a:ext uri="{FF2B5EF4-FFF2-40B4-BE49-F238E27FC236}">
                <a16:creationId xmlns:a16="http://schemas.microsoft.com/office/drawing/2014/main" id="{0B021A2E-4E36-4127-937B-9C31C1FF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76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98" name="queue-item-0182">
            <a:extLst xmlns:a="http://schemas.openxmlformats.org/drawingml/2006/main">
              <a:ext uri="{FF2B5EF4-FFF2-40B4-BE49-F238E27FC236}">
                <a16:creationId xmlns:a16="http://schemas.microsoft.com/office/drawing/2014/main" id="{0864E8CB-6BFF-4B70-B3BF-07904AC7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10050"/>
            <a:ext cx="4000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99" name="queue-item-label-0183">
            <a:extLst xmlns:a="http://schemas.openxmlformats.org/drawingml/2006/main">
              <a:ext uri="{FF2B5EF4-FFF2-40B4-BE49-F238E27FC236}">
                <a16:creationId xmlns:a16="http://schemas.microsoft.com/office/drawing/2014/main" id="{DCA2959C-DF83-4DB3-9C49-FE3CD056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76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100" name="queue-item-0184">
            <a:extLst xmlns:a="http://schemas.openxmlformats.org/drawingml/2006/main">
              <a:ext uri="{FF2B5EF4-FFF2-40B4-BE49-F238E27FC236}">
                <a16:creationId xmlns:a16="http://schemas.microsoft.com/office/drawing/2014/main" id="{9E907816-DB0E-48AE-90E5-B101DB26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10050"/>
            <a:ext cx="4000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35131B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101" name="queue-item-label-0185">
            <a:extLst xmlns:a="http://schemas.openxmlformats.org/drawingml/2006/main">
              <a:ext uri="{FF2B5EF4-FFF2-40B4-BE49-F238E27FC236}">
                <a16:creationId xmlns:a16="http://schemas.microsoft.com/office/drawing/2014/main" id="{7571F0E8-47B9-4B81-ADCE-0C7F346E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76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B′</a:t>
            </a:r>
          </a:p>
        </p:txBody>
      </p:sp>
      <p:sp>
        <p:nvSpPr>
          <p:cNvPr id="102" name="queue-item-0186">
            <a:extLst xmlns:a="http://schemas.openxmlformats.org/drawingml/2006/main">
              <a:ext uri="{FF2B5EF4-FFF2-40B4-BE49-F238E27FC236}">
                <a16:creationId xmlns:a16="http://schemas.microsoft.com/office/drawing/2014/main" id="{D0673A7C-03F4-4A48-A316-75BE68C3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10050"/>
            <a:ext cx="4000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35131B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103" name="queue-item-label-0187">
            <a:extLst xmlns:a="http://schemas.openxmlformats.org/drawingml/2006/main">
              <a:ext uri="{FF2B5EF4-FFF2-40B4-BE49-F238E27FC236}">
                <a16:creationId xmlns:a16="http://schemas.microsoft.com/office/drawing/2014/main" id="{2B821052-6BC4-4D2D-9D41-4A976E68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76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C′</a:t>
            </a:r>
          </a:p>
        </p:txBody>
      </p:sp>
      <p:sp>
        <p:nvSpPr>
          <p:cNvPr id="104" name="queue-item-0188">
            <a:extLst xmlns:a="http://schemas.openxmlformats.org/drawingml/2006/main">
              <a:ext uri="{FF2B5EF4-FFF2-40B4-BE49-F238E27FC236}">
                <a16:creationId xmlns:a16="http://schemas.microsoft.com/office/drawing/2014/main" id="{2F4FC583-5D3C-4805-816B-4A8B433B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10050"/>
            <a:ext cx="4000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35131B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105" name="queue-item-label-0189">
            <a:extLst xmlns:a="http://schemas.openxmlformats.org/drawingml/2006/main">
              <a:ext uri="{FF2B5EF4-FFF2-40B4-BE49-F238E27FC236}">
                <a16:creationId xmlns:a16="http://schemas.microsoft.com/office/drawing/2014/main" id="{AEC6653E-E65E-4C4A-AB7A-9E4E68CF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767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D′</a:t>
            </a:r>
          </a:p>
        </p:txBody>
      </p:sp>
      <p:sp>
        <p:nvSpPr>
          <p:cNvPr id="106" name="pill-0190">
            <a:extLst xmlns:a="http://schemas.openxmlformats.org/drawingml/2006/main">
              <a:ext uri="{FF2B5EF4-FFF2-40B4-BE49-F238E27FC236}">
                <a16:creationId xmlns:a16="http://schemas.microsoft.com/office/drawing/2014/main" id="{C5C65235-0729-416E-8092-EBB11AAA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648200"/>
            <a:ext cx="12001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31B"/>
          </a:solidFill>
          <a:ln xmlns:a="http://schemas.openxmlformats.org/drawingml/2006/main" w="11430">
            <a:solidFill>
              <a:srgbClr val="F87171"/>
            </a:solidFill>
            <a:prstDash val="solid"/>
          </a:ln>
        </p:spPr>
      </p:sp>
      <p:sp>
        <p:nvSpPr>
          <p:cNvPr id="107" name="pill-label-0191">
            <a:extLst xmlns:a="http://schemas.openxmlformats.org/drawingml/2006/main">
              <a:ext uri="{FF2B5EF4-FFF2-40B4-BE49-F238E27FC236}">
                <a16:creationId xmlns:a16="http://schemas.microsoft.com/office/drawing/2014/main" id="{43AAD17E-B25A-4528-AAD4-DC9C7912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6672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待处理：6</a:t>
            </a:r>
          </a:p>
        </p:txBody>
      </p:sp>
      <p:sp>
        <p:nvSpPr>
          <p:cNvPr id="108" name="capacity-note-0192">
            <a:extLst xmlns:a="http://schemas.openxmlformats.org/drawingml/2006/main">
              <a:ext uri="{FF2B5EF4-FFF2-40B4-BE49-F238E27FC236}">
                <a16:creationId xmlns:a16="http://schemas.microsoft.com/office/drawing/2014/main" id="{E08D2174-D8ED-4477-A196-F6D51BE7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86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完成能力：没有变化</a:t>
            </a:r>
          </a:p>
        </p:txBody>
      </p:sp>
      <p:sp>
        <p:nvSpPr>
          <p:cNvPr id="109" name="line-0193">
            <a:extLst xmlns:a="http://schemas.openxmlformats.org/drawingml/2006/main">
              <a:ext uri="{FF2B5EF4-FFF2-40B4-BE49-F238E27FC236}">
                <a16:creationId xmlns:a16="http://schemas.microsoft.com/office/drawing/2014/main" id="{B662F20C-AF4E-4E29-904F-83BF386E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05400"/>
            <a:ext cx="419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110" name="retry-loop-0194">
            <a:extLst xmlns:a="http://schemas.openxmlformats.org/drawingml/2006/main">
              <a:ext uri="{FF2B5EF4-FFF2-40B4-BE49-F238E27FC236}">
                <a16:creationId xmlns:a16="http://schemas.microsoft.com/office/drawing/2014/main" id="{1D88E1DC-FFEC-486B-984A-1E80BC8F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276850"/>
            <a:ext cx="415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等待变长 → 超时 → 重试副本入队 → 等待进一步变长</a:t>
            </a:r>
          </a:p>
        </p:txBody>
      </p:sp>
      <p:sp>
        <p:nvSpPr>
          <p:cNvPr id="111" name="rate-condition-0195">
            <a:extLst xmlns:a="http://schemas.openxmlformats.org/drawingml/2006/main">
              <a:ext uri="{FF2B5EF4-FFF2-40B4-BE49-F238E27FC236}">
                <a16:creationId xmlns:a16="http://schemas.microsoft.com/office/drawing/2014/main" id="{08F9E588-2755-4253-99D4-F3E3AB62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7150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新请求 QPS + 重试 QPS &gt; 当前完成 QPS</a:t>
            </a:r>
          </a:p>
        </p:txBody>
      </p:sp>
      <p:sp>
        <p:nvSpPr>
          <p:cNvPr id="112" name="rate-result-0196">
            <a:extLst xmlns:a="http://schemas.openxmlformats.org/drawingml/2006/main">
              <a:ext uri="{FF2B5EF4-FFF2-40B4-BE49-F238E27FC236}">
                <a16:creationId xmlns:a16="http://schemas.microsoft.com/office/drawing/2014/main" id="{47A28519-257C-49D4-B80C-A6F5A6D5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962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队列持续增长 → P99 继续上升</a:t>
            </a:r>
          </a:p>
        </p:txBody>
      </p:sp>
    </p:spTree>
    <p:extLst>
      <p:ext uri="{BB962C8B-B14F-4D97-AF65-F5344CB8AC3E}">
        <p14:creationId xmlns:p14="http://schemas.microsoft.com/office/powerpoint/2010/main" val="1924474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3521A1D-CA7B-413D-B3F3-B972318A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6"/>
          </a:solidFill>
          <a:ln xmlns:a="http://schemas.openxmlformats.org/drawingml/2006/main" w="12700">
            <a:solidFill>
              <a:srgbClr val="070B1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95592E-DDB3-43B9-BE01-7F84498C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6665BD2-C404-49EC-B33C-13285603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"/>
            <a:ext cx="1219169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5" name="section-0197">
            <a:extLst xmlns:a="http://schemas.openxmlformats.org/drawingml/2006/main">
              <a:ext uri="{FF2B5EF4-FFF2-40B4-BE49-F238E27FC236}">
                <a16:creationId xmlns:a16="http://schemas.microsoft.com/office/drawing/2014/main" id="{00A0EB4F-F68E-4650-9C73-B0B35B7B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PART 2 · 测量链路</a:t>
            </a:r>
          </a:p>
        </p:txBody>
      </p:sp>
      <p:sp>
        <p:nvSpPr>
          <p:cNvPr id="6" name="page-top-0198">
            <a:extLst xmlns:a="http://schemas.openxmlformats.org/drawingml/2006/main">
              <a:ext uri="{FF2B5EF4-FFF2-40B4-BE49-F238E27FC236}">
                <a16:creationId xmlns:a16="http://schemas.microsoft.com/office/drawing/2014/main" id="{E93708A1-03DA-40F1-8B8D-2B8A46AA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  <p:sp>
        <p:nvSpPr>
          <p:cNvPr id="7" name="title-0199">
            <a:extLst xmlns:a="http://schemas.openxmlformats.org/drawingml/2006/main">
              <a:ext uri="{FF2B5EF4-FFF2-40B4-BE49-F238E27FC236}">
                <a16:creationId xmlns:a16="http://schemas.microsoft.com/office/drawing/2014/main" id="{92C77050-D6E5-46E4-B40F-62B112EA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一条命令的耗时，分别记录在哪些指标里</a:t>
            </a:r>
          </a:p>
        </p:txBody>
      </p:sp>
      <p:sp>
        <p:nvSpPr>
          <p:cNvPr id="8" name="line-0200">
            <a:extLst xmlns:a="http://schemas.openxmlformats.org/drawingml/2006/main">
              <a:ext uri="{FF2B5EF4-FFF2-40B4-BE49-F238E27FC236}">
                <a16:creationId xmlns:a16="http://schemas.microsoft.com/office/drawing/2014/main" id="{F1E55501-FBEB-4E62-B987-2D327AC2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9" name="request-dir-0201">
            <a:extLst xmlns:a="http://schemas.openxmlformats.org/drawingml/2006/main">
              <a:ext uri="{FF2B5EF4-FFF2-40B4-BE49-F238E27FC236}">
                <a16:creationId xmlns:a16="http://schemas.microsoft.com/office/drawing/2014/main" id="{30357E59-551D-4DF9-A9E6-557BDCA1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76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请求方向 →</a:t>
            </a:r>
          </a:p>
        </p:txBody>
      </p:sp>
      <p:sp>
        <p:nvSpPr>
          <p:cNvPr id="10" name="lane-0202">
            <a:extLst xmlns:a="http://schemas.openxmlformats.org/drawingml/2006/main">
              <a:ext uri="{FF2B5EF4-FFF2-40B4-BE49-F238E27FC236}">
                <a16:creationId xmlns:a16="http://schemas.microsoft.com/office/drawing/2014/main" id="{462D891C-C497-491B-A114-D3AAFB4F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Client</a:t>
            </a:r>
          </a:p>
        </p:txBody>
      </p:sp>
      <p:sp>
        <p:nvSpPr>
          <p:cNvPr id="11" name="lane-0203">
            <a:extLst xmlns:a="http://schemas.openxmlformats.org/drawingml/2006/main">
              <a:ext uri="{FF2B5EF4-FFF2-40B4-BE49-F238E27FC236}">
                <a16:creationId xmlns:a16="http://schemas.microsoft.com/office/drawing/2014/main" id="{CC523F94-C665-4170-BF67-7019ECA6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24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Proxy</a:t>
            </a:r>
          </a:p>
        </p:txBody>
      </p:sp>
      <p:sp>
        <p:nvSpPr>
          <p:cNvPr id="12" name="lane-0204">
            <a:extLst xmlns:a="http://schemas.openxmlformats.org/drawingml/2006/main">
              <a:ext uri="{FF2B5EF4-FFF2-40B4-BE49-F238E27FC236}">
                <a16:creationId xmlns:a16="http://schemas.microsoft.com/office/drawing/2014/main" id="{74498B5C-C7C3-4763-A187-4EFBD036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24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Shard / Worker</a:t>
            </a:r>
          </a:p>
        </p:txBody>
      </p:sp>
      <p:sp>
        <p:nvSpPr>
          <p:cNvPr id="13" name="line-0205">
            <a:extLst xmlns:a="http://schemas.openxmlformats.org/drawingml/2006/main">
              <a:ext uri="{FF2B5EF4-FFF2-40B4-BE49-F238E27FC236}">
                <a16:creationId xmlns:a16="http://schemas.microsoft.com/office/drawing/2014/main" id="{464154DF-2355-41B6-A392-203D7C0E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24000"/>
            <a:ext cx="0" cy="223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14" name="line-0206">
            <a:extLst xmlns:a="http://schemas.openxmlformats.org/drawingml/2006/main">
              <a:ext uri="{FF2B5EF4-FFF2-40B4-BE49-F238E27FC236}">
                <a16:creationId xmlns:a16="http://schemas.microsoft.com/office/drawing/2014/main" id="{6038B876-C197-43AC-BC5F-472A02AB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0" cy="223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15" name="line-0207">
            <a:extLst xmlns:a="http://schemas.openxmlformats.org/drawingml/2006/main">
              <a:ext uri="{FF2B5EF4-FFF2-40B4-BE49-F238E27FC236}">
                <a16:creationId xmlns:a16="http://schemas.microsoft.com/office/drawing/2014/main" id="{9BD2BF84-0CBB-49DA-8DA6-D453A64E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16" name="chevron-0208">
            <a:extLst xmlns:a="http://schemas.openxmlformats.org/drawingml/2006/main">
              <a:ext uri="{FF2B5EF4-FFF2-40B4-BE49-F238E27FC236}">
                <a16:creationId xmlns:a16="http://schemas.microsoft.com/office/drawing/2014/main" id="{762C49FD-9613-4FD8-ACE0-1C218239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1733550"/>
            <a:ext cx="1333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17" name="line-0209">
            <a:extLst xmlns:a="http://schemas.openxmlformats.org/drawingml/2006/main">
              <a:ext uri="{FF2B5EF4-FFF2-40B4-BE49-F238E27FC236}">
                <a16:creationId xmlns:a16="http://schemas.microsoft.com/office/drawing/2014/main" id="{E3B7D07A-AD14-4B84-B238-C7DF97A4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766"/>
            </a:solidFill>
            <a:prstDash val="solid"/>
          </a:ln>
        </p:spPr>
      </p:sp>
      <p:sp>
        <p:nvSpPr>
          <p:cNvPr id="18" name="chevron-0210">
            <a:extLst xmlns:a="http://schemas.openxmlformats.org/drawingml/2006/main">
              <a:ext uri="{FF2B5EF4-FFF2-40B4-BE49-F238E27FC236}">
                <a16:creationId xmlns:a16="http://schemas.microsoft.com/office/drawing/2014/main" id="{AAAE3024-0D84-4015-8E43-DEEB89EC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38575" y="1733550"/>
            <a:ext cx="1333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19" name="line-0211">
            <a:extLst xmlns:a="http://schemas.openxmlformats.org/drawingml/2006/main">
              <a:ext uri="{FF2B5EF4-FFF2-40B4-BE49-F238E27FC236}">
                <a16:creationId xmlns:a16="http://schemas.microsoft.com/office/drawing/2014/main" id="{5293BEB8-B2B3-49B0-B90C-204C4329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766"/>
            </a:solidFill>
            <a:prstDash val="solid"/>
          </a:ln>
        </p:spPr>
      </p:sp>
      <p:sp>
        <p:nvSpPr>
          <p:cNvPr id="20" name="chevron-0212">
            <a:extLst xmlns:a="http://schemas.openxmlformats.org/drawingml/2006/main">
              <a:ext uri="{FF2B5EF4-FFF2-40B4-BE49-F238E27FC236}">
                <a16:creationId xmlns:a16="http://schemas.microsoft.com/office/drawing/2014/main" id="{6361C42A-E80B-4330-84A4-EA77C446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24575" y="1733550"/>
            <a:ext cx="1333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21" name="line-0213">
            <a:extLst xmlns:a="http://schemas.openxmlformats.org/drawingml/2006/main">
              <a:ext uri="{FF2B5EF4-FFF2-40B4-BE49-F238E27FC236}">
                <a16:creationId xmlns:a16="http://schemas.microsoft.com/office/drawing/2014/main" id="{C7EC3E75-74B6-4F85-94B0-B559C947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766"/>
            </a:solidFill>
            <a:prstDash val="solid"/>
          </a:ln>
        </p:spPr>
      </p:sp>
      <p:sp>
        <p:nvSpPr>
          <p:cNvPr id="22" name="chevron-0214">
            <a:extLst xmlns:a="http://schemas.openxmlformats.org/drawingml/2006/main">
              <a:ext uri="{FF2B5EF4-FFF2-40B4-BE49-F238E27FC236}">
                <a16:creationId xmlns:a16="http://schemas.microsoft.com/office/drawing/2014/main" id="{4E26E443-C074-43D9-B695-667AAC19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91575" y="1733550"/>
            <a:ext cx="1333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23" name="line-0215">
            <a:extLst xmlns:a="http://schemas.openxmlformats.org/drawingml/2006/main">
              <a:ext uri="{FF2B5EF4-FFF2-40B4-BE49-F238E27FC236}">
                <a16:creationId xmlns:a16="http://schemas.microsoft.com/office/drawing/2014/main" id="{8CA16A8E-0041-4B53-9C4B-9C6FFFE7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0975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766"/>
            </a:solidFill>
            <a:prstDash val="solid"/>
          </a:ln>
        </p:spPr>
      </p:sp>
      <p:sp>
        <p:nvSpPr>
          <p:cNvPr id="24" name="chevron-0216">
            <a:extLst xmlns:a="http://schemas.openxmlformats.org/drawingml/2006/main">
              <a:ext uri="{FF2B5EF4-FFF2-40B4-BE49-F238E27FC236}">
                <a16:creationId xmlns:a16="http://schemas.microsoft.com/office/drawing/2014/main" id="{56FD0789-B4A9-40E0-AD7C-80FE3E1C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220325" y="2447925"/>
            <a:ext cx="1333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25" name="line-0217">
            <a:extLst xmlns:a="http://schemas.openxmlformats.org/drawingml/2006/main">
              <a:ext uri="{FF2B5EF4-FFF2-40B4-BE49-F238E27FC236}">
                <a16:creationId xmlns:a16="http://schemas.microsoft.com/office/drawing/2014/main" id="{87CB0077-6A51-4254-B8B7-D45F6399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-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766"/>
            </a:solidFill>
            <a:prstDash val="solid"/>
          </a:ln>
        </p:spPr>
      </p:sp>
      <p:sp>
        <p:nvSpPr>
          <p:cNvPr id="26" name="chevron-0218">
            <a:extLst xmlns:a="http://schemas.openxmlformats.org/drawingml/2006/main">
              <a:ext uri="{FF2B5EF4-FFF2-40B4-BE49-F238E27FC236}">
                <a16:creationId xmlns:a16="http://schemas.microsoft.com/office/drawing/2014/main" id="{FEE5324C-7837-4DE0-A8C6-470AD34C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029700" y="3162300"/>
            <a:ext cx="1333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27" name="line-0219">
            <a:extLst xmlns:a="http://schemas.openxmlformats.org/drawingml/2006/main">
              <a:ext uri="{FF2B5EF4-FFF2-40B4-BE49-F238E27FC236}">
                <a16:creationId xmlns:a16="http://schemas.microsoft.com/office/drawing/2014/main" id="{F259048F-F6FB-4943-8222-02236A84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-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766"/>
            </a:solidFill>
            <a:prstDash val="solid"/>
          </a:ln>
        </p:spPr>
      </p:sp>
      <p:sp>
        <p:nvSpPr>
          <p:cNvPr id="28" name="chevron-0220">
            <a:extLst xmlns:a="http://schemas.openxmlformats.org/drawingml/2006/main">
              <a:ext uri="{FF2B5EF4-FFF2-40B4-BE49-F238E27FC236}">
                <a16:creationId xmlns:a16="http://schemas.microsoft.com/office/drawing/2014/main" id="{74A88463-A1B1-4795-B4DC-4C0BCF0C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696075" y="3162300"/>
            <a:ext cx="1333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29" name="line-0221">
            <a:extLst xmlns:a="http://schemas.openxmlformats.org/drawingml/2006/main">
              <a:ext uri="{FF2B5EF4-FFF2-40B4-BE49-F238E27FC236}">
                <a16:creationId xmlns:a16="http://schemas.microsoft.com/office/drawing/2014/main" id="{13490FD3-BF0C-4453-99EE-9B42C22D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-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766"/>
            </a:solidFill>
            <a:prstDash val="solid"/>
          </a:ln>
        </p:spPr>
      </p:sp>
      <p:sp>
        <p:nvSpPr>
          <p:cNvPr id="30" name="chevron-0222">
            <a:extLst xmlns:a="http://schemas.openxmlformats.org/drawingml/2006/main">
              <a:ext uri="{FF2B5EF4-FFF2-40B4-BE49-F238E27FC236}">
                <a16:creationId xmlns:a16="http://schemas.microsoft.com/office/drawing/2014/main" id="{5CE8AE32-5731-44B2-AD0C-F2DAD2F7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457700" y="3162300"/>
            <a:ext cx="1333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31" name="line-0223">
            <a:extLst xmlns:a="http://schemas.openxmlformats.org/drawingml/2006/main">
              <a:ext uri="{FF2B5EF4-FFF2-40B4-BE49-F238E27FC236}">
                <a16:creationId xmlns:a16="http://schemas.microsoft.com/office/drawing/2014/main" id="{8B7B6069-3256-4FDB-B77B-11598CC3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-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32" name="chevron-0224">
            <a:extLst xmlns:a="http://schemas.openxmlformats.org/drawingml/2006/main">
              <a:ext uri="{FF2B5EF4-FFF2-40B4-BE49-F238E27FC236}">
                <a16:creationId xmlns:a16="http://schemas.microsoft.com/office/drawing/2014/main" id="{5AF278F9-D703-4781-B2E3-D747705B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409825" y="3162300"/>
            <a:ext cx="133350" cy="1524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33" name="dot-0225">
            <a:extLst xmlns:a="http://schemas.openxmlformats.org/drawingml/2006/main">
              <a:ext uri="{FF2B5EF4-FFF2-40B4-BE49-F238E27FC236}">
                <a16:creationId xmlns:a16="http://schemas.microsoft.com/office/drawing/2014/main" id="{51A761FE-3BAC-4E3C-BF42-5CB150F0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34" name="timing-label-0226">
            <a:extLst xmlns:a="http://schemas.openxmlformats.org/drawingml/2006/main">
              <a:ext uri="{FF2B5EF4-FFF2-40B4-BE49-F238E27FC236}">
                <a16:creationId xmlns:a16="http://schemas.microsoft.com/office/drawing/2014/main" id="{135289B9-0011-41D5-8F1B-32519B54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525" y="194310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Client 发送</a:t>
            </a:r>
          </a:p>
        </p:txBody>
      </p:sp>
      <p:sp>
        <p:nvSpPr>
          <p:cNvPr id="35" name="dot-0227">
            <a:extLst xmlns:a="http://schemas.openxmlformats.org/drawingml/2006/main">
              <a:ext uri="{FF2B5EF4-FFF2-40B4-BE49-F238E27FC236}">
                <a16:creationId xmlns:a16="http://schemas.microsoft.com/office/drawing/2014/main" id="{E1B2242D-9BD6-4079-B703-E6132D3C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52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6" name="timing-label-0228">
            <a:extLst xmlns:a="http://schemas.openxmlformats.org/drawingml/2006/main">
              <a:ext uri="{FF2B5EF4-FFF2-40B4-BE49-F238E27FC236}">
                <a16:creationId xmlns:a16="http://schemas.microsoft.com/office/drawing/2014/main" id="{D848C9C6-02A5-4609-989D-5676129D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3525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t0  Proxy 接收 / 解析</a:t>
            </a:r>
          </a:p>
        </p:txBody>
      </p:sp>
      <p:sp>
        <p:nvSpPr>
          <p:cNvPr id="37" name="dot-0229">
            <a:extLst xmlns:a="http://schemas.openxmlformats.org/drawingml/2006/main">
              <a:ext uri="{FF2B5EF4-FFF2-40B4-BE49-F238E27FC236}">
                <a16:creationId xmlns:a16="http://schemas.microsoft.com/office/drawing/2014/main" id="{2F7914C7-6593-4A48-8BF6-2512191C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52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8" name="timing-label-0230">
            <a:extLst xmlns:a="http://schemas.openxmlformats.org/drawingml/2006/main">
              <a:ext uri="{FF2B5EF4-FFF2-40B4-BE49-F238E27FC236}">
                <a16:creationId xmlns:a16="http://schemas.microsoft.com/office/drawing/2014/main" id="{D5FAE779-2948-4679-BD26-8F36B401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3525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t1  Proxy 转发</a:t>
            </a:r>
          </a:p>
        </p:txBody>
      </p:sp>
      <p:sp>
        <p:nvSpPr>
          <p:cNvPr id="39" name="dot-0231">
            <a:extLst xmlns:a="http://schemas.openxmlformats.org/drawingml/2006/main">
              <a:ext uri="{FF2B5EF4-FFF2-40B4-BE49-F238E27FC236}">
                <a16:creationId xmlns:a16="http://schemas.microsoft.com/office/drawing/2014/main" id="{EE9BE634-0056-4DAD-9A56-C4B9DE2D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752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0" name="timing-label-0232">
            <a:extLst xmlns:a="http://schemas.openxmlformats.org/drawingml/2006/main">
              <a:ext uri="{FF2B5EF4-FFF2-40B4-BE49-F238E27FC236}">
                <a16:creationId xmlns:a16="http://schemas.microsoft.com/office/drawing/2014/main" id="{120000A7-48F5-406B-8DD7-A0126041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3525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t2  Shard 接收 / 入队</a:t>
            </a:r>
          </a:p>
        </p:txBody>
      </p:sp>
      <p:sp>
        <p:nvSpPr>
          <p:cNvPr id="41" name="dot-0233">
            <a:extLst xmlns:a="http://schemas.openxmlformats.org/drawingml/2006/main">
              <a:ext uri="{FF2B5EF4-FFF2-40B4-BE49-F238E27FC236}">
                <a16:creationId xmlns:a16="http://schemas.microsoft.com/office/drawing/2014/main" id="{38A413A4-E1E7-4F7C-826F-E7E0FDCE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52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2" name="timing-label-0234">
            <a:extLst xmlns:a="http://schemas.openxmlformats.org/drawingml/2006/main">
              <a:ext uri="{FF2B5EF4-FFF2-40B4-BE49-F238E27FC236}">
                <a16:creationId xmlns:a16="http://schemas.microsoft.com/office/drawing/2014/main" id="{1B93F1C8-AEB9-4774-A312-1687119E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3525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t3  Worker 开始</a:t>
            </a:r>
          </a:p>
        </p:txBody>
      </p:sp>
      <p:sp>
        <p:nvSpPr>
          <p:cNvPr id="43" name="dot-0235">
            <a:extLst xmlns:a="http://schemas.openxmlformats.org/drawingml/2006/main">
              <a:ext uri="{FF2B5EF4-FFF2-40B4-BE49-F238E27FC236}">
                <a16:creationId xmlns:a16="http://schemas.microsoft.com/office/drawing/2014/main" id="{862036ED-68FB-414E-8FBB-CF48F130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4" name="timing-label-0236">
            <a:extLst xmlns:a="http://schemas.openxmlformats.org/drawingml/2006/main">
              <a:ext uri="{FF2B5EF4-FFF2-40B4-BE49-F238E27FC236}">
                <a16:creationId xmlns:a16="http://schemas.microsoft.com/office/drawing/2014/main" id="{3F08CF71-1F40-46F1-A9C0-9DEF7BC9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3718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t4  Worker 完成</a:t>
            </a:r>
          </a:p>
        </p:txBody>
      </p:sp>
      <p:sp>
        <p:nvSpPr>
          <p:cNvPr id="45" name="dot-0237">
            <a:extLst xmlns:a="http://schemas.openxmlformats.org/drawingml/2006/main">
              <a:ext uri="{FF2B5EF4-FFF2-40B4-BE49-F238E27FC236}">
                <a16:creationId xmlns:a16="http://schemas.microsoft.com/office/drawing/2014/main" id="{D3F05993-1E0B-485A-96BE-9EE09F76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6" name="timing-label-0238">
            <a:extLst xmlns:a="http://schemas.openxmlformats.org/drawingml/2006/main">
              <a:ext uri="{FF2B5EF4-FFF2-40B4-BE49-F238E27FC236}">
                <a16:creationId xmlns:a16="http://schemas.microsoft.com/office/drawing/2014/main" id="{DED5BB0D-F8E9-4B67-95AF-91D7E5F7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3718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t5  Shard 回包完成</a:t>
            </a:r>
          </a:p>
        </p:txBody>
      </p:sp>
      <p:sp>
        <p:nvSpPr>
          <p:cNvPr id="47" name="dot-0239">
            <a:extLst xmlns:a="http://schemas.openxmlformats.org/drawingml/2006/main">
              <a:ext uri="{FF2B5EF4-FFF2-40B4-BE49-F238E27FC236}">
                <a16:creationId xmlns:a16="http://schemas.microsoft.com/office/drawing/2014/main" id="{8475A804-283D-4FB8-87AE-CE36AA83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48" name="timing-label-0240">
            <a:extLst xmlns:a="http://schemas.openxmlformats.org/drawingml/2006/main">
              <a:ext uri="{FF2B5EF4-FFF2-40B4-BE49-F238E27FC236}">
                <a16:creationId xmlns:a16="http://schemas.microsoft.com/office/drawing/2014/main" id="{1F07D2D6-221D-4C5E-A4A8-5CBD0171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3718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t6  Proxy 收到回包</a:t>
            </a:r>
          </a:p>
        </p:txBody>
      </p:sp>
      <p:sp>
        <p:nvSpPr>
          <p:cNvPr id="49" name="dot-0241">
            <a:extLst xmlns:a="http://schemas.openxmlformats.org/drawingml/2006/main">
              <a:ext uri="{FF2B5EF4-FFF2-40B4-BE49-F238E27FC236}">
                <a16:creationId xmlns:a16="http://schemas.microsoft.com/office/drawing/2014/main" id="{05EE56AC-2A25-4804-84FF-831C89D3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50" name="timing-label-0242">
            <a:extLst xmlns:a="http://schemas.openxmlformats.org/drawingml/2006/main">
              <a:ext uri="{FF2B5EF4-FFF2-40B4-BE49-F238E27FC236}">
                <a16:creationId xmlns:a16="http://schemas.microsoft.com/office/drawing/2014/main" id="{B853064E-D1C5-47C1-A4AD-2DA151AF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33718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t7  Proxy 开始发送</a:t>
            </a:r>
          </a:p>
        </p:txBody>
      </p:sp>
      <p:sp>
        <p:nvSpPr>
          <p:cNvPr id="51" name="dot-0243">
            <a:extLst xmlns:a="http://schemas.openxmlformats.org/drawingml/2006/main">
              <a:ext uri="{FF2B5EF4-FFF2-40B4-BE49-F238E27FC236}">
                <a16:creationId xmlns:a16="http://schemas.microsoft.com/office/drawing/2014/main" id="{B6C5DFA2-C20C-4F3E-8254-8A005F54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52" name="timing-label-0244">
            <a:extLst xmlns:a="http://schemas.openxmlformats.org/drawingml/2006/main">
              <a:ext uri="{FF2B5EF4-FFF2-40B4-BE49-F238E27FC236}">
                <a16:creationId xmlns:a16="http://schemas.microsoft.com/office/drawing/2014/main" id="{AE54E890-C995-4BA6-87E3-27BB57DEA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38450"/>
            <a:ext cx="158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t8  Proxy 回包完成</a:t>
            </a:r>
          </a:p>
        </p:txBody>
      </p:sp>
      <p:sp>
        <p:nvSpPr>
          <p:cNvPr id="53" name="line-0245">
            <a:extLst xmlns:a="http://schemas.openxmlformats.org/drawingml/2006/main">
              <a:ext uri="{FF2B5EF4-FFF2-40B4-BE49-F238E27FC236}">
                <a16:creationId xmlns:a16="http://schemas.microsoft.com/office/drawing/2014/main" id="{B759C120-8DC9-4F71-A841-703AC663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-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0A5FA"/>
            </a:solidFill>
            <a:prstDash val="dash"/>
          </a:ln>
        </p:spPr>
      </p:sp>
      <p:sp>
        <p:nvSpPr>
          <p:cNvPr id="54" name="client-read-0246">
            <a:extLst xmlns:a="http://schemas.openxmlformats.org/drawingml/2006/main">
              <a:ext uri="{FF2B5EF4-FFF2-40B4-BE49-F238E27FC236}">
                <a16:creationId xmlns:a16="http://schemas.microsoft.com/office/drawing/2014/main" id="{A1BA799A-53E6-4659-A074-748FD82F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00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Client 应用读取</a:t>
            </a:r>
          </a:p>
        </p:txBody>
      </p:sp>
      <p:sp>
        <p:nvSpPr>
          <p:cNvPr id="55" name="response-dir-0247">
            <a:extLst xmlns:a="http://schemas.openxmlformats.org/drawingml/2006/main">
              <a:ext uri="{FF2B5EF4-FFF2-40B4-BE49-F238E27FC236}">
                <a16:creationId xmlns:a16="http://schemas.microsoft.com/office/drawing/2014/main" id="{D72EC47A-CFA1-4FC4-B6B9-B235D82B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38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7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响应方向 ←</a:t>
            </a:r>
          </a:p>
        </p:txBody>
      </p:sp>
      <p:sp>
        <p:nvSpPr>
          <p:cNvPr id="56" name="line-0248">
            <a:extLst xmlns:a="http://schemas.openxmlformats.org/drawingml/2006/main">
              <a:ext uri="{FF2B5EF4-FFF2-40B4-BE49-F238E27FC236}">
                <a16:creationId xmlns:a16="http://schemas.microsoft.com/office/drawing/2014/main" id="{7B0B0D73-2342-400D-AA86-AEE701A4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243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57" name="scale-tick-0249">
            <a:extLst xmlns:a="http://schemas.openxmlformats.org/drawingml/2006/main">
              <a:ext uri="{FF2B5EF4-FFF2-40B4-BE49-F238E27FC236}">
                <a16:creationId xmlns:a16="http://schemas.microsoft.com/office/drawing/2014/main" id="{B2B572EE-6E55-4F3B-A5FE-42534AD3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147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rPr>
              <a:t>t0</a:t>
            </a:r>
          </a:p>
        </p:txBody>
      </p:sp>
      <p:sp>
        <p:nvSpPr>
          <p:cNvPr id="58" name="line-0250">
            <a:extLst xmlns:a="http://schemas.openxmlformats.org/drawingml/2006/main">
              <a:ext uri="{FF2B5EF4-FFF2-40B4-BE49-F238E27FC236}">
                <a16:creationId xmlns:a16="http://schemas.microsoft.com/office/drawing/2014/main" id="{09AF62D5-441B-4BD9-A5AD-8E461CCF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231" y="39243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59" name="scale-tick-0251">
            <a:extLst xmlns:a="http://schemas.openxmlformats.org/drawingml/2006/main">
              <a:ext uri="{FF2B5EF4-FFF2-40B4-BE49-F238E27FC236}">
                <a16:creationId xmlns:a16="http://schemas.microsoft.com/office/drawing/2014/main" id="{9D2FAF07-4964-4FAB-84AF-A3D515B5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831" y="37147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60" name="line-0252">
            <a:extLst xmlns:a="http://schemas.openxmlformats.org/drawingml/2006/main">
              <a:ext uri="{FF2B5EF4-FFF2-40B4-BE49-F238E27FC236}">
                <a16:creationId xmlns:a16="http://schemas.microsoft.com/office/drawing/2014/main" id="{3D74F776-DCB8-4239-8CEE-BE413D85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39243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61" name="scale-tick-0253">
            <a:extLst xmlns:a="http://schemas.openxmlformats.org/drawingml/2006/main">
              <a:ext uri="{FF2B5EF4-FFF2-40B4-BE49-F238E27FC236}">
                <a16:creationId xmlns:a16="http://schemas.microsoft.com/office/drawing/2014/main" id="{17B87F2C-83ED-4EC0-B340-4F2F226E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3363" y="37147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62" name="line-0254">
            <a:extLst xmlns:a="http://schemas.openxmlformats.org/drawingml/2006/main">
              <a:ext uri="{FF2B5EF4-FFF2-40B4-BE49-F238E27FC236}">
                <a16:creationId xmlns:a16="http://schemas.microsoft.com/office/drawing/2014/main" id="{E5321308-5F28-4A9D-B667-AE1955E6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294" y="39243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63" name="scale-tick-0255">
            <a:extLst xmlns:a="http://schemas.openxmlformats.org/drawingml/2006/main">
              <a:ext uri="{FF2B5EF4-FFF2-40B4-BE49-F238E27FC236}">
                <a16:creationId xmlns:a16="http://schemas.microsoft.com/office/drawing/2014/main" id="{81A01AED-1C54-43F2-A031-3E01ACF5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894" y="37147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64" name="line-0256">
            <a:extLst xmlns:a="http://schemas.openxmlformats.org/drawingml/2006/main">
              <a:ext uri="{FF2B5EF4-FFF2-40B4-BE49-F238E27FC236}">
                <a16:creationId xmlns:a16="http://schemas.microsoft.com/office/drawing/2014/main" id="{71AA1066-560C-4582-88EA-6BD0FCD1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9243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65" name="scale-tick-0257">
            <a:extLst xmlns:a="http://schemas.openxmlformats.org/drawingml/2006/main">
              <a:ext uri="{FF2B5EF4-FFF2-40B4-BE49-F238E27FC236}">
                <a16:creationId xmlns:a16="http://schemas.microsoft.com/office/drawing/2014/main" id="{7BB32ECB-66F3-4535-9983-54F256B3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7147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rPr>
              <a:t>t4</a:t>
            </a:r>
          </a:p>
        </p:txBody>
      </p:sp>
      <p:sp>
        <p:nvSpPr>
          <p:cNvPr id="66" name="line-0258">
            <a:extLst xmlns:a="http://schemas.openxmlformats.org/drawingml/2006/main">
              <a:ext uri="{FF2B5EF4-FFF2-40B4-BE49-F238E27FC236}">
                <a16:creationId xmlns:a16="http://schemas.microsoft.com/office/drawing/2014/main" id="{F7F884FB-F0DA-4414-BDAA-C39B8DCB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3356" y="39243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67" name="scale-tick-0259">
            <a:extLst xmlns:a="http://schemas.openxmlformats.org/drawingml/2006/main">
              <a:ext uri="{FF2B5EF4-FFF2-40B4-BE49-F238E27FC236}">
                <a16:creationId xmlns:a16="http://schemas.microsoft.com/office/drawing/2014/main" id="{5D60E6E3-F17A-46B8-8E2F-288FA18B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0956" y="37147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rPr>
              <a:t>t5</a:t>
            </a:r>
          </a:p>
        </p:txBody>
      </p:sp>
      <p:sp>
        <p:nvSpPr>
          <p:cNvPr id="68" name="line-0260">
            <a:extLst xmlns:a="http://schemas.openxmlformats.org/drawingml/2006/main">
              <a:ext uri="{FF2B5EF4-FFF2-40B4-BE49-F238E27FC236}">
                <a16:creationId xmlns:a16="http://schemas.microsoft.com/office/drawing/2014/main" id="{D82A391C-FCF8-4FED-A45E-5E41F8EF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39243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69" name="scale-tick-0261">
            <a:extLst xmlns:a="http://schemas.openxmlformats.org/drawingml/2006/main">
              <a:ext uri="{FF2B5EF4-FFF2-40B4-BE49-F238E27FC236}">
                <a16:creationId xmlns:a16="http://schemas.microsoft.com/office/drawing/2014/main" id="{A0A1D5B9-5B95-404A-9A76-0565FA9B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37147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rPr>
              <a:t>t6</a:t>
            </a:r>
          </a:p>
        </p:txBody>
      </p:sp>
      <p:sp>
        <p:nvSpPr>
          <p:cNvPr id="70" name="line-0262">
            <a:extLst xmlns:a="http://schemas.openxmlformats.org/drawingml/2006/main">
              <a:ext uri="{FF2B5EF4-FFF2-40B4-BE49-F238E27FC236}">
                <a16:creationId xmlns:a16="http://schemas.microsoft.com/office/drawing/2014/main" id="{002584D2-3E01-44A5-B388-EF5A0FDA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19" y="39243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71" name="scale-tick-0263">
            <a:extLst xmlns:a="http://schemas.openxmlformats.org/drawingml/2006/main">
              <a:ext uri="{FF2B5EF4-FFF2-40B4-BE49-F238E27FC236}">
                <a16:creationId xmlns:a16="http://schemas.microsoft.com/office/drawing/2014/main" id="{3ACC08BD-F465-4072-ADB7-A28C78CF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6019" y="37147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rPr>
              <a:t>t7</a:t>
            </a:r>
          </a:p>
        </p:txBody>
      </p:sp>
      <p:sp>
        <p:nvSpPr>
          <p:cNvPr id="72" name="line-0264">
            <a:extLst xmlns:a="http://schemas.openxmlformats.org/drawingml/2006/main">
              <a:ext uri="{FF2B5EF4-FFF2-40B4-BE49-F238E27FC236}">
                <a16:creationId xmlns:a16="http://schemas.microsoft.com/office/drawing/2014/main" id="{8610BC93-1F7D-4DA8-8FDF-17A1EF99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924300"/>
            <a:ext cx="0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73" name="scale-tick-0265">
            <a:extLst xmlns:a="http://schemas.openxmlformats.org/drawingml/2006/main">
              <a:ext uri="{FF2B5EF4-FFF2-40B4-BE49-F238E27FC236}">
                <a16:creationId xmlns:a16="http://schemas.microsoft.com/office/drawing/2014/main" id="{D0A950E7-A4DD-41FC-8CE5-EE68C05E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371475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rPr>
              <a:t>t8</a:t>
            </a:r>
          </a:p>
        </p:txBody>
      </p:sp>
      <p:sp>
        <p:nvSpPr>
          <p:cNvPr id="74" name="band-label-0266">
            <a:extLst xmlns:a="http://schemas.openxmlformats.org/drawingml/2006/main">
              <a:ext uri="{FF2B5EF4-FFF2-40B4-BE49-F238E27FC236}">
                <a16:creationId xmlns:a16="http://schemas.microsoft.com/office/drawing/2014/main" id="{DD7B2DB5-36DC-47D6-B4AB-5D9931FA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7667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业务端到端</a:t>
            </a:r>
          </a:p>
        </p:txBody>
      </p:sp>
      <p:sp>
        <p:nvSpPr>
          <p:cNvPr id="75" name="line-0267">
            <a:extLst xmlns:a="http://schemas.openxmlformats.org/drawingml/2006/main">
              <a:ext uri="{FF2B5EF4-FFF2-40B4-BE49-F238E27FC236}">
                <a16:creationId xmlns:a16="http://schemas.microsoft.com/office/drawing/2014/main" id="{D1D28C6B-5C0C-4628-8DCD-C72EEAF9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244" y="3971925"/>
            <a:ext cx="10053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60A5FA"/>
            </a:solidFill>
            <a:prstDash val="dash"/>
          </a:ln>
        </p:spPr>
      </p:sp>
      <p:sp>
        <p:nvSpPr>
          <p:cNvPr id="76" name="line-0268">
            <a:extLst xmlns:a="http://schemas.openxmlformats.org/drawingml/2006/main">
              <a:ext uri="{FF2B5EF4-FFF2-40B4-BE49-F238E27FC236}">
                <a16:creationId xmlns:a16="http://schemas.microsoft.com/office/drawing/2014/main" id="{91F6B824-8FB0-4248-93B2-EFF5FA94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244" y="391477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0A5FA"/>
            </a:solidFill>
            <a:prstDash val="solid"/>
          </a:ln>
        </p:spPr>
      </p:sp>
      <p:sp>
        <p:nvSpPr>
          <p:cNvPr id="77" name="line-0269">
            <a:extLst xmlns:a="http://schemas.openxmlformats.org/drawingml/2006/main">
              <a:ext uri="{FF2B5EF4-FFF2-40B4-BE49-F238E27FC236}">
                <a16:creationId xmlns:a16="http://schemas.microsoft.com/office/drawing/2014/main" id="{BD2C54D9-F692-4B74-864C-5C997457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7406" y="391477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0A5FA"/>
            </a:solidFill>
            <a:prstDash val="solid"/>
          </a:ln>
        </p:spPr>
      </p:sp>
      <p:sp>
        <p:nvSpPr>
          <p:cNvPr id="78" name="band-label-0270">
            <a:extLst xmlns:a="http://schemas.openxmlformats.org/drawingml/2006/main">
              <a:ext uri="{FF2B5EF4-FFF2-40B4-BE49-F238E27FC236}">
                <a16:creationId xmlns:a16="http://schemas.microsoft.com/office/drawing/2014/main" id="{ABD892C8-0D6F-472E-8609-7B5843AB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148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Proxy 总耗时</a:t>
            </a:r>
          </a:p>
        </p:txBody>
      </p:sp>
      <p:sp>
        <p:nvSpPr>
          <p:cNvPr id="79" name="line-0271">
            <a:extLst xmlns:a="http://schemas.openxmlformats.org/drawingml/2006/main">
              <a:ext uri="{FF2B5EF4-FFF2-40B4-BE49-F238E27FC236}">
                <a16:creationId xmlns:a16="http://schemas.microsoft.com/office/drawing/2014/main" id="{1219213F-16DE-4878-A428-FF921925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100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A78BFA"/>
            </a:solidFill>
            <a:prstDash val="solid"/>
          </a:ln>
        </p:spPr>
      </p:sp>
      <p:sp>
        <p:nvSpPr>
          <p:cNvPr id="80" name="line-0272">
            <a:extLst xmlns:a="http://schemas.openxmlformats.org/drawingml/2006/main">
              <a:ext uri="{FF2B5EF4-FFF2-40B4-BE49-F238E27FC236}">
                <a16:creationId xmlns:a16="http://schemas.microsoft.com/office/drawing/2014/main" id="{F267E3D5-F30D-48C1-8346-A635301D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5290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8BFA"/>
            </a:solidFill>
            <a:prstDash val="solid"/>
          </a:ln>
        </p:spPr>
      </p:sp>
      <p:sp>
        <p:nvSpPr>
          <p:cNvPr id="81" name="line-0273">
            <a:extLst xmlns:a="http://schemas.openxmlformats.org/drawingml/2006/main">
              <a:ext uri="{FF2B5EF4-FFF2-40B4-BE49-F238E27FC236}">
                <a16:creationId xmlns:a16="http://schemas.microsoft.com/office/drawing/2014/main" id="{B5F74BC4-E7FA-4A95-A8DC-CC60F55A3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15290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8BFA"/>
            </a:solidFill>
            <a:prstDash val="solid"/>
          </a:ln>
        </p:spPr>
      </p:sp>
      <p:sp>
        <p:nvSpPr>
          <p:cNvPr id="82" name="band-label-0274">
            <a:extLst xmlns:a="http://schemas.openxmlformats.org/drawingml/2006/main">
              <a:ext uri="{FF2B5EF4-FFF2-40B4-BE49-F238E27FC236}">
                <a16:creationId xmlns:a16="http://schemas.microsoft.com/office/drawing/2014/main" id="{290AD348-A6BE-4590-BDD6-FF044BE0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529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阶段一</a:t>
            </a:r>
          </a:p>
        </p:txBody>
      </p:sp>
      <p:sp>
        <p:nvSpPr>
          <p:cNvPr id="83" name="line-0275">
            <a:extLst xmlns:a="http://schemas.openxmlformats.org/drawingml/2006/main">
              <a:ext uri="{FF2B5EF4-FFF2-40B4-BE49-F238E27FC236}">
                <a16:creationId xmlns:a16="http://schemas.microsoft.com/office/drawing/2014/main" id="{AB1BB3ED-C8B5-45F3-A14B-C3306416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48175"/>
            <a:ext cx="1202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C3AED"/>
            </a:solidFill>
            <a:prstDash val="solid"/>
          </a:ln>
        </p:spPr>
      </p:sp>
      <p:sp>
        <p:nvSpPr>
          <p:cNvPr id="84" name="line-0276">
            <a:extLst xmlns:a="http://schemas.openxmlformats.org/drawingml/2006/main">
              <a:ext uri="{FF2B5EF4-FFF2-40B4-BE49-F238E27FC236}">
                <a16:creationId xmlns:a16="http://schemas.microsoft.com/office/drawing/2014/main" id="{1742C850-E558-40CA-9F77-408E0134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9102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85" name="line-0277">
            <a:extLst xmlns:a="http://schemas.openxmlformats.org/drawingml/2006/main">
              <a:ext uri="{FF2B5EF4-FFF2-40B4-BE49-F238E27FC236}">
                <a16:creationId xmlns:a16="http://schemas.microsoft.com/office/drawing/2014/main" id="{0F9F5B0E-B18B-471F-81C5-0B0D3A97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231" y="439102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86" name="band-label-0278">
            <a:extLst xmlns:a="http://schemas.openxmlformats.org/drawingml/2006/main">
              <a:ext uri="{FF2B5EF4-FFF2-40B4-BE49-F238E27FC236}">
                <a16:creationId xmlns:a16="http://schemas.microsoft.com/office/drawing/2014/main" id="{553AEF8F-A5D2-4C2F-BCF2-69551631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910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87" name="line-0279">
            <a:extLst xmlns:a="http://schemas.openxmlformats.org/drawingml/2006/main">
              <a:ext uri="{FF2B5EF4-FFF2-40B4-BE49-F238E27FC236}">
                <a16:creationId xmlns:a16="http://schemas.microsoft.com/office/drawing/2014/main" id="{3C3FE2E1-818A-4CBF-8A6D-818F5DC6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231" y="4686300"/>
            <a:ext cx="60126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D3EE"/>
            </a:solidFill>
            <a:prstDash val="solid"/>
          </a:ln>
        </p:spPr>
      </p:sp>
      <p:sp>
        <p:nvSpPr>
          <p:cNvPr id="88" name="line-0280">
            <a:extLst xmlns:a="http://schemas.openxmlformats.org/drawingml/2006/main">
              <a:ext uri="{FF2B5EF4-FFF2-40B4-BE49-F238E27FC236}">
                <a16:creationId xmlns:a16="http://schemas.microsoft.com/office/drawing/2014/main" id="{95D9782C-2574-462D-B222-859D7538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231" y="4629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89" name="line-0281">
            <a:extLst xmlns:a="http://schemas.openxmlformats.org/drawingml/2006/main">
              <a:ext uri="{FF2B5EF4-FFF2-40B4-BE49-F238E27FC236}">
                <a16:creationId xmlns:a16="http://schemas.microsoft.com/office/drawing/2014/main" id="{BD7AEF47-8FCB-4DCB-9A09-664AF112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4629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2D3EE"/>
            </a:solidFill>
            <a:prstDash val="solid"/>
          </a:ln>
        </p:spPr>
      </p:sp>
      <p:sp>
        <p:nvSpPr>
          <p:cNvPr id="90" name="band-label-0282">
            <a:extLst xmlns:a="http://schemas.openxmlformats.org/drawingml/2006/main">
              <a:ext uri="{FF2B5EF4-FFF2-40B4-BE49-F238E27FC236}">
                <a16:creationId xmlns:a16="http://schemas.microsoft.com/office/drawing/2014/main" id="{1CE978AC-0A37-48F3-9763-9847BD80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2917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Shard TOTAL</a:t>
            </a:r>
          </a:p>
        </p:txBody>
      </p:sp>
      <p:sp>
        <p:nvSpPr>
          <p:cNvPr id="91" name="line-0283">
            <a:extLst xmlns:a="http://schemas.openxmlformats.org/drawingml/2006/main">
              <a:ext uri="{FF2B5EF4-FFF2-40B4-BE49-F238E27FC236}">
                <a16:creationId xmlns:a16="http://schemas.microsoft.com/office/drawing/2014/main" id="{65C785B0-192B-47F3-AEE5-62B1C60B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4924425"/>
            <a:ext cx="360759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59E0B"/>
            </a:solidFill>
            <a:prstDash val="solid"/>
          </a:ln>
        </p:spPr>
      </p:sp>
      <p:sp>
        <p:nvSpPr>
          <p:cNvPr id="92" name="line-0284">
            <a:extLst xmlns:a="http://schemas.openxmlformats.org/drawingml/2006/main">
              <a:ext uri="{FF2B5EF4-FFF2-40B4-BE49-F238E27FC236}">
                <a16:creationId xmlns:a16="http://schemas.microsoft.com/office/drawing/2014/main" id="{F6FBE3C4-C91E-4FD5-B755-FE7523A2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486727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93" name="line-0285">
            <a:extLst xmlns:a="http://schemas.openxmlformats.org/drawingml/2006/main">
              <a:ext uri="{FF2B5EF4-FFF2-40B4-BE49-F238E27FC236}">
                <a16:creationId xmlns:a16="http://schemas.microsoft.com/office/drawing/2014/main" id="{4FC04847-E0C8-4401-9B2C-D6080942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3356" y="486727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94" name="band-label-0286">
            <a:extLst xmlns:a="http://schemas.openxmlformats.org/drawingml/2006/main">
              <a:ext uri="{FF2B5EF4-FFF2-40B4-BE49-F238E27FC236}">
                <a16:creationId xmlns:a16="http://schemas.microsoft.com/office/drawing/2014/main" id="{BB7BF99B-0696-4B36-A8DC-141BFAFC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0673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Shard EXEC</a:t>
            </a:r>
          </a:p>
        </p:txBody>
      </p:sp>
      <p:sp>
        <p:nvSpPr>
          <p:cNvPr id="95" name="line-0287">
            <a:extLst xmlns:a="http://schemas.openxmlformats.org/drawingml/2006/main">
              <a:ext uri="{FF2B5EF4-FFF2-40B4-BE49-F238E27FC236}">
                <a16:creationId xmlns:a16="http://schemas.microsoft.com/office/drawing/2014/main" id="{B71101B2-89C6-4619-97A0-7FC74C5D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294" y="5162550"/>
            <a:ext cx="1202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78BFA"/>
            </a:solidFill>
            <a:prstDash val="solid"/>
          </a:ln>
        </p:spPr>
      </p:sp>
      <p:sp>
        <p:nvSpPr>
          <p:cNvPr id="96" name="line-0288">
            <a:extLst xmlns:a="http://schemas.openxmlformats.org/drawingml/2006/main">
              <a:ext uri="{FF2B5EF4-FFF2-40B4-BE49-F238E27FC236}">
                <a16:creationId xmlns:a16="http://schemas.microsoft.com/office/drawing/2014/main" id="{F3FE61A6-EC28-48FD-9622-F1425F79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8294" y="510540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8BFA"/>
            </a:solidFill>
            <a:prstDash val="solid"/>
          </a:ln>
        </p:spPr>
      </p:sp>
      <p:sp>
        <p:nvSpPr>
          <p:cNvPr id="97" name="line-0289">
            <a:extLst xmlns:a="http://schemas.openxmlformats.org/drawingml/2006/main">
              <a:ext uri="{FF2B5EF4-FFF2-40B4-BE49-F238E27FC236}">
                <a16:creationId xmlns:a16="http://schemas.microsoft.com/office/drawing/2014/main" id="{0F0B5256-EE17-4FA6-A3A1-8BE3492A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10540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8BFA"/>
            </a:solidFill>
            <a:prstDash val="solid"/>
          </a:ln>
        </p:spPr>
      </p:sp>
      <p:sp>
        <p:nvSpPr>
          <p:cNvPr id="98" name="band-label-0290">
            <a:extLst xmlns:a="http://schemas.openxmlformats.org/drawingml/2006/main">
              <a:ext uri="{FF2B5EF4-FFF2-40B4-BE49-F238E27FC236}">
                <a16:creationId xmlns:a16="http://schemas.microsoft.com/office/drawing/2014/main" id="{5E692240-BAEB-4E51-B123-21D81824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054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99" name="line-0291">
            <a:extLst xmlns:a="http://schemas.openxmlformats.org/drawingml/2006/main">
              <a:ext uri="{FF2B5EF4-FFF2-40B4-BE49-F238E27FC236}">
                <a16:creationId xmlns:a16="http://schemas.microsoft.com/office/drawing/2014/main" id="{D2F3E00F-7A55-475F-A5C5-C6042992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5400675"/>
            <a:ext cx="1202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C3AED"/>
            </a:solidFill>
            <a:prstDash val="solid"/>
          </a:ln>
        </p:spPr>
      </p:sp>
      <p:sp>
        <p:nvSpPr>
          <p:cNvPr id="100" name="line-0292">
            <a:extLst xmlns:a="http://schemas.openxmlformats.org/drawingml/2006/main">
              <a:ext uri="{FF2B5EF4-FFF2-40B4-BE49-F238E27FC236}">
                <a16:creationId xmlns:a16="http://schemas.microsoft.com/office/drawing/2014/main" id="{09AFA2A4-BF29-4CC1-A903-CCC33E3D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534352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01" name="line-0293">
            <a:extLst xmlns:a="http://schemas.openxmlformats.org/drawingml/2006/main">
              <a:ext uri="{FF2B5EF4-FFF2-40B4-BE49-F238E27FC236}">
                <a16:creationId xmlns:a16="http://schemas.microsoft.com/office/drawing/2014/main" id="{F7A99D44-415A-4B95-9A12-DABBAF42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19" y="5343525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02" name="band-label-0294">
            <a:extLst xmlns:a="http://schemas.openxmlformats.org/drawingml/2006/main">
              <a:ext uri="{FF2B5EF4-FFF2-40B4-BE49-F238E27FC236}">
                <a16:creationId xmlns:a16="http://schemas.microsoft.com/office/drawing/2014/main" id="{BB9018DF-A9E2-493B-9195-83FCA3A5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435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阶段四</a:t>
            </a:r>
          </a:p>
        </p:txBody>
      </p:sp>
      <p:sp>
        <p:nvSpPr>
          <p:cNvPr id="103" name="line-0295">
            <a:extLst xmlns:a="http://schemas.openxmlformats.org/drawingml/2006/main">
              <a:ext uri="{FF2B5EF4-FFF2-40B4-BE49-F238E27FC236}">
                <a16:creationId xmlns:a16="http://schemas.microsoft.com/office/drawing/2014/main" id="{1283EE77-F448-44D2-9020-C352B6BD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19" y="5638800"/>
            <a:ext cx="1202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C3AED"/>
            </a:solidFill>
            <a:prstDash val="solid"/>
          </a:ln>
        </p:spPr>
      </p:sp>
      <p:sp>
        <p:nvSpPr>
          <p:cNvPr id="104" name="line-0296">
            <a:extLst xmlns:a="http://schemas.openxmlformats.org/drawingml/2006/main">
              <a:ext uri="{FF2B5EF4-FFF2-40B4-BE49-F238E27FC236}">
                <a16:creationId xmlns:a16="http://schemas.microsoft.com/office/drawing/2014/main" id="{5EB8A00C-3283-48FA-9357-286F215A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419" y="55816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05" name="line-0297">
            <a:extLst xmlns:a="http://schemas.openxmlformats.org/drawingml/2006/main">
              <a:ext uri="{FF2B5EF4-FFF2-40B4-BE49-F238E27FC236}">
                <a16:creationId xmlns:a16="http://schemas.microsoft.com/office/drawing/2014/main" id="{4006CA32-9D3E-43B8-813B-42A00B35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5816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106" name="accuracy-note-0298">
            <a:extLst xmlns:a="http://schemas.openxmlformats.org/drawingml/2006/main">
              <a:ext uri="{FF2B5EF4-FFF2-40B4-BE49-F238E27FC236}">
                <a16:creationId xmlns:a16="http://schemas.microsoft.com/office/drawing/2014/main" id="{F5FDC0C2-471E-4C66-9A59-4AF33428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436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同一条请求：Proxy 总耗时 = 阶段一 + 阶段二 + 阶段三 + 阶段四</a:t>
            </a:r>
          </a:p>
        </p:txBody>
      </p:sp>
      <p:sp>
        <p:nvSpPr>
          <p:cNvPr id="107" name="accuracy-note-0299">
            <a:extLst xmlns:a="http://schemas.openxmlformats.org/drawingml/2006/main">
              <a:ext uri="{FF2B5EF4-FFF2-40B4-BE49-F238E27FC236}">
                <a16:creationId xmlns:a16="http://schemas.microsoft.com/office/drawing/2014/main" id="{CB67073E-21D4-4B13-B546-16136E84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943600"/>
            <a:ext cx="497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聚合 P99 禁止直接加减；P99(TOTAL) − P99(EXEC) ≠ 排队 P99</a:t>
            </a:r>
          </a:p>
        </p:txBody>
      </p:sp>
    </p:spTree>
    <p:extLst>
      <p:ext uri="{BB962C8B-B14F-4D97-AF65-F5344CB8AC3E}">
        <p14:creationId xmlns:p14="http://schemas.microsoft.com/office/powerpoint/2010/main" val="3059634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61C0DA8-87B5-4ACE-AF08-4CA47A82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6"/>
          </a:solidFill>
          <a:ln xmlns:a="http://schemas.openxmlformats.org/drawingml/2006/main" w="12700">
            <a:solidFill>
              <a:srgbClr val="070B1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A8FEBE2-E8F1-4DCF-9FFA-677924C3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FBA44D-61A0-48AD-B0CD-6665B6E6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"/>
            <a:ext cx="1219169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5" name="section-0300">
            <a:extLst xmlns:a="http://schemas.openxmlformats.org/drawingml/2006/main">
              <a:ext uri="{FF2B5EF4-FFF2-40B4-BE49-F238E27FC236}">
                <a16:creationId xmlns:a16="http://schemas.microsoft.com/office/drawing/2014/main" id="{606C7600-2D31-4073-ACE1-F685E72D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PART 2 · 测量链路</a:t>
            </a:r>
          </a:p>
        </p:txBody>
      </p:sp>
      <p:sp>
        <p:nvSpPr>
          <p:cNvPr id="6" name="page-top-0301">
            <a:extLst xmlns:a="http://schemas.openxmlformats.org/drawingml/2006/main">
              <a:ext uri="{FF2B5EF4-FFF2-40B4-BE49-F238E27FC236}">
                <a16:creationId xmlns:a16="http://schemas.microsoft.com/office/drawing/2014/main" id="{CD1F523F-F646-45D3-8914-838CF5C9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  <p:sp>
        <p:nvSpPr>
          <p:cNvPr id="7" name="title-0302">
            <a:extLst xmlns:a="http://schemas.openxmlformats.org/drawingml/2006/main">
              <a:ext uri="{FF2B5EF4-FFF2-40B4-BE49-F238E27FC236}">
                <a16:creationId xmlns:a16="http://schemas.microsoft.com/office/drawing/2014/main" id="{7FBC2FC6-B93B-4121-9A76-BF6B8B8C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先看 Proxy：总耗时升高，是哪一阶段造成的</a:t>
            </a:r>
          </a:p>
        </p:txBody>
      </p:sp>
      <p:sp>
        <p:nvSpPr>
          <p:cNvPr id="8" name="line-0303">
            <a:extLst xmlns:a="http://schemas.openxmlformats.org/drawingml/2006/main">
              <a:ext uri="{FF2B5EF4-FFF2-40B4-BE49-F238E27FC236}">
                <a16:creationId xmlns:a16="http://schemas.microsoft.com/office/drawing/2014/main" id="{7403CB1F-28E1-4846-8365-0910DDE0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9" name="col-header-0304">
            <a:extLst xmlns:a="http://schemas.openxmlformats.org/drawingml/2006/main">
              <a:ext uri="{FF2B5EF4-FFF2-40B4-BE49-F238E27FC236}">
                <a16:creationId xmlns:a16="http://schemas.microsoft.com/office/drawing/2014/main" id="{91753F21-93E4-40A1-AB91-FB4BE345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20015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Average + P99</a:t>
            </a:r>
          </a:p>
        </p:txBody>
      </p:sp>
      <p:sp>
        <p:nvSpPr>
          <p:cNvPr id="10" name="col-header-0305">
            <a:extLst xmlns:a="http://schemas.openxmlformats.org/drawingml/2006/main">
              <a:ext uri="{FF2B5EF4-FFF2-40B4-BE49-F238E27FC236}">
                <a16:creationId xmlns:a16="http://schemas.microsoft.com/office/drawing/2014/main" id="{4627D871-0A10-418F-917B-B8C25E5D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20015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Max</a:t>
            </a:r>
          </a:p>
        </p:txBody>
      </p:sp>
      <p:sp>
        <p:nvSpPr>
          <p:cNvPr id="11" name="strip-0306">
            <a:extLst xmlns:a="http://schemas.openxmlformats.org/drawingml/2006/main">
              <a:ext uri="{FF2B5EF4-FFF2-40B4-BE49-F238E27FC236}">
                <a16:creationId xmlns:a16="http://schemas.microsoft.com/office/drawing/2014/main" id="{CDFA0C6E-3ADF-4286-B3C2-2023E97D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47625" cy="5905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4763">
            <a:solidFill>
              <a:srgbClr val="3B82F6"/>
            </a:solidFill>
            <a:prstDash val="solid"/>
          </a:ln>
        </p:spPr>
      </p:sp>
      <p:sp>
        <p:nvSpPr>
          <p:cNvPr id="12" name="row-header-0307">
            <a:extLst xmlns:a="http://schemas.openxmlformats.org/drawingml/2006/main">
              <a:ext uri="{FF2B5EF4-FFF2-40B4-BE49-F238E27FC236}">
                <a16:creationId xmlns:a16="http://schemas.microsoft.com/office/drawing/2014/main" id="{6E9E393E-FA21-4F67-A1B6-36F7D35E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Proxy 总耗时</a:t>
            </a:r>
          </a:p>
        </p:txBody>
      </p:sp>
      <p:sp>
        <p:nvSpPr>
          <p:cNvPr id="13" name="placeholder-PROXY-TOTAL-AVG-P99-0308">
            <a:extLst xmlns:a="http://schemas.openxmlformats.org/drawingml/2006/main">
              <a:ext uri="{FF2B5EF4-FFF2-40B4-BE49-F238E27FC236}">
                <a16:creationId xmlns:a16="http://schemas.microsoft.com/office/drawing/2014/main" id="{620937C1-BAC7-4D2B-9D95-C20F4EDD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24000"/>
            <a:ext cx="4781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3B82F6"/>
            </a:solidFill>
            <a:prstDash val="dash"/>
          </a:ln>
        </p:spPr>
      </p:sp>
      <p:sp>
        <p:nvSpPr>
          <p:cNvPr id="14" name="placeholder-label-PROXY-TOTAL-AVG-P99-0309">
            <a:extLst xmlns:a="http://schemas.openxmlformats.org/drawingml/2006/main">
              <a:ext uri="{FF2B5EF4-FFF2-40B4-BE49-F238E27FC236}">
                <a16:creationId xmlns:a16="http://schemas.microsoft.com/office/drawing/2014/main" id="{721C7074-4250-48C1-AC88-F5064ECF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562100"/>
            <a:ext cx="459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[PROXY-TOTAL-AVG-P99]</a:t>
            </a:r>
          </a:p>
        </p:txBody>
      </p:sp>
      <p:sp>
        <p:nvSpPr>
          <p:cNvPr id="15" name="placeholder-PROXY-TOTAL-MAX-0310">
            <a:extLst xmlns:a="http://schemas.openxmlformats.org/drawingml/2006/main">
              <a:ext uri="{FF2B5EF4-FFF2-40B4-BE49-F238E27FC236}">
                <a16:creationId xmlns:a16="http://schemas.microsoft.com/office/drawing/2014/main" id="{2A8BABEB-D223-49F9-B63E-06129B66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24000"/>
            <a:ext cx="4781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3B82F6"/>
            </a:solidFill>
            <a:prstDash val="dash"/>
          </a:ln>
        </p:spPr>
      </p:sp>
      <p:sp>
        <p:nvSpPr>
          <p:cNvPr id="16" name="placeholder-label-PROXY-TOTAL-MAX-0311">
            <a:extLst xmlns:a="http://schemas.openxmlformats.org/drawingml/2006/main">
              <a:ext uri="{FF2B5EF4-FFF2-40B4-BE49-F238E27FC236}">
                <a16:creationId xmlns:a16="http://schemas.microsoft.com/office/drawing/2014/main" id="{EDC8A9CA-B923-48C0-AE01-CAB685E9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62100"/>
            <a:ext cx="459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[PROXY-TOTAL-MAX]</a:t>
            </a:r>
          </a:p>
        </p:txBody>
      </p:sp>
      <p:sp>
        <p:nvSpPr>
          <p:cNvPr id="17" name="strip-0312">
            <a:extLst xmlns:a="http://schemas.openxmlformats.org/drawingml/2006/main">
              <a:ext uri="{FF2B5EF4-FFF2-40B4-BE49-F238E27FC236}">
                <a16:creationId xmlns:a16="http://schemas.microsoft.com/office/drawing/2014/main" id="{B2C88123-D5E6-4ED7-B16A-E8DFBC6E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57450"/>
            <a:ext cx="47625" cy="5905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4763">
            <a:solidFill>
              <a:srgbClr val="7C3AED"/>
            </a:solidFill>
            <a:prstDash val="solid"/>
          </a:ln>
        </p:spPr>
      </p:sp>
      <p:sp>
        <p:nvSpPr>
          <p:cNvPr id="18" name="row-header-0313">
            <a:extLst xmlns:a="http://schemas.openxmlformats.org/drawingml/2006/main">
              <a:ext uri="{FF2B5EF4-FFF2-40B4-BE49-F238E27FC236}">
                <a16:creationId xmlns:a16="http://schemas.microsoft.com/office/drawing/2014/main" id="{E169A943-9963-4D43-A7E2-D982FE93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阶段一 · 预处理</a:t>
            </a:r>
          </a:p>
        </p:txBody>
      </p:sp>
      <p:sp>
        <p:nvSpPr>
          <p:cNvPr id="19" name="placeholder-STAGE1-AVG-P99-0314">
            <a:extLst xmlns:a="http://schemas.openxmlformats.org/drawingml/2006/main">
              <a:ext uri="{FF2B5EF4-FFF2-40B4-BE49-F238E27FC236}">
                <a16:creationId xmlns:a16="http://schemas.microsoft.com/office/drawing/2014/main" id="{0C05143E-99D8-47BB-98D8-7EC60A55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381250"/>
            <a:ext cx="4781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7C3AED"/>
            </a:solidFill>
            <a:prstDash val="dash"/>
          </a:ln>
        </p:spPr>
      </p:sp>
      <p:sp>
        <p:nvSpPr>
          <p:cNvPr id="20" name="placeholder-label-STAGE1-AVG-P99-0315">
            <a:extLst xmlns:a="http://schemas.openxmlformats.org/drawingml/2006/main">
              <a:ext uri="{FF2B5EF4-FFF2-40B4-BE49-F238E27FC236}">
                <a16:creationId xmlns:a16="http://schemas.microsoft.com/office/drawing/2014/main" id="{F0725458-A545-454D-B054-2EFB78D3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419350"/>
            <a:ext cx="459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[STAGE1-AVG-P99]</a:t>
            </a:r>
          </a:p>
        </p:txBody>
      </p:sp>
      <p:sp>
        <p:nvSpPr>
          <p:cNvPr id="21" name="placeholder-STAGE1-MAX-0316">
            <a:extLst xmlns:a="http://schemas.openxmlformats.org/drawingml/2006/main">
              <a:ext uri="{FF2B5EF4-FFF2-40B4-BE49-F238E27FC236}">
                <a16:creationId xmlns:a16="http://schemas.microsoft.com/office/drawing/2014/main" id="{46C9DB1E-307B-455F-8222-1A64042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81250"/>
            <a:ext cx="4781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7C3AED"/>
            </a:solidFill>
            <a:prstDash val="dash"/>
          </a:ln>
        </p:spPr>
      </p:sp>
      <p:sp>
        <p:nvSpPr>
          <p:cNvPr id="22" name="placeholder-label-STAGE1-MAX-0317">
            <a:extLst xmlns:a="http://schemas.openxmlformats.org/drawingml/2006/main">
              <a:ext uri="{FF2B5EF4-FFF2-40B4-BE49-F238E27FC236}">
                <a16:creationId xmlns:a16="http://schemas.microsoft.com/office/drawing/2014/main" id="{F219CDFD-728B-4546-A086-B2A8BB88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19350"/>
            <a:ext cx="459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[STAGE1-MAX]</a:t>
            </a:r>
          </a:p>
        </p:txBody>
      </p:sp>
      <p:sp>
        <p:nvSpPr>
          <p:cNvPr id="23" name="strip-0318">
            <a:extLst xmlns:a="http://schemas.openxmlformats.org/drawingml/2006/main">
              <a:ext uri="{FF2B5EF4-FFF2-40B4-BE49-F238E27FC236}">
                <a16:creationId xmlns:a16="http://schemas.microsoft.com/office/drawing/2014/main" id="{603B6A55-4BD8-4965-91ED-B1F30B65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4700"/>
            <a:ext cx="47625" cy="5905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4763">
            <a:solidFill>
              <a:srgbClr val="22D3EE"/>
            </a:solidFill>
            <a:prstDash val="solid"/>
          </a:ln>
        </p:spPr>
      </p:sp>
      <p:sp>
        <p:nvSpPr>
          <p:cNvPr id="24" name="row-header-0319">
            <a:extLst xmlns:a="http://schemas.openxmlformats.org/drawingml/2006/main">
              <a:ext uri="{FF2B5EF4-FFF2-40B4-BE49-F238E27FC236}">
                <a16:creationId xmlns:a16="http://schemas.microsoft.com/office/drawing/2014/main" id="{005A8539-FF48-4B9E-93F1-18C0D9EB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阶段二 · Shard 往返</a:t>
            </a:r>
          </a:p>
        </p:txBody>
      </p:sp>
      <p:sp>
        <p:nvSpPr>
          <p:cNvPr id="25" name="placeholder-STAGE2-AVG-P99-0320">
            <a:extLst xmlns:a="http://schemas.openxmlformats.org/drawingml/2006/main">
              <a:ext uri="{FF2B5EF4-FFF2-40B4-BE49-F238E27FC236}">
                <a16:creationId xmlns:a16="http://schemas.microsoft.com/office/drawing/2014/main" id="{ECF7FE89-B09C-481A-85FF-293D8D35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38500"/>
            <a:ext cx="4781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22D3EE"/>
            </a:solidFill>
            <a:prstDash val="dash"/>
          </a:ln>
        </p:spPr>
      </p:sp>
      <p:sp>
        <p:nvSpPr>
          <p:cNvPr id="26" name="placeholder-label-STAGE2-AVG-P99-0321">
            <a:extLst xmlns:a="http://schemas.openxmlformats.org/drawingml/2006/main">
              <a:ext uri="{FF2B5EF4-FFF2-40B4-BE49-F238E27FC236}">
                <a16:creationId xmlns:a16="http://schemas.microsoft.com/office/drawing/2014/main" id="{A467330D-1EE5-4869-BD6D-9FD2FCAD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76600"/>
            <a:ext cx="459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[STAGE2-AVG-P99]</a:t>
            </a:r>
          </a:p>
        </p:txBody>
      </p:sp>
      <p:sp>
        <p:nvSpPr>
          <p:cNvPr id="27" name="placeholder-STAGE2-MAX-0322">
            <a:extLst xmlns:a="http://schemas.openxmlformats.org/drawingml/2006/main">
              <a:ext uri="{FF2B5EF4-FFF2-40B4-BE49-F238E27FC236}">
                <a16:creationId xmlns:a16="http://schemas.microsoft.com/office/drawing/2014/main" id="{A1384675-BBCC-4759-B2C7-155CB02A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38500"/>
            <a:ext cx="4781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22D3EE"/>
            </a:solidFill>
            <a:prstDash val="dash"/>
          </a:ln>
        </p:spPr>
      </p:sp>
      <p:sp>
        <p:nvSpPr>
          <p:cNvPr id="28" name="placeholder-label-STAGE2-MAX-0323">
            <a:extLst xmlns:a="http://schemas.openxmlformats.org/drawingml/2006/main">
              <a:ext uri="{FF2B5EF4-FFF2-40B4-BE49-F238E27FC236}">
                <a16:creationId xmlns:a16="http://schemas.microsoft.com/office/drawing/2014/main" id="{9CEE1468-D4F3-4372-A962-4F79630E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276600"/>
            <a:ext cx="459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[STAGE2-MAX]</a:t>
            </a:r>
          </a:p>
        </p:txBody>
      </p:sp>
      <p:sp>
        <p:nvSpPr>
          <p:cNvPr id="29" name="strip-0324">
            <a:extLst xmlns:a="http://schemas.openxmlformats.org/drawingml/2006/main">
              <a:ext uri="{FF2B5EF4-FFF2-40B4-BE49-F238E27FC236}">
                <a16:creationId xmlns:a16="http://schemas.microsoft.com/office/drawing/2014/main" id="{FF41F5BD-EB7A-4F7C-B07D-9D6B946E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47625" cy="5905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4763">
            <a:solidFill>
              <a:srgbClr val="F59E0B"/>
            </a:solidFill>
            <a:prstDash val="solid"/>
          </a:ln>
        </p:spPr>
      </p:sp>
      <p:sp>
        <p:nvSpPr>
          <p:cNvPr id="30" name="row-header-0325">
            <a:extLst xmlns:a="http://schemas.openxmlformats.org/drawingml/2006/main">
              <a:ext uri="{FF2B5EF4-FFF2-40B4-BE49-F238E27FC236}">
                <a16:creationId xmlns:a16="http://schemas.microsoft.com/office/drawing/2014/main" id="{49B1F6A6-C16F-4F8C-9ADA-3C26AFF0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阶段三 · 回包队列</a:t>
            </a:r>
          </a:p>
        </p:txBody>
      </p:sp>
      <p:sp>
        <p:nvSpPr>
          <p:cNvPr id="31" name="placeholder-STAGE3-AVG-P99-0326">
            <a:extLst xmlns:a="http://schemas.openxmlformats.org/drawingml/2006/main">
              <a:ext uri="{FF2B5EF4-FFF2-40B4-BE49-F238E27FC236}">
                <a16:creationId xmlns:a16="http://schemas.microsoft.com/office/drawing/2014/main" id="{EAEFFDDA-C9FD-4C84-946A-32D98E9A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5750"/>
            <a:ext cx="4781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F59E0B"/>
            </a:solidFill>
            <a:prstDash val="dash"/>
          </a:ln>
        </p:spPr>
      </p:sp>
      <p:sp>
        <p:nvSpPr>
          <p:cNvPr id="32" name="placeholder-label-STAGE3-AVG-P99-0327">
            <a:extLst xmlns:a="http://schemas.openxmlformats.org/drawingml/2006/main">
              <a:ext uri="{FF2B5EF4-FFF2-40B4-BE49-F238E27FC236}">
                <a16:creationId xmlns:a16="http://schemas.microsoft.com/office/drawing/2014/main" id="{A3CA566A-D08C-4352-9F2E-6A865D9B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33850"/>
            <a:ext cx="459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[STAGE3-AVG-P99]</a:t>
            </a:r>
          </a:p>
        </p:txBody>
      </p:sp>
      <p:sp>
        <p:nvSpPr>
          <p:cNvPr id="33" name="placeholder-STAGE3-MAX-0328">
            <a:extLst xmlns:a="http://schemas.openxmlformats.org/drawingml/2006/main">
              <a:ext uri="{FF2B5EF4-FFF2-40B4-BE49-F238E27FC236}">
                <a16:creationId xmlns:a16="http://schemas.microsoft.com/office/drawing/2014/main" id="{DDDF6204-A55A-47EB-8067-A7A0B554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95750"/>
            <a:ext cx="4781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F59E0B"/>
            </a:solidFill>
            <a:prstDash val="dash"/>
          </a:ln>
        </p:spPr>
      </p:sp>
      <p:sp>
        <p:nvSpPr>
          <p:cNvPr id="34" name="placeholder-label-STAGE3-MAX-0329">
            <a:extLst xmlns:a="http://schemas.openxmlformats.org/drawingml/2006/main">
              <a:ext uri="{FF2B5EF4-FFF2-40B4-BE49-F238E27FC236}">
                <a16:creationId xmlns:a16="http://schemas.microsoft.com/office/drawing/2014/main" id="{1DB58342-B8BE-4E1C-AE39-070684F6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33850"/>
            <a:ext cx="459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[STAGE3-MAX]</a:t>
            </a:r>
          </a:p>
        </p:txBody>
      </p:sp>
      <p:sp>
        <p:nvSpPr>
          <p:cNvPr id="35" name="strip-0330">
            <a:extLst xmlns:a="http://schemas.openxmlformats.org/drawingml/2006/main">
              <a:ext uri="{FF2B5EF4-FFF2-40B4-BE49-F238E27FC236}">
                <a16:creationId xmlns:a16="http://schemas.microsoft.com/office/drawing/2014/main" id="{3D350DEE-56A8-4CC0-8D4C-A4BFBB82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29200"/>
            <a:ext cx="47625" cy="5905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4763">
            <a:solidFill>
              <a:srgbClr val="10B981"/>
            </a:solidFill>
            <a:prstDash val="solid"/>
          </a:ln>
        </p:spPr>
      </p:sp>
      <p:sp>
        <p:nvSpPr>
          <p:cNvPr id="36" name="row-header-0331">
            <a:extLst xmlns:a="http://schemas.openxmlformats.org/drawingml/2006/main">
              <a:ext uri="{FF2B5EF4-FFF2-40B4-BE49-F238E27FC236}">
                <a16:creationId xmlns:a16="http://schemas.microsoft.com/office/drawing/2014/main" id="{40417EEF-4DCD-4DC9-A503-6C142CAC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48250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阶段四 · 回包发送</a:t>
            </a:r>
          </a:p>
        </p:txBody>
      </p:sp>
      <p:sp>
        <p:nvSpPr>
          <p:cNvPr id="37" name="placeholder-STAGE4-AVG-P99-0332">
            <a:extLst xmlns:a="http://schemas.openxmlformats.org/drawingml/2006/main">
              <a:ext uri="{FF2B5EF4-FFF2-40B4-BE49-F238E27FC236}">
                <a16:creationId xmlns:a16="http://schemas.microsoft.com/office/drawing/2014/main" id="{78FDBADA-6119-4B58-A696-9B8FC1E0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53000"/>
            <a:ext cx="4781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10B981"/>
            </a:solidFill>
            <a:prstDash val="dash"/>
          </a:ln>
        </p:spPr>
      </p:sp>
      <p:sp>
        <p:nvSpPr>
          <p:cNvPr id="38" name="placeholder-label-STAGE4-AVG-P99-0333">
            <a:extLst xmlns:a="http://schemas.openxmlformats.org/drawingml/2006/main">
              <a:ext uri="{FF2B5EF4-FFF2-40B4-BE49-F238E27FC236}">
                <a16:creationId xmlns:a16="http://schemas.microsoft.com/office/drawing/2014/main" id="{7D4C3DD7-73CF-442F-91BF-280D5B42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91100"/>
            <a:ext cx="459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[STAGE4-AVG-P99]</a:t>
            </a:r>
          </a:p>
        </p:txBody>
      </p:sp>
      <p:sp>
        <p:nvSpPr>
          <p:cNvPr id="39" name="placeholder-STAGE4-MAX-0334">
            <a:extLst xmlns:a="http://schemas.openxmlformats.org/drawingml/2006/main">
              <a:ext uri="{FF2B5EF4-FFF2-40B4-BE49-F238E27FC236}">
                <a16:creationId xmlns:a16="http://schemas.microsoft.com/office/drawing/2014/main" id="{307DB6AA-967D-4887-82E5-DC80B60E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53000"/>
            <a:ext cx="47815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10B981"/>
            </a:solidFill>
            <a:prstDash val="dash"/>
          </a:ln>
        </p:spPr>
      </p:sp>
      <p:sp>
        <p:nvSpPr>
          <p:cNvPr id="40" name="placeholder-label-STAGE4-MAX-0335">
            <a:extLst xmlns:a="http://schemas.openxmlformats.org/drawingml/2006/main">
              <a:ext uri="{FF2B5EF4-FFF2-40B4-BE49-F238E27FC236}">
                <a16:creationId xmlns:a16="http://schemas.microsoft.com/office/drawing/2014/main" id="{8782442C-E67F-4B94-9E1C-000363B3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91100"/>
            <a:ext cx="459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[STAGE4-MAX]</a:t>
            </a:r>
          </a:p>
        </p:txBody>
      </p:sp>
      <p:sp>
        <p:nvSpPr>
          <p:cNvPr id="41" name="reading-order-0336">
            <a:extLst xmlns:a="http://schemas.openxmlformats.org/drawingml/2006/main">
              <a:ext uri="{FF2B5EF4-FFF2-40B4-BE49-F238E27FC236}">
                <a16:creationId xmlns:a16="http://schemas.microsoft.com/office/drawing/2014/main" id="{27611F48-992B-445B-A2BA-92462A57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62650"/>
            <a:ext cx="971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42" name="reading-order-text-0337">
            <a:extLst xmlns:a="http://schemas.openxmlformats.org/drawingml/2006/main">
              <a:ext uri="{FF2B5EF4-FFF2-40B4-BE49-F238E27FC236}">
                <a16:creationId xmlns:a16="http://schemas.microsoft.com/office/drawing/2014/main" id="{2A6ABC0A-E171-468D-A29D-60F3AC9E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010275"/>
            <a:ext cx="939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Proxy 总耗时异常  →  对齐同一窗口查看四阶段  →  找到同步异常的阶段</a:t>
            </a:r>
          </a:p>
        </p:txBody>
      </p:sp>
    </p:spTree>
    <p:extLst>
      <p:ext uri="{BB962C8B-B14F-4D97-AF65-F5344CB8AC3E}">
        <p14:creationId xmlns:p14="http://schemas.microsoft.com/office/powerpoint/2010/main" val="6927922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43D8E90-EC77-441A-B470-291925E4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6"/>
          </a:solidFill>
          <a:ln xmlns:a="http://schemas.openxmlformats.org/drawingml/2006/main" w="12700">
            <a:solidFill>
              <a:srgbClr val="070B1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558F199-71AF-4321-958B-2AAFD85C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94881ED-5A38-45AD-8A7D-890C0841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"/>
            <a:ext cx="1219169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5" name="section-0338">
            <a:extLst xmlns:a="http://schemas.openxmlformats.org/drawingml/2006/main">
              <a:ext uri="{FF2B5EF4-FFF2-40B4-BE49-F238E27FC236}">
                <a16:creationId xmlns:a16="http://schemas.microsoft.com/office/drawing/2014/main" id="{27F3C1D8-C576-4263-9A04-10A25F42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PART 2 · 测量链路</a:t>
            </a:r>
          </a:p>
        </p:txBody>
      </p:sp>
      <p:sp>
        <p:nvSpPr>
          <p:cNvPr id="6" name="page-top-0339">
            <a:extLst xmlns:a="http://schemas.openxmlformats.org/drawingml/2006/main">
              <a:ext uri="{FF2B5EF4-FFF2-40B4-BE49-F238E27FC236}">
                <a16:creationId xmlns:a16="http://schemas.microsoft.com/office/drawing/2014/main" id="{BB25F9A2-96E4-4C88-9950-3708B586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  <p:sp>
        <p:nvSpPr>
          <p:cNvPr id="7" name="title-0340">
            <a:extLst xmlns:a="http://schemas.openxmlformats.org/drawingml/2006/main">
              <a:ext uri="{FF2B5EF4-FFF2-40B4-BE49-F238E27FC236}">
                <a16:creationId xmlns:a16="http://schemas.microsoft.com/office/drawing/2014/main" id="{94352ED1-6BC7-4D19-81D2-3E52CE10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再看 Shard：TOTAL 变慢，是否来自实际执行</a:t>
            </a:r>
          </a:p>
        </p:txBody>
      </p:sp>
      <p:sp>
        <p:nvSpPr>
          <p:cNvPr id="8" name="line-0341">
            <a:extLst xmlns:a="http://schemas.openxmlformats.org/drawingml/2006/main">
              <a:ext uri="{FF2B5EF4-FFF2-40B4-BE49-F238E27FC236}">
                <a16:creationId xmlns:a16="http://schemas.microsoft.com/office/drawing/2014/main" id="{57079109-C6FF-4AB6-BD6A-50129153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9" name="col-header-0342">
            <a:extLst xmlns:a="http://schemas.openxmlformats.org/drawingml/2006/main">
              <a:ext uri="{FF2B5EF4-FFF2-40B4-BE49-F238E27FC236}">
                <a16:creationId xmlns:a16="http://schemas.microsoft.com/office/drawing/2014/main" id="{46B90279-209A-471F-9B32-ED1BB158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20015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Average</a:t>
            </a:r>
          </a:p>
        </p:txBody>
      </p:sp>
      <p:sp>
        <p:nvSpPr>
          <p:cNvPr id="10" name="col-header-0343">
            <a:extLst xmlns:a="http://schemas.openxmlformats.org/drawingml/2006/main">
              <a:ext uri="{FF2B5EF4-FFF2-40B4-BE49-F238E27FC236}">
                <a16:creationId xmlns:a16="http://schemas.microsoft.com/office/drawing/2014/main" id="{2A2A87A5-18FE-4DEA-84FE-676A16A8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20015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P99</a:t>
            </a:r>
          </a:p>
        </p:txBody>
      </p:sp>
      <p:sp>
        <p:nvSpPr>
          <p:cNvPr id="11" name="col-header-0344">
            <a:extLst xmlns:a="http://schemas.openxmlformats.org/drawingml/2006/main">
              <a:ext uri="{FF2B5EF4-FFF2-40B4-BE49-F238E27FC236}">
                <a16:creationId xmlns:a16="http://schemas.microsoft.com/office/drawing/2014/main" id="{81CA9AC4-C67A-4263-8E77-5E98EACF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20015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Max</a:t>
            </a:r>
          </a:p>
        </p:txBody>
      </p:sp>
      <p:sp>
        <p:nvSpPr>
          <p:cNvPr id="12" name="strip-0345">
            <a:extLst xmlns:a="http://schemas.openxmlformats.org/drawingml/2006/main">
              <a:ext uri="{FF2B5EF4-FFF2-40B4-BE49-F238E27FC236}">
                <a16:creationId xmlns:a16="http://schemas.microsoft.com/office/drawing/2014/main" id="{68E1A045-E91F-4DDC-B798-8FC47FE8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38300"/>
            <a:ext cx="47625" cy="13525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4763">
            <a:solidFill>
              <a:srgbClr val="F59E0B"/>
            </a:solidFill>
            <a:prstDash val="solid"/>
          </a:ln>
        </p:spPr>
      </p:sp>
      <p:sp>
        <p:nvSpPr>
          <p:cNvPr id="13" name="row-header-0346">
            <a:extLst xmlns:a="http://schemas.openxmlformats.org/drawingml/2006/main">
              <a:ext uri="{FF2B5EF4-FFF2-40B4-BE49-F238E27FC236}">
                <a16:creationId xmlns:a16="http://schemas.microsoft.com/office/drawing/2014/main" id="{C2D33B84-E5D8-459E-A938-D14FC3C6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118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Shard TOTAL</a:t>
            </a:r>
          </a:p>
        </p:txBody>
      </p:sp>
      <p:sp>
        <p:nvSpPr>
          <p:cNvPr id="14" name="placeholder-TOTAL-AVG-0347">
            <a:extLst xmlns:a="http://schemas.openxmlformats.org/drawingml/2006/main">
              <a:ext uri="{FF2B5EF4-FFF2-40B4-BE49-F238E27FC236}">
                <a16:creationId xmlns:a16="http://schemas.microsoft.com/office/drawing/2014/main" id="{F13F9887-7372-47A6-AF9D-35989B0F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524000"/>
            <a:ext cx="32194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F59E0B"/>
            </a:solidFill>
            <a:prstDash val="dash"/>
          </a:ln>
        </p:spPr>
      </p:sp>
      <p:sp>
        <p:nvSpPr>
          <p:cNvPr id="15" name="placeholder-label-TOTAL-AVG-0348">
            <a:extLst xmlns:a="http://schemas.openxmlformats.org/drawingml/2006/main">
              <a:ext uri="{FF2B5EF4-FFF2-40B4-BE49-F238E27FC236}">
                <a16:creationId xmlns:a16="http://schemas.microsoft.com/office/drawing/2014/main" id="{6BA82C0C-5067-47D7-B38A-2730BD9F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562100"/>
            <a:ext cx="3028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[TOTAL-AVG]</a:t>
            </a:r>
          </a:p>
        </p:txBody>
      </p:sp>
      <p:sp>
        <p:nvSpPr>
          <p:cNvPr id="16" name="placeholder-TOTAL-P99-0349">
            <a:extLst xmlns:a="http://schemas.openxmlformats.org/drawingml/2006/main">
              <a:ext uri="{FF2B5EF4-FFF2-40B4-BE49-F238E27FC236}">
                <a16:creationId xmlns:a16="http://schemas.microsoft.com/office/drawing/2014/main" id="{CC5C7396-4846-4C89-A577-58AA9C60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524000"/>
            <a:ext cx="32194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F59E0B"/>
            </a:solidFill>
            <a:prstDash val="dash"/>
          </a:ln>
        </p:spPr>
      </p:sp>
      <p:sp>
        <p:nvSpPr>
          <p:cNvPr id="17" name="placeholder-label-TOTAL-P99-0350">
            <a:extLst xmlns:a="http://schemas.openxmlformats.org/drawingml/2006/main">
              <a:ext uri="{FF2B5EF4-FFF2-40B4-BE49-F238E27FC236}">
                <a16:creationId xmlns:a16="http://schemas.microsoft.com/office/drawing/2014/main" id="{5FEF70B9-8DEB-45C5-9397-6C3D0DDF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562100"/>
            <a:ext cx="3028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[TOTAL-P99]</a:t>
            </a:r>
          </a:p>
        </p:txBody>
      </p:sp>
      <p:sp>
        <p:nvSpPr>
          <p:cNvPr id="18" name="placeholder-TOTAL-MAX-0351">
            <a:extLst xmlns:a="http://schemas.openxmlformats.org/drawingml/2006/main">
              <a:ext uri="{FF2B5EF4-FFF2-40B4-BE49-F238E27FC236}">
                <a16:creationId xmlns:a16="http://schemas.microsoft.com/office/drawing/2014/main" id="{B07C8711-C9CB-48F3-9038-1D8327C0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24000"/>
            <a:ext cx="32194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F59E0B"/>
            </a:solidFill>
            <a:prstDash val="dash"/>
          </a:ln>
        </p:spPr>
      </p:sp>
      <p:sp>
        <p:nvSpPr>
          <p:cNvPr id="19" name="placeholder-label-TOTAL-MAX-0352">
            <a:extLst xmlns:a="http://schemas.openxmlformats.org/drawingml/2006/main">
              <a:ext uri="{FF2B5EF4-FFF2-40B4-BE49-F238E27FC236}">
                <a16:creationId xmlns:a16="http://schemas.microsoft.com/office/drawing/2014/main" id="{F22D1F33-552B-4CE2-8ABD-9CCEDAFC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62100"/>
            <a:ext cx="3028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[TOTAL-MAX]</a:t>
            </a:r>
          </a:p>
        </p:txBody>
      </p:sp>
      <p:sp>
        <p:nvSpPr>
          <p:cNvPr id="20" name="strip-0353">
            <a:extLst xmlns:a="http://schemas.openxmlformats.org/drawingml/2006/main">
              <a:ext uri="{FF2B5EF4-FFF2-40B4-BE49-F238E27FC236}">
                <a16:creationId xmlns:a16="http://schemas.microsoft.com/office/drawing/2014/main" id="{AC3A56AD-D667-4A54-8257-B193EB64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47625" cy="13525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4763">
            <a:solidFill>
              <a:srgbClr val="7C3AED"/>
            </a:solidFill>
            <a:prstDash val="solid"/>
          </a:ln>
        </p:spPr>
      </p:sp>
      <p:sp>
        <p:nvSpPr>
          <p:cNvPr id="21" name="row-header-0354">
            <a:extLst xmlns:a="http://schemas.openxmlformats.org/drawingml/2006/main">
              <a:ext uri="{FF2B5EF4-FFF2-40B4-BE49-F238E27FC236}">
                <a16:creationId xmlns:a16="http://schemas.microsoft.com/office/drawing/2014/main" id="{3B537EBE-CC44-492C-AAA7-28CE9D41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1181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Shard EXEC</a:t>
            </a:r>
          </a:p>
        </p:txBody>
      </p:sp>
      <p:sp>
        <p:nvSpPr>
          <p:cNvPr id="22" name="placeholder-EXEC-AVG-0355">
            <a:extLst xmlns:a="http://schemas.openxmlformats.org/drawingml/2006/main">
              <a:ext uri="{FF2B5EF4-FFF2-40B4-BE49-F238E27FC236}">
                <a16:creationId xmlns:a16="http://schemas.microsoft.com/office/drawing/2014/main" id="{2F309E8D-168A-436D-AFF4-2F816BB5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57550"/>
            <a:ext cx="32194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7C3AED"/>
            </a:solidFill>
            <a:prstDash val="dash"/>
          </a:ln>
        </p:spPr>
      </p:sp>
      <p:sp>
        <p:nvSpPr>
          <p:cNvPr id="23" name="placeholder-label-EXEC-AVG-0356">
            <a:extLst xmlns:a="http://schemas.openxmlformats.org/drawingml/2006/main">
              <a:ext uri="{FF2B5EF4-FFF2-40B4-BE49-F238E27FC236}">
                <a16:creationId xmlns:a16="http://schemas.microsoft.com/office/drawing/2014/main" id="{75999929-893F-4C82-B48E-FAB991A1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95650"/>
            <a:ext cx="3028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[EXEC-AVG]</a:t>
            </a:r>
          </a:p>
        </p:txBody>
      </p:sp>
      <p:sp>
        <p:nvSpPr>
          <p:cNvPr id="24" name="placeholder-EXEC-P99-0357">
            <a:extLst xmlns:a="http://schemas.openxmlformats.org/drawingml/2006/main">
              <a:ext uri="{FF2B5EF4-FFF2-40B4-BE49-F238E27FC236}">
                <a16:creationId xmlns:a16="http://schemas.microsoft.com/office/drawing/2014/main" id="{56987570-E08D-43DD-B384-7A5EB377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57550"/>
            <a:ext cx="32194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7C3AED"/>
            </a:solidFill>
            <a:prstDash val="dash"/>
          </a:ln>
        </p:spPr>
      </p:sp>
      <p:sp>
        <p:nvSpPr>
          <p:cNvPr id="25" name="placeholder-label-EXEC-P99-0358">
            <a:extLst xmlns:a="http://schemas.openxmlformats.org/drawingml/2006/main">
              <a:ext uri="{FF2B5EF4-FFF2-40B4-BE49-F238E27FC236}">
                <a16:creationId xmlns:a16="http://schemas.microsoft.com/office/drawing/2014/main" id="{EA1144DD-696A-4A43-B3E5-6895A624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95650"/>
            <a:ext cx="3028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[EXEC-P99]</a:t>
            </a:r>
          </a:p>
        </p:txBody>
      </p:sp>
      <p:sp>
        <p:nvSpPr>
          <p:cNvPr id="26" name="placeholder-EXEC-MAX-0359">
            <a:extLst xmlns:a="http://schemas.openxmlformats.org/drawingml/2006/main">
              <a:ext uri="{FF2B5EF4-FFF2-40B4-BE49-F238E27FC236}">
                <a16:creationId xmlns:a16="http://schemas.microsoft.com/office/drawing/2014/main" id="{DEC64866-9885-4C23-9443-3551DDD1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57550"/>
            <a:ext cx="32194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A1221"/>
          </a:solidFill>
          <a:ln xmlns:a="http://schemas.openxmlformats.org/drawingml/2006/main" w="11430">
            <a:solidFill>
              <a:srgbClr val="7C3AED"/>
            </a:solidFill>
            <a:prstDash val="dash"/>
          </a:ln>
        </p:spPr>
      </p:sp>
      <p:sp>
        <p:nvSpPr>
          <p:cNvPr id="27" name="placeholder-label-EXEC-MAX-0360">
            <a:extLst xmlns:a="http://schemas.openxmlformats.org/drawingml/2006/main">
              <a:ext uri="{FF2B5EF4-FFF2-40B4-BE49-F238E27FC236}">
                <a16:creationId xmlns:a16="http://schemas.microsoft.com/office/drawing/2014/main" id="{5EDF1A3F-EA2B-4B51-8530-FDCD3408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95650"/>
            <a:ext cx="30289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[EXEC-MAX]</a:t>
            </a:r>
          </a:p>
        </p:txBody>
      </p:sp>
      <p:sp>
        <p:nvSpPr>
          <p:cNvPr id="28" name="interpretation-top-0361">
            <a:extLst xmlns:a="http://schemas.openxmlformats.org/drawingml/2006/main">
              <a:ext uri="{FF2B5EF4-FFF2-40B4-BE49-F238E27FC236}">
                <a16:creationId xmlns:a16="http://schemas.microsoft.com/office/drawing/2014/main" id="{BAF51377-0067-4961-AFFE-FF233C2F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101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EXEC 显著升高且量级可比</a:t>
            </a:r>
          </a:p>
        </p:txBody>
      </p:sp>
      <p:sp>
        <p:nvSpPr>
          <p:cNvPr id="29" name="chevron-0362">
            <a:extLst xmlns:a="http://schemas.openxmlformats.org/drawingml/2006/main">
              <a:ext uri="{FF2B5EF4-FFF2-40B4-BE49-F238E27FC236}">
                <a16:creationId xmlns:a16="http://schemas.microsoft.com/office/drawing/2014/main" id="{F713F4F5-5ADE-4133-B60B-CAE5BDCA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81375" y="5257800"/>
            <a:ext cx="1524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A78BFA"/>
          </a:solidFill>
          <a:ln xmlns:a="http://schemas.openxmlformats.org/drawingml/2006/main" w="4763">
            <a:solidFill>
              <a:srgbClr val="A78BFA"/>
            </a:solidFill>
            <a:prstDash val="solid"/>
          </a:ln>
        </p:spPr>
      </p:sp>
      <p:sp>
        <p:nvSpPr>
          <p:cNvPr id="30" name="interpretation-bottom-0363">
            <a:extLst xmlns:a="http://schemas.openxmlformats.org/drawingml/2006/main">
              <a:ext uri="{FF2B5EF4-FFF2-40B4-BE49-F238E27FC236}">
                <a16:creationId xmlns:a16="http://schemas.microsoft.com/office/drawing/2014/main" id="{CE5E5A17-C21C-4445-A671-519350DC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054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优先验证实际执行路径</a:t>
            </a:r>
          </a:p>
        </p:txBody>
      </p:sp>
      <p:sp>
        <p:nvSpPr>
          <p:cNvPr id="31" name="interpretation-top-0364">
            <a:extLst xmlns:a="http://schemas.openxmlformats.org/drawingml/2006/main">
              <a:ext uri="{FF2B5EF4-FFF2-40B4-BE49-F238E27FC236}">
                <a16:creationId xmlns:a16="http://schemas.microsoft.com/office/drawing/2014/main" id="{5408CD3D-A175-4312-9732-7525EB79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TOTAL 升高，EXEC 接近基线</a:t>
            </a:r>
          </a:p>
        </p:txBody>
      </p:sp>
      <p:sp>
        <p:nvSpPr>
          <p:cNvPr id="32" name="chevron-0365">
            <a:extLst xmlns:a="http://schemas.openxmlformats.org/drawingml/2006/main">
              <a:ext uri="{FF2B5EF4-FFF2-40B4-BE49-F238E27FC236}">
                <a16:creationId xmlns:a16="http://schemas.microsoft.com/office/drawing/2014/main" id="{F03A81D7-1FC5-4B44-BF30-9BADF500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734175" y="5257800"/>
            <a:ext cx="1524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4763">
            <a:solidFill>
              <a:srgbClr val="FBBF24"/>
            </a:solidFill>
            <a:prstDash val="solid"/>
          </a:ln>
        </p:spPr>
      </p:sp>
      <p:sp>
        <p:nvSpPr>
          <p:cNvPr id="33" name="interpretation-bottom-0366">
            <a:extLst xmlns:a="http://schemas.openxmlformats.org/drawingml/2006/main">
              <a:ext uri="{FF2B5EF4-FFF2-40B4-BE49-F238E27FC236}">
                <a16:creationId xmlns:a16="http://schemas.microsoft.com/office/drawing/2014/main" id="{53BE28E7-B7E1-4DDC-BFE0-93662CFE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5054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优先验证非 EXEC 区间</a:t>
            </a:r>
          </a:p>
        </p:txBody>
      </p:sp>
      <p:sp>
        <p:nvSpPr>
          <p:cNvPr id="34" name="interpretation-top-0367">
            <a:extLst xmlns:a="http://schemas.openxmlformats.org/drawingml/2006/main">
              <a:ext uri="{FF2B5EF4-FFF2-40B4-BE49-F238E27FC236}">
                <a16:creationId xmlns:a16="http://schemas.microsoft.com/office/drawing/2014/main" id="{68FB47DF-DB0C-4A4C-BBEB-D9F19133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101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阶段二升高，TOTAL / EXEC 正常</a:t>
            </a:r>
          </a:p>
        </p:txBody>
      </p:sp>
      <p:sp>
        <p:nvSpPr>
          <p:cNvPr id="35" name="chevron-0368">
            <a:extLst xmlns:a="http://schemas.openxmlformats.org/drawingml/2006/main">
              <a:ext uri="{FF2B5EF4-FFF2-40B4-BE49-F238E27FC236}">
                <a16:creationId xmlns:a16="http://schemas.microsoft.com/office/drawing/2014/main" id="{0CF23D48-2773-4DB5-9016-143FF97A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86975" y="5257800"/>
            <a:ext cx="1524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4763">
            <a:solidFill>
              <a:srgbClr val="22D3EE"/>
            </a:solidFill>
            <a:prstDash val="solid"/>
          </a:ln>
        </p:spPr>
      </p:sp>
      <p:sp>
        <p:nvSpPr>
          <p:cNvPr id="36" name="interpretation-bottom-0369">
            <a:extLst xmlns:a="http://schemas.openxmlformats.org/drawingml/2006/main">
              <a:ext uri="{FF2B5EF4-FFF2-40B4-BE49-F238E27FC236}">
                <a16:creationId xmlns:a16="http://schemas.microsoft.com/office/drawing/2014/main" id="{AC253FF3-4BE7-43AF-8D9E-B582EA42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5054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优先验证 RPC、网络或统计对齐</a:t>
            </a:r>
          </a:p>
        </p:txBody>
      </p:sp>
      <p:sp>
        <p:nvSpPr>
          <p:cNvPr id="37" name="accuracy-note-0370">
            <a:extLst xmlns:a="http://schemas.openxmlformats.org/drawingml/2006/main">
              <a:ext uri="{FF2B5EF4-FFF2-40B4-BE49-F238E27FC236}">
                <a16:creationId xmlns:a16="http://schemas.microsoft.com/office/drawing/2014/main" id="{2856E303-AE5B-4811-8434-5D2B9E25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57900"/>
            <a:ext cx="1135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只比较同一窗口的趋势与异常范围；不能用两个聚合 P99 相减计算排队 P99。</a:t>
            </a:r>
          </a:p>
        </p:txBody>
      </p:sp>
    </p:spTree>
    <p:extLst>
      <p:ext uri="{BB962C8B-B14F-4D97-AF65-F5344CB8AC3E}">
        <p14:creationId xmlns:p14="http://schemas.microsoft.com/office/powerpoint/2010/main" val="5978081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B56B6E9-E576-411C-AE3C-6EB93BF2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6"/>
          </a:solidFill>
          <a:ln xmlns:a="http://schemas.openxmlformats.org/drawingml/2006/main" w="12700">
            <a:solidFill>
              <a:srgbClr val="070B1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63F17C-5241-478B-96B4-C8E1BFFC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8C58DA0-06FB-4C84-B3D1-0C2193A8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"/>
            <a:ext cx="1219169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5" name="section-0371">
            <a:extLst xmlns:a="http://schemas.openxmlformats.org/drawingml/2006/main">
              <a:ext uri="{FF2B5EF4-FFF2-40B4-BE49-F238E27FC236}">
                <a16:creationId xmlns:a16="http://schemas.microsoft.com/office/drawing/2014/main" id="{A0D8F9C2-C8EA-4360-A61D-BD9A0323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PART 3 · 排查方法</a:t>
            </a:r>
          </a:p>
        </p:txBody>
      </p:sp>
      <p:sp>
        <p:nvSpPr>
          <p:cNvPr id="6" name="page-top-0372">
            <a:extLst xmlns:a="http://schemas.openxmlformats.org/drawingml/2006/main">
              <a:ext uri="{FF2B5EF4-FFF2-40B4-BE49-F238E27FC236}">
                <a16:creationId xmlns:a16="http://schemas.microsoft.com/office/drawing/2014/main" id="{9F6A2843-CB72-471E-8E2E-8C2E2A2F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  <p:sp>
        <p:nvSpPr>
          <p:cNvPr id="7" name="title-0373">
            <a:extLst xmlns:a="http://schemas.openxmlformats.org/drawingml/2006/main">
              <a:ext uri="{FF2B5EF4-FFF2-40B4-BE49-F238E27FC236}">
                <a16:creationId xmlns:a16="http://schemas.microsoft.com/office/drawing/2014/main" id="{169A11D3-F4CD-4465-9D00-B847FAA7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P99 排查：先分段，再定范围，最后验证原因</a:t>
            </a:r>
          </a:p>
        </p:txBody>
      </p:sp>
      <p:sp>
        <p:nvSpPr>
          <p:cNvPr id="8" name="line-0374">
            <a:extLst xmlns:a="http://schemas.openxmlformats.org/drawingml/2006/main">
              <a:ext uri="{FF2B5EF4-FFF2-40B4-BE49-F238E27FC236}">
                <a16:creationId xmlns:a16="http://schemas.microsoft.com/office/drawing/2014/main" id="{BC7409A4-856B-4EA5-98CF-5C8ADCCC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9" name="prerequisite-0375">
            <a:extLst xmlns:a="http://schemas.openxmlformats.org/drawingml/2006/main">
              <a:ext uri="{FF2B5EF4-FFF2-40B4-BE49-F238E27FC236}">
                <a16:creationId xmlns:a16="http://schemas.microsoft.com/office/drawing/2014/main" id="{02702BD0-4401-48D6-B277-BEDF71B7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200150"/>
            <a:ext cx="82296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0A1728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0" name="prerequisite-text-0376">
            <a:extLst xmlns:a="http://schemas.openxmlformats.org/drawingml/2006/main">
              <a:ext uri="{FF2B5EF4-FFF2-40B4-BE49-F238E27FC236}">
                <a16:creationId xmlns:a16="http://schemas.microsoft.com/office/drawing/2014/main" id="{424C6161-02E8-45FD-ACDE-70134222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247775"/>
            <a:ext cx="792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同一时间窗口  ｜  同一统计口径  ｜  同一命令范围  ｜  足够样本量</a:t>
            </a:r>
          </a:p>
        </p:txBody>
      </p:sp>
      <p:sp>
        <p:nvSpPr>
          <p:cNvPr id="11" name="method-card-0377">
            <a:extLst xmlns:a="http://schemas.openxmlformats.org/drawingml/2006/main">
              <a:ext uri="{FF2B5EF4-FFF2-40B4-BE49-F238E27FC236}">
                <a16:creationId xmlns:a16="http://schemas.microsoft.com/office/drawing/2014/main" id="{68DD6369-9483-40E1-A60C-A9DEE2A8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47850"/>
            <a:ext cx="26098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41642"/>
          </a:solidFill>
          <a:ln xmlns:a="http://schemas.openxmlformats.org/drawingml/2006/main" w="13335">
            <a:solidFill>
              <a:srgbClr val="7C3AED"/>
            </a:solidFill>
            <a:prstDash val="solid"/>
          </a:ln>
        </p:spPr>
      </p:sp>
      <p:sp>
        <p:nvSpPr>
          <p:cNvPr id="12" name="method-number-0378">
            <a:extLst xmlns:a="http://schemas.openxmlformats.org/drawingml/2006/main">
              <a:ext uri="{FF2B5EF4-FFF2-40B4-BE49-F238E27FC236}">
                <a16:creationId xmlns:a16="http://schemas.microsoft.com/office/drawing/2014/main" id="{E3B9D625-D7AF-4E80-B534-C0DF3014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4381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4763">
            <a:solidFill>
              <a:srgbClr val="7C3AED"/>
            </a:solidFill>
            <a:prstDash val="solid"/>
          </a:ln>
        </p:spPr>
      </p:sp>
      <p:sp>
        <p:nvSpPr>
          <p:cNvPr id="13" name="method-number-text-0379">
            <a:extLst xmlns:a="http://schemas.openxmlformats.org/drawingml/2006/main">
              <a:ext uri="{FF2B5EF4-FFF2-40B4-BE49-F238E27FC236}">
                <a16:creationId xmlns:a16="http://schemas.microsoft.com/office/drawing/2014/main" id="{CB710284-92B3-4F0E-A71F-DF962954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method-title-0380">
            <a:extLst xmlns:a="http://schemas.openxmlformats.org/drawingml/2006/main">
              <a:ext uri="{FF2B5EF4-FFF2-40B4-BE49-F238E27FC236}">
                <a16:creationId xmlns:a16="http://schemas.microsoft.com/office/drawing/2014/main" id="{6EED8EEE-AE97-49BE-B619-7C99628C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383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哪一段慢</a:t>
            </a:r>
          </a:p>
        </p:txBody>
      </p:sp>
      <p:sp>
        <p:nvSpPr>
          <p:cNvPr id="15" name="line-0381">
            <a:extLst xmlns:a="http://schemas.openxmlformats.org/drawingml/2006/main">
              <a:ext uri="{FF2B5EF4-FFF2-40B4-BE49-F238E27FC236}">
                <a16:creationId xmlns:a16="http://schemas.microsoft.com/office/drawing/2014/main" id="{1A32BB60-504B-4E0B-ABDD-E9998F58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3AED"/>
            </a:solidFill>
            <a:prstDash val="solid"/>
          </a:ln>
        </p:spPr>
      </p:sp>
      <p:sp>
        <p:nvSpPr>
          <p:cNvPr id="16" name="dot-0382">
            <a:extLst xmlns:a="http://schemas.openxmlformats.org/drawingml/2006/main">
              <a:ext uri="{FF2B5EF4-FFF2-40B4-BE49-F238E27FC236}">
                <a16:creationId xmlns:a16="http://schemas.microsoft.com/office/drawing/2014/main" id="{5B7E57FE-8C5A-4620-A2F6-986E41FF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7" name="bullet-0383">
            <a:extLst xmlns:a="http://schemas.openxmlformats.org/drawingml/2006/main">
              <a:ext uri="{FF2B5EF4-FFF2-40B4-BE49-F238E27FC236}">
                <a16:creationId xmlns:a16="http://schemas.microsoft.com/office/drawing/2014/main" id="{A19ADD4D-0E3A-4FFE-BF03-D4556195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Proxy 总耗时</a:t>
            </a:r>
          </a:p>
        </p:txBody>
      </p:sp>
      <p:sp>
        <p:nvSpPr>
          <p:cNvPr id="18" name="dot-0384">
            <a:extLst xmlns:a="http://schemas.openxmlformats.org/drawingml/2006/main">
              <a:ext uri="{FF2B5EF4-FFF2-40B4-BE49-F238E27FC236}">
                <a16:creationId xmlns:a16="http://schemas.microsoft.com/office/drawing/2014/main" id="{3F75FE5E-33AE-4C85-B905-01EB1AB4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9" name="bullet-0385">
            <a:extLst xmlns:a="http://schemas.openxmlformats.org/drawingml/2006/main">
              <a:ext uri="{FF2B5EF4-FFF2-40B4-BE49-F238E27FC236}">
                <a16:creationId xmlns:a16="http://schemas.microsoft.com/office/drawing/2014/main" id="{76071995-8239-418C-A80E-1CDB8383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Stage 1～4</a:t>
            </a:r>
          </a:p>
        </p:txBody>
      </p:sp>
      <p:sp>
        <p:nvSpPr>
          <p:cNvPr id="20" name="dot-0386">
            <a:extLst xmlns:a="http://schemas.openxmlformats.org/drawingml/2006/main">
              <a:ext uri="{FF2B5EF4-FFF2-40B4-BE49-F238E27FC236}">
                <a16:creationId xmlns:a16="http://schemas.microsoft.com/office/drawing/2014/main" id="{17E6E6B6-682F-433F-BA35-86472D00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1" name="bullet-0387">
            <a:extLst xmlns:a="http://schemas.openxmlformats.org/drawingml/2006/main">
              <a:ext uri="{FF2B5EF4-FFF2-40B4-BE49-F238E27FC236}">
                <a16:creationId xmlns:a16="http://schemas.microsoft.com/office/drawing/2014/main" id="{003BAEAB-113C-4E0F-A1C9-5F82A1C4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Shard TOTAL / EXEC</a:t>
            </a:r>
          </a:p>
        </p:txBody>
      </p:sp>
      <p:sp>
        <p:nvSpPr>
          <p:cNvPr id="22" name="chevron-0388">
            <a:extLst xmlns:a="http://schemas.openxmlformats.org/drawingml/2006/main">
              <a:ext uri="{FF2B5EF4-FFF2-40B4-BE49-F238E27FC236}">
                <a16:creationId xmlns:a16="http://schemas.microsoft.com/office/drawing/2014/main" id="{DCF7581C-3357-4208-9F43-82F55579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76575" y="2876550"/>
            <a:ext cx="11430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23" name="method-card-0389">
            <a:extLst xmlns:a="http://schemas.openxmlformats.org/drawingml/2006/main">
              <a:ext uri="{FF2B5EF4-FFF2-40B4-BE49-F238E27FC236}">
                <a16:creationId xmlns:a16="http://schemas.microsoft.com/office/drawing/2014/main" id="{D07994CC-2360-4B2A-8CE4-9385A81B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47850"/>
            <a:ext cx="26098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13335">
            <a:solidFill>
              <a:srgbClr val="3B82F6"/>
            </a:solidFill>
            <a:prstDash val="solid"/>
          </a:ln>
        </p:spPr>
      </p:sp>
      <p:sp>
        <p:nvSpPr>
          <p:cNvPr id="24" name="method-number-0390">
            <a:extLst xmlns:a="http://schemas.openxmlformats.org/drawingml/2006/main">
              <a:ext uri="{FF2B5EF4-FFF2-40B4-BE49-F238E27FC236}">
                <a16:creationId xmlns:a16="http://schemas.microsoft.com/office/drawing/2014/main" id="{F62C3FD8-4B43-4B99-B08C-E3DB6BAD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38350"/>
            <a:ext cx="4381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4763">
            <a:solidFill>
              <a:srgbClr val="3B82F6"/>
            </a:solidFill>
            <a:prstDash val="solid"/>
          </a:ln>
        </p:spPr>
      </p:sp>
      <p:sp>
        <p:nvSpPr>
          <p:cNvPr id="25" name="method-number-text-0391">
            <a:extLst xmlns:a="http://schemas.openxmlformats.org/drawingml/2006/main">
              <a:ext uri="{FF2B5EF4-FFF2-40B4-BE49-F238E27FC236}">
                <a16:creationId xmlns:a16="http://schemas.microsoft.com/office/drawing/2014/main" id="{D76360F9-801C-4FFF-BABC-CC02AF9C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method-title-0392">
            <a:extLst xmlns:a="http://schemas.openxmlformats.org/drawingml/2006/main">
              <a:ext uri="{FF2B5EF4-FFF2-40B4-BE49-F238E27FC236}">
                <a16:creationId xmlns:a16="http://schemas.microsoft.com/office/drawing/2014/main" id="{273BB0BC-BE6B-4143-9DB0-168DC8D4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0383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谁在变慢</a:t>
            </a:r>
          </a:p>
        </p:txBody>
      </p:sp>
      <p:sp>
        <p:nvSpPr>
          <p:cNvPr id="27" name="line-0393">
            <a:extLst xmlns:a="http://schemas.openxmlformats.org/drawingml/2006/main">
              <a:ext uri="{FF2B5EF4-FFF2-40B4-BE49-F238E27FC236}">
                <a16:creationId xmlns:a16="http://schemas.microsoft.com/office/drawing/2014/main" id="{CF55A9D7-CD60-4CC5-82C3-0FA395FF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B82F6"/>
            </a:solidFill>
            <a:prstDash val="solid"/>
          </a:ln>
        </p:spPr>
      </p:sp>
      <p:sp>
        <p:nvSpPr>
          <p:cNvPr id="28" name="dot-0394">
            <a:extLst xmlns:a="http://schemas.openxmlformats.org/drawingml/2006/main">
              <a:ext uri="{FF2B5EF4-FFF2-40B4-BE49-F238E27FC236}">
                <a16:creationId xmlns:a16="http://schemas.microsoft.com/office/drawing/2014/main" id="{CF69D4D0-3116-4790-8809-074E3B04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86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9" name="bullet-0395">
            <a:extLst xmlns:a="http://schemas.openxmlformats.org/drawingml/2006/main">
              <a:ext uri="{FF2B5EF4-FFF2-40B4-BE49-F238E27FC236}">
                <a16:creationId xmlns:a16="http://schemas.microsoft.com/office/drawing/2014/main" id="{701E19B2-5EEB-49AD-A7F1-A3DC10B6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全局 / 单 Proxy</a:t>
            </a:r>
          </a:p>
        </p:txBody>
      </p:sp>
      <p:sp>
        <p:nvSpPr>
          <p:cNvPr id="30" name="dot-0396">
            <a:extLst xmlns:a="http://schemas.openxmlformats.org/drawingml/2006/main">
              <a:ext uri="{FF2B5EF4-FFF2-40B4-BE49-F238E27FC236}">
                <a16:creationId xmlns:a16="http://schemas.microsoft.com/office/drawing/2014/main" id="{5268E1DB-AFA0-4497-9AC9-F032BB0B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286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31" name="bullet-0397">
            <a:extLst xmlns:a="http://schemas.openxmlformats.org/drawingml/2006/main">
              <a:ext uri="{FF2B5EF4-FFF2-40B4-BE49-F238E27FC236}">
                <a16:creationId xmlns:a16="http://schemas.microsoft.com/office/drawing/2014/main" id="{7AF55013-DDE3-4482-985B-89A4D002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00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单 Shard / 单 RPC</a:t>
            </a:r>
          </a:p>
        </p:txBody>
      </p:sp>
      <p:sp>
        <p:nvSpPr>
          <p:cNvPr id="32" name="dot-0398">
            <a:extLst xmlns:a="http://schemas.openxmlformats.org/drawingml/2006/main">
              <a:ext uri="{FF2B5EF4-FFF2-40B4-BE49-F238E27FC236}">
                <a16:creationId xmlns:a16="http://schemas.microsoft.com/office/drawing/2014/main" id="{1EE86285-8921-4448-AB81-BD743473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86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33" name="bullet-0399">
            <a:extLst xmlns:a="http://schemas.openxmlformats.org/drawingml/2006/main">
              <a:ext uri="{FF2B5EF4-FFF2-40B4-BE49-F238E27FC236}">
                <a16:creationId xmlns:a16="http://schemas.microsoft.com/office/drawing/2014/main" id="{BFCA9158-4497-421B-A179-DEE3C06E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00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Proxy × Shard 空间分布</a:t>
            </a:r>
          </a:p>
        </p:txBody>
      </p:sp>
      <p:sp>
        <p:nvSpPr>
          <p:cNvPr id="34" name="chevron-0400">
            <a:extLst xmlns:a="http://schemas.openxmlformats.org/drawingml/2006/main">
              <a:ext uri="{FF2B5EF4-FFF2-40B4-BE49-F238E27FC236}">
                <a16:creationId xmlns:a16="http://schemas.microsoft.com/office/drawing/2014/main" id="{BD20413C-7DBC-48F8-84DF-05527C73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95975" y="2876550"/>
            <a:ext cx="11430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35" name="method-card-0401">
            <a:extLst xmlns:a="http://schemas.openxmlformats.org/drawingml/2006/main">
              <a:ext uri="{FF2B5EF4-FFF2-40B4-BE49-F238E27FC236}">
                <a16:creationId xmlns:a16="http://schemas.microsoft.com/office/drawing/2014/main" id="{46DD9512-6457-49D4-8202-91BFA119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47850"/>
            <a:ext cx="26098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33220A"/>
          </a:solidFill>
          <a:ln xmlns:a="http://schemas.openxmlformats.org/drawingml/2006/main" w="13335">
            <a:solidFill>
              <a:srgbClr val="F59E0B"/>
            </a:solidFill>
            <a:prstDash val="solid"/>
          </a:ln>
        </p:spPr>
      </p:sp>
      <p:sp>
        <p:nvSpPr>
          <p:cNvPr id="36" name="method-number-0402">
            <a:extLst xmlns:a="http://schemas.openxmlformats.org/drawingml/2006/main">
              <a:ext uri="{FF2B5EF4-FFF2-40B4-BE49-F238E27FC236}">
                <a16:creationId xmlns:a16="http://schemas.microsoft.com/office/drawing/2014/main" id="{DFB15961-AE63-4C96-9CFA-DE6E493A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38350"/>
            <a:ext cx="4381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4763">
            <a:solidFill>
              <a:srgbClr val="F59E0B"/>
            </a:solidFill>
            <a:prstDash val="solid"/>
          </a:ln>
        </p:spPr>
      </p:sp>
      <p:sp>
        <p:nvSpPr>
          <p:cNvPr id="37" name="method-number-text-0403">
            <a:extLst xmlns:a="http://schemas.openxmlformats.org/drawingml/2006/main">
              <a:ext uri="{FF2B5EF4-FFF2-40B4-BE49-F238E27FC236}">
                <a16:creationId xmlns:a16="http://schemas.microsoft.com/office/drawing/2014/main" id="{6FADCADC-D2EC-4E12-928B-026B59CA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8" name="method-title-0404">
            <a:extLst xmlns:a="http://schemas.openxmlformats.org/drawingml/2006/main">
              <a:ext uri="{FF2B5EF4-FFF2-40B4-BE49-F238E27FC236}">
                <a16:creationId xmlns:a16="http://schemas.microsoft.com/office/drawing/2014/main" id="{416218F2-7A62-4B5E-9DCF-11004E5B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383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为什么慢</a:t>
            </a:r>
          </a:p>
        </p:txBody>
      </p:sp>
      <p:sp>
        <p:nvSpPr>
          <p:cNvPr id="39" name="line-0405">
            <a:extLst xmlns:a="http://schemas.openxmlformats.org/drawingml/2006/main">
              <a:ext uri="{FF2B5EF4-FFF2-40B4-BE49-F238E27FC236}">
                <a16:creationId xmlns:a16="http://schemas.microsoft.com/office/drawing/2014/main" id="{D04E17E2-0FE5-4E77-BE32-F19AC147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59E0B"/>
            </a:solidFill>
            <a:prstDash val="solid"/>
          </a:ln>
        </p:spPr>
      </p:sp>
      <p:sp>
        <p:nvSpPr>
          <p:cNvPr id="40" name="dot-0406">
            <a:extLst xmlns:a="http://schemas.openxmlformats.org/drawingml/2006/main">
              <a:ext uri="{FF2B5EF4-FFF2-40B4-BE49-F238E27FC236}">
                <a16:creationId xmlns:a16="http://schemas.microsoft.com/office/drawing/2014/main" id="{E03C05DF-3EE3-477D-AE54-9A222DE3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86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1" name="bullet-0407">
            <a:extLst xmlns:a="http://schemas.openxmlformats.org/drawingml/2006/main">
              <a:ext uri="{FF2B5EF4-FFF2-40B4-BE49-F238E27FC236}">
                <a16:creationId xmlns:a16="http://schemas.microsoft.com/office/drawing/2014/main" id="{7EF5F02B-A799-44FC-AA2D-BF34484E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00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QPS / 队列</a:t>
            </a:r>
          </a:p>
        </p:txBody>
      </p:sp>
      <p:sp>
        <p:nvSpPr>
          <p:cNvPr id="42" name="dot-0408">
            <a:extLst xmlns:a="http://schemas.openxmlformats.org/drawingml/2006/main">
              <a:ext uri="{FF2B5EF4-FFF2-40B4-BE49-F238E27FC236}">
                <a16:creationId xmlns:a16="http://schemas.microsoft.com/office/drawing/2014/main" id="{2FA111D6-A830-47C2-820C-25B088E7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3" name="bullet-0409">
            <a:extLst xmlns:a="http://schemas.openxmlformats.org/drawingml/2006/main">
              <a:ext uri="{FF2B5EF4-FFF2-40B4-BE49-F238E27FC236}">
                <a16:creationId xmlns:a16="http://schemas.microsoft.com/office/drawing/2014/main" id="{775DED33-16A6-4A5A-B3AE-78B5934B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0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CPU / 内存压力</a:t>
            </a:r>
          </a:p>
        </p:txBody>
      </p:sp>
      <p:sp>
        <p:nvSpPr>
          <p:cNvPr id="44" name="dot-0410">
            <a:extLst xmlns:a="http://schemas.openxmlformats.org/drawingml/2006/main">
              <a:ext uri="{FF2B5EF4-FFF2-40B4-BE49-F238E27FC236}">
                <a16:creationId xmlns:a16="http://schemas.microsoft.com/office/drawing/2014/main" id="{C4007855-DF9E-4122-A41D-08125B77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86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45" name="bullet-0411">
            <a:extLst xmlns:a="http://schemas.openxmlformats.org/drawingml/2006/main">
              <a:ext uri="{FF2B5EF4-FFF2-40B4-BE49-F238E27FC236}">
                <a16:creationId xmlns:a16="http://schemas.microsoft.com/office/drawing/2014/main" id="{B0C8C15F-38A6-438E-A7A8-A6293C3E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网络 / I/O / 事件</a:t>
            </a:r>
          </a:p>
        </p:txBody>
      </p:sp>
      <p:sp>
        <p:nvSpPr>
          <p:cNvPr id="46" name="chevron-0412">
            <a:extLst xmlns:a="http://schemas.openxmlformats.org/drawingml/2006/main">
              <a:ext uri="{FF2B5EF4-FFF2-40B4-BE49-F238E27FC236}">
                <a16:creationId xmlns:a16="http://schemas.microsoft.com/office/drawing/2014/main" id="{E501CE3E-F68C-43B3-8FD3-0A3F1D28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15375" y="2876550"/>
            <a:ext cx="114300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47" name="method-card-0413">
            <a:extLst xmlns:a="http://schemas.openxmlformats.org/drawingml/2006/main">
              <a:ext uri="{FF2B5EF4-FFF2-40B4-BE49-F238E27FC236}">
                <a16:creationId xmlns:a16="http://schemas.microsoft.com/office/drawing/2014/main" id="{2FB93C57-C446-4EAB-8429-0C633B09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47850"/>
            <a:ext cx="260985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B2B25"/>
          </a:solidFill>
          <a:ln xmlns:a="http://schemas.openxmlformats.org/drawingml/2006/main" w="13335">
            <a:solidFill>
              <a:srgbClr val="10B981"/>
            </a:solidFill>
            <a:prstDash val="solid"/>
          </a:ln>
        </p:spPr>
      </p:sp>
      <p:sp>
        <p:nvSpPr>
          <p:cNvPr id="48" name="method-number-0414">
            <a:extLst xmlns:a="http://schemas.openxmlformats.org/drawingml/2006/main">
              <a:ext uri="{FF2B5EF4-FFF2-40B4-BE49-F238E27FC236}">
                <a16:creationId xmlns:a16="http://schemas.microsoft.com/office/drawing/2014/main" id="{732FF568-04AC-4A90-B97D-A50C0812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438150" cy="342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4763">
            <a:solidFill>
              <a:srgbClr val="10B981"/>
            </a:solidFill>
            <a:prstDash val="solid"/>
          </a:ln>
        </p:spPr>
      </p:sp>
      <p:sp>
        <p:nvSpPr>
          <p:cNvPr id="49" name="method-number-text-0415">
            <a:extLst xmlns:a="http://schemas.openxmlformats.org/drawingml/2006/main">
              <a:ext uri="{FF2B5EF4-FFF2-40B4-BE49-F238E27FC236}">
                <a16:creationId xmlns:a16="http://schemas.microsoft.com/office/drawing/2014/main" id="{E4C26627-382A-4496-8F3A-F5D3AF2F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0" name="method-title-0416">
            <a:extLst xmlns:a="http://schemas.openxmlformats.org/drawingml/2006/main">
              <a:ext uri="{FF2B5EF4-FFF2-40B4-BE49-F238E27FC236}">
                <a16:creationId xmlns:a16="http://schemas.microsoft.com/office/drawing/2014/main" id="{988F3BE2-471A-4CC1-84CE-4D8AE71B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383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处理与复测</a:t>
            </a:r>
          </a:p>
        </p:txBody>
      </p:sp>
      <p:sp>
        <p:nvSpPr>
          <p:cNvPr id="51" name="line-0417">
            <a:extLst xmlns:a="http://schemas.openxmlformats.org/drawingml/2006/main">
              <a:ext uri="{FF2B5EF4-FFF2-40B4-BE49-F238E27FC236}">
                <a16:creationId xmlns:a16="http://schemas.microsoft.com/office/drawing/2014/main" id="{162EAC78-9854-4464-ACDB-D430E195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226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B981"/>
            </a:solidFill>
            <a:prstDash val="solid"/>
          </a:ln>
        </p:spPr>
      </p:sp>
      <p:sp>
        <p:nvSpPr>
          <p:cNvPr id="52" name="dot-0418">
            <a:extLst xmlns:a="http://schemas.openxmlformats.org/drawingml/2006/main">
              <a:ext uri="{FF2B5EF4-FFF2-40B4-BE49-F238E27FC236}">
                <a16:creationId xmlns:a16="http://schemas.microsoft.com/office/drawing/2014/main" id="{38161674-E9D8-4655-A401-5381B194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86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3" name="bullet-0419">
            <a:extLst xmlns:a="http://schemas.openxmlformats.org/drawingml/2006/main">
              <a:ext uri="{FF2B5EF4-FFF2-40B4-BE49-F238E27FC236}">
                <a16:creationId xmlns:a16="http://schemas.microsoft.com/office/drawing/2014/main" id="{8B17AF0A-0E5A-40BC-97FE-B3B88F03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00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单一可验证动作</a:t>
            </a:r>
          </a:p>
        </p:txBody>
      </p:sp>
      <p:sp>
        <p:nvSpPr>
          <p:cNvPr id="54" name="dot-0420">
            <a:extLst xmlns:a="http://schemas.openxmlformats.org/drawingml/2006/main">
              <a:ext uri="{FF2B5EF4-FFF2-40B4-BE49-F238E27FC236}">
                <a16:creationId xmlns:a16="http://schemas.microsoft.com/office/drawing/2014/main" id="{C7618505-3283-41D4-B21B-EF710EBE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86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5" name="bullet-0421">
            <a:extLst xmlns:a="http://schemas.openxmlformats.org/drawingml/2006/main">
              <a:ext uri="{FF2B5EF4-FFF2-40B4-BE49-F238E27FC236}">
                <a16:creationId xmlns:a16="http://schemas.microsoft.com/office/drawing/2014/main" id="{336931CD-583D-411D-86E7-2F4E009F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004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同负载复测</a:t>
            </a:r>
          </a:p>
        </p:txBody>
      </p:sp>
      <p:sp>
        <p:nvSpPr>
          <p:cNvPr id="56" name="dot-0422">
            <a:extLst xmlns:a="http://schemas.openxmlformats.org/drawingml/2006/main">
              <a:ext uri="{FF2B5EF4-FFF2-40B4-BE49-F238E27FC236}">
                <a16:creationId xmlns:a16="http://schemas.microsoft.com/office/drawing/2014/main" id="{19EFCBA5-0862-4749-83CC-DDA5A8E5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686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57" name="bullet-0423">
            <a:extLst xmlns:a="http://schemas.openxmlformats.org/drawingml/2006/main">
              <a:ext uri="{FF2B5EF4-FFF2-40B4-BE49-F238E27FC236}">
                <a16:creationId xmlns:a16="http://schemas.microsoft.com/office/drawing/2014/main" id="{611995C4-79CB-4E38-88F1-8F49DA13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0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形成闭环结论</a:t>
            </a:r>
          </a:p>
        </p:txBody>
      </p:sp>
      <p:sp>
        <p:nvSpPr>
          <p:cNvPr id="58" name="architecture-map-0424">
            <a:extLst xmlns:a="http://schemas.openxmlformats.org/drawingml/2006/main">
              <a:ext uri="{FF2B5EF4-FFF2-40B4-BE49-F238E27FC236}">
                <a16:creationId xmlns:a16="http://schemas.microsoft.com/office/drawing/2014/main" id="{51B570C5-625E-4022-B712-3C895E67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0439400" cy="1390650"/>
          </a:xfrm>
          <a:prstGeom xmlns:a="http://schemas.openxmlformats.org/drawingml/2006/main" prst="roundRect">
            <a:avLst>
              <a:gd name="adj" fmla="val 8219"/>
            </a:avLst>
          </a:prstGeom>
          <a:solidFill xmlns:a="http://schemas.openxmlformats.org/drawingml/2006/main">
            <a:srgbClr val="0A1323"/>
          </a:solidFill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59" name="architecture-map-title-0425">
            <a:extLst xmlns:a="http://schemas.openxmlformats.org/drawingml/2006/main">
              <a:ext uri="{FF2B5EF4-FFF2-40B4-BE49-F238E27FC236}">
                <a16:creationId xmlns:a16="http://schemas.microsoft.com/office/drawing/2014/main" id="{868ECBEC-01B1-4C67-A14C-39D02795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720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把方法映射回真实链路</a:t>
            </a:r>
          </a:p>
        </p:txBody>
      </p:sp>
      <p:sp>
        <p:nvSpPr>
          <p:cNvPr id="60" name="node-0426">
            <a:extLst xmlns:a="http://schemas.openxmlformats.org/drawingml/2006/main">
              <a:ext uri="{FF2B5EF4-FFF2-40B4-BE49-F238E27FC236}">
                <a16:creationId xmlns:a16="http://schemas.microsoft.com/office/drawing/2014/main" id="{E2719219-4462-416A-92E9-C5941037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57800"/>
            <a:ext cx="1257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14288">
            <a:solidFill>
              <a:srgbClr val="3B82F6"/>
            </a:solidFill>
            <a:prstDash val="solid"/>
          </a:ln>
        </p:spPr>
      </p:sp>
      <p:sp>
        <p:nvSpPr>
          <p:cNvPr id="61" name="node-label-0427">
            <a:extLst xmlns:a="http://schemas.openxmlformats.org/drawingml/2006/main">
              <a:ext uri="{FF2B5EF4-FFF2-40B4-BE49-F238E27FC236}">
                <a16:creationId xmlns:a16="http://schemas.microsoft.com/office/drawing/2014/main" id="{D803CFCA-7A24-41D0-B81A-55C53B19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76850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Client</a:t>
            </a:r>
          </a:p>
        </p:txBody>
      </p:sp>
      <p:sp>
        <p:nvSpPr>
          <p:cNvPr id="62" name="node-0428">
            <a:extLst xmlns:a="http://schemas.openxmlformats.org/drawingml/2006/main">
              <a:ext uri="{FF2B5EF4-FFF2-40B4-BE49-F238E27FC236}">
                <a16:creationId xmlns:a16="http://schemas.microsoft.com/office/drawing/2014/main" id="{B75299B6-F105-4508-8DE4-9257CE1A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578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41642"/>
          </a:solidFill>
          <a:ln xmlns:a="http://schemas.openxmlformats.org/drawingml/2006/main" w="14288">
            <a:solidFill>
              <a:srgbClr val="7C3AED"/>
            </a:solidFill>
            <a:prstDash val="solid"/>
          </a:ln>
        </p:spPr>
      </p:sp>
      <p:sp>
        <p:nvSpPr>
          <p:cNvPr id="63" name="node-label-0429">
            <a:extLst xmlns:a="http://schemas.openxmlformats.org/drawingml/2006/main">
              <a:ext uri="{FF2B5EF4-FFF2-40B4-BE49-F238E27FC236}">
                <a16:creationId xmlns:a16="http://schemas.microsoft.com/office/drawing/2014/main" id="{D15C8C2E-B447-49A8-B74C-7CCE1D0D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27685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Proxy</a:t>
            </a:r>
          </a:p>
        </p:txBody>
      </p:sp>
      <p:sp>
        <p:nvSpPr>
          <p:cNvPr id="64" name="node-0430">
            <a:extLst xmlns:a="http://schemas.openxmlformats.org/drawingml/2006/main">
              <a:ext uri="{FF2B5EF4-FFF2-40B4-BE49-F238E27FC236}">
                <a16:creationId xmlns:a16="http://schemas.microsoft.com/office/drawing/2014/main" id="{55FAA35E-F489-4F30-B8A9-8CAABD36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25780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51B0D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</p:sp>
      <p:sp>
        <p:nvSpPr>
          <p:cNvPr id="65" name="node-label-0431">
            <a:extLst xmlns:a="http://schemas.openxmlformats.org/drawingml/2006/main">
              <a:ext uri="{FF2B5EF4-FFF2-40B4-BE49-F238E27FC236}">
                <a16:creationId xmlns:a16="http://schemas.microsoft.com/office/drawing/2014/main" id="{4D84B87B-7CDA-426B-A10E-CB358B9A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7685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Shard</a:t>
            </a:r>
          </a:p>
        </p:txBody>
      </p:sp>
      <p:cxnSp>
        <p:nvCxnSpPr>
          <p:cNvPr id="138" name=""/>
          <p:cNvCxnSpPr>
            <a:stCxn xmlns:a="http://schemas.openxmlformats.org/drawingml/2006/main" id="60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2743200" y="5486400"/>
            <a:ext cx="2114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A5FA"/>
            </a:solidFill>
            <a:prstDash val="solid"/>
            <a:headEnd type="none" w="med" len="med"/>
          </a:ln>
        </p:spPr>
      </p:cxnSp>
      <p:cxnSp>
        <p:nvCxnSpPr>
          <p:cNvPr id="139" name=""/>
          <p:cNvCxnSpPr>
            <a:stCxn xmlns:a="http://schemas.openxmlformats.org/drawingml/2006/main" id="62" idx="3"/>
            <a:endCxn xmlns:a="http://schemas.openxmlformats.org/drawingml/2006/main" id="64" idx="1"/>
          </p:cNvCxnSpPr>
          <p:nvPr/>
        </p:nvCxnSpPr>
        <p:spPr>
          <a:xfrm xmlns:a="http://schemas.openxmlformats.org/drawingml/2006/main">
            <a:off x="6286500" y="5486400"/>
            <a:ext cx="2171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2D3EE"/>
            </a:solidFill>
            <a:prstDash val="solid"/>
            <a:headEnd type="none" w="med" len="med"/>
          </a:ln>
        </p:spPr>
      </p:cxnSp>
      <p:sp>
        <p:nvSpPr>
          <p:cNvPr id="68" name="chevron-0432">
            <a:extLst xmlns:a="http://schemas.openxmlformats.org/drawingml/2006/main">
              <a:ext uri="{FF2B5EF4-FFF2-40B4-BE49-F238E27FC236}">
                <a16:creationId xmlns:a16="http://schemas.microsoft.com/office/drawing/2014/main" id="{AB59677C-1005-4E26-BCBD-0652791A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3800" y="5400675"/>
            <a:ext cx="1143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0A5FA"/>
          </a:solidFill>
          <a:ln xmlns:a="http://schemas.openxmlformats.org/drawingml/2006/main" w="4763">
            <a:solidFill>
              <a:srgbClr val="60A5FA"/>
            </a:solidFill>
            <a:prstDash val="solid"/>
          </a:ln>
        </p:spPr>
      </p:sp>
      <p:sp>
        <p:nvSpPr>
          <p:cNvPr id="69" name="chevron-0433">
            <a:extLst xmlns:a="http://schemas.openxmlformats.org/drawingml/2006/main">
              <a:ext uri="{FF2B5EF4-FFF2-40B4-BE49-F238E27FC236}">
                <a16:creationId xmlns:a16="http://schemas.microsoft.com/office/drawing/2014/main" id="{47C6D6F1-6A86-4592-9C2B-D07AB775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5400675"/>
            <a:ext cx="1143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4763">
            <a:solidFill>
              <a:srgbClr val="22D3EE"/>
            </a:solidFill>
            <a:prstDash val="solid"/>
          </a:ln>
        </p:spPr>
      </p:sp>
      <p:sp>
        <p:nvSpPr>
          <p:cNvPr id="70" name="architecture-metric-0434">
            <a:extLst xmlns:a="http://schemas.openxmlformats.org/drawingml/2006/main">
              <a:ext uri="{FF2B5EF4-FFF2-40B4-BE49-F238E27FC236}">
                <a16:creationId xmlns:a16="http://schemas.microsoft.com/office/drawing/2014/main" id="{A600DB69-9572-4F21-AEC1-40D2A4CD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911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总耗时 / Stage 1～4</a:t>
            </a:r>
          </a:p>
        </p:txBody>
      </p:sp>
      <p:sp>
        <p:nvSpPr>
          <p:cNvPr id="71" name="architecture-metric-0435">
            <a:extLst xmlns:a="http://schemas.openxmlformats.org/drawingml/2006/main">
              <a:ext uri="{FF2B5EF4-FFF2-40B4-BE49-F238E27FC236}">
                <a16:creationId xmlns:a16="http://schemas.microsoft.com/office/drawing/2014/main" id="{FCBF7376-57A4-48B5-A18F-242D5204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91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TOTAL / EXEC</a:t>
            </a:r>
          </a:p>
        </p:txBody>
      </p:sp>
      <p:sp>
        <p:nvSpPr>
          <p:cNvPr id="72" name="line-0436">
            <a:extLst xmlns:a="http://schemas.openxmlformats.org/drawingml/2006/main">
              <a:ext uri="{FF2B5EF4-FFF2-40B4-BE49-F238E27FC236}">
                <a16:creationId xmlns:a16="http://schemas.microsoft.com/office/drawing/2014/main" id="{604D3565-6059-4894-A417-3F42F871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848350"/>
            <a:ext cx="478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60A5FA"/>
            </a:solidFill>
            <a:prstDash val="dash"/>
          </a:ln>
        </p:spPr>
      </p:sp>
      <p:sp>
        <p:nvSpPr>
          <p:cNvPr id="73" name="space-distribution-0437">
            <a:extLst xmlns:a="http://schemas.openxmlformats.org/drawingml/2006/main">
              <a:ext uri="{FF2B5EF4-FFF2-40B4-BE49-F238E27FC236}">
                <a16:creationId xmlns:a16="http://schemas.microsoft.com/office/drawing/2014/main" id="{B274617B-13BC-471A-A3C5-495F433E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810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Proxy × Shard 空间分布</a:t>
            </a:r>
          </a:p>
        </p:txBody>
      </p:sp>
    </p:spTree>
    <p:extLst>
      <p:ext uri="{BB962C8B-B14F-4D97-AF65-F5344CB8AC3E}">
        <p14:creationId xmlns:p14="http://schemas.microsoft.com/office/powerpoint/2010/main" val="8166716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74D968F-3F1B-4A27-BEA7-6A4D65F5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6"/>
          </a:solidFill>
          <a:ln xmlns:a="http://schemas.openxmlformats.org/drawingml/2006/main" w="12700">
            <a:solidFill>
              <a:srgbClr val="070B1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AA44197-78B4-40E5-97B5-0963C4CE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221EC3A-D975-482F-ABBF-7E22B213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"/>
            <a:ext cx="1219169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5" name="section-0438">
            <a:extLst xmlns:a="http://schemas.openxmlformats.org/drawingml/2006/main">
              <a:ext uri="{FF2B5EF4-FFF2-40B4-BE49-F238E27FC236}">
                <a16:creationId xmlns:a16="http://schemas.microsoft.com/office/drawing/2014/main" id="{71319DB7-F31E-4AB5-AC1D-EF42F530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PART 3 · 排查方法</a:t>
            </a:r>
          </a:p>
        </p:txBody>
      </p:sp>
      <p:sp>
        <p:nvSpPr>
          <p:cNvPr id="6" name="page-top-0439">
            <a:extLst xmlns:a="http://schemas.openxmlformats.org/drawingml/2006/main">
              <a:ext uri="{FF2B5EF4-FFF2-40B4-BE49-F238E27FC236}">
                <a16:creationId xmlns:a16="http://schemas.microsoft.com/office/drawing/2014/main" id="{31934386-0C22-4A53-9AF8-92F048B0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  <p:sp>
        <p:nvSpPr>
          <p:cNvPr id="7" name="title-0440">
            <a:extLst xmlns:a="http://schemas.openxmlformats.org/drawingml/2006/main">
              <a:ext uri="{FF2B5EF4-FFF2-40B4-BE49-F238E27FC236}">
                <a16:creationId xmlns:a16="http://schemas.microsoft.com/office/drawing/2014/main" id="{3EF2E174-7375-48F0-BEFA-F4EE123D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先定位慢在哪一段，再判断影响哪些节点</a:t>
            </a:r>
          </a:p>
        </p:txBody>
      </p:sp>
      <p:sp>
        <p:nvSpPr>
          <p:cNvPr id="8" name="line-0441">
            <a:extLst xmlns:a="http://schemas.openxmlformats.org/drawingml/2006/main">
              <a:ext uri="{FF2B5EF4-FFF2-40B4-BE49-F238E27FC236}">
                <a16:creationId xmlns:a16="http://schemas.microsoft.com/office/drawing/2014/main" id="{7C571AEF-9065-45D6-9548-1853FB73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9" name="decision-panel-0442">
            <a:extLst xmlns:a="http://schemas.openxmlformats.org/drawingml/2006/main">
              <a:ext uri="{FF2B5EF4-FFF2-40B4-BE49-F238E27FC236}">
                <a16:creationId xmlns:a16="http://schemas.microsoft.com/office/drawing/2014/main" id="{18423209-DFF4-449A-8E20-D408A974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6667500" cy="4953000"/>
          </a:xfrm>
          <a:prstGeom xmlns:a="http://schemas.openxmlformats.org/drawingml/2006/main" prst="roundRect">
            <a:avLst>
              <a:gd name="adj" fmla="val 2308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1430">
            <a:solidFill>
              <a:srgbClr val="263750"/>
            </a:solidFill>
            <a:prstDash val="solid"/>
          </a:ln>
        </p:spPr>
      </p:sp>
      <p:sp>
        <p:nvSpPr>
          <p:cNvPr id="10" name="pill-0443">
            <a:extLst xmlns:a="http://schemas.openxmlformats.org/drawingml/2006/main">
              <a:ext uri="{FF2B5EF4-FFF2-40B4-BE49-F238E27FC236}">
                <a16:creationId xmlns:a16="http://schemas.microsoft.com/office/drawing/2014/main" id="{592D31FE-79AF-4148-86C6-A3285350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390650"/>
            <a:ext cx="2667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11430">
            <a:solidFill>
              <a:srgbClr val="60A5FA"/>
            </a:solidFill>
            <a:prstDash val="solid"/>
          </a:ln>
        </p:spPr>
      </p:sp>
      <p:sp>
        <p:nvSpPr>
          <p:cNvPr id="11" name="pill-label-0444">
            <a:extLst xmlns:a="http://schemas.openxmlformats.org/drawingml/2006/main">
              <a:ext uri="{FF2B5EF4-FFF2-40B4-BE49-F238E27FC236}">
                <a16:creationId xmlns:a16="http://schemas.microsoft.com/office/drawing/2014/main" id="{F786F27D-973F-4E27-BDA2-5944BC8A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409700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业务端到端 P99 高</a:t>
            </a:r>
          </a:p>
        </p:txBody>
      </p:sp>
      <p:sp>
        <p:nvSpPr>
          <p:cNvPr id="12" name="chevron-0445">
            <a:extLst xmlns:a="http://schemas.openxmlformats.org/drawingml/2006/main">
              <a:ext uri="{FF2B5EF4-FFF2-40B4-BE49-F238E27FC236}">
                <a16:creationId xmlns:a16="http://schemas.microsoft.com/office/drawing/2014/main" id="{020C3016-E276-44DE-912F-427C8F6F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76650" y="1752600"/>
            <a:ext cx="1524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13" name="decision-0446">
            <a:extLst xmlns:a="http://schemas.openxmlformats.org/drawingml/2006/main">
              <a:ext uri="{FF2B5EF4-FFF2-40B4-BE49-F238E27FC236}">
                <a16:creationId xmlns:a16="http://schemas.microsoft.com/office/drawing/2014/main" id="{DFF381C8-7078-4281-A6A3-D166C34C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00250"/>
            <a:ext cx="3429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41642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14" name="decision-text-0447">
            <a:extLst xmlns:a="http://schemas.openxmlformats.org/drawingml/2006/main">
              <a:ext uri="{FF2B5EF4-FFF2-40B4-BE49-F238E27FC236}">
                <a16:creationId xmlns:a16="http://schemas.microsoft.com/office/drawing/2014/main" id="{C0F35779-0D73-450D-9238-540EFF3B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5740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Proxy 总耗时是否升高？</a:t>
            </a:r>
          </a:p>
        </p:txBody>
      </p:sp>
      <p:sp>
        <p:nvSpPr>
          <p:cNvPr id="15" name="line-0448">
            <a:extLst xmlns:a="http://schemas.openxmlformats.org/drawingml/2006/main">
              <a:ext uri="{FF2B5EF4-FFF2-40B4-BE49-F238E27FC236}">
                <a16:creationId xmlns:a16="http://schemas.microsoft.com/office/drawing/2014/main" id="{EBAE329F-9EED-44B3-8FB8-B26E115B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09800"/>
            <a:ext cx="-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34766"/>
            </a:solidFill>
            <a:prstDash val="solid"/>
          </a:ln>
        </p:spPr>
      </p:sp>
      <p:sp>
        <p:nvSpPr>
          <p:cNvPr id="16" name="line-0449">
            <a:extLst xmlns:a="http://schemas.openxmlformats.org/drawingml/2006/main">
              <a:ext uri="{FF2B5EF4-FFF2-40B4-BE49-F238E27FC236}">
                <a16:creationId xmlns:a16="http://schemas.microsoft.com/office/drawing/2014/main" id="{00A8754F-C864-4A16-8C9D-03347953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98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334766"/>
            </a:solidFill>
            <a:prstDash val="solid"/>
          </a:ln>
        </p:spPr>
      </p:sp>
      <p:sp>
        <p:nvSpPr>
          <p:cNvPr id="17" name="branch-no-0450">
            <a:extLst xmlns:a="http://schemas.openxmlformats.org/drawingml/2006/main">
              <a:ext uri="{FF2B5EF4-FFF2-40B4-BE49-F238E27FC236}">
                <a16:creationId xmlns:a16="http://schemas.microsoft.com/office/drawing/2014/main" id="{D3EE7D49-E677-446A-9F20-FAA7ACAC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050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18" name="outside-boundary-0451">
            <a:extLst xmlns:a="http://schemas.openxmlformats.org/drawingml/2006/main">
              <a:ext uri="{FF2B5EF4-FFF2-40B4-BE49-F238E27FC236}">
                <a16:creationId xmlns:a16="http://schemas.microsoft.com/office/drawing/2014/main" id="{F55F8793-47FC-465E-9618-598AA274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476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B1E33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9" name="outside-boundary-text-0452">
            <a:extLst xmlns:a="http://schemas.openxmlformats.org/drawingml/2006/main">
              <a:ext uri="{FF2B5EF4-FFF2-40B4-BE49-F238E27FC236}">
                <a16:creationId xmlns:a16="http://schemas.microsoft.com/office/drawing/2014/main" id="{8A36CF65-EF84-43DD-86BF-11229698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2247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Client / 连接池 / LB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350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外部网络 / 统计口径</a:t>
            </a:r>
          </a:p>
        </p:txBody>
      </p:sp>
      <p:sp>
        <p:nvSpPr>
          <p:cNvPr id="20" name="branch-yes-0453">
            <a:extLst xmlns:a="http://schemas.openxmlformats.org/drawingml/2006/main">
              <a:ext uri="{FF2B5EF4-FFF2-40B4-BE49-F238E27FC236}">
                <a16:creationId xmlns:a16="http://schemas.microsoft.com/office/drawing/2014/main" id="{F163DA13-B8FA-4FC7-AD21-48E5183D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050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是</a:t>
            </a:r>
          </a:p>
        </p:txBody>
      </p:sp>
      <p:sp>
        <p:nvSpPr>
          <p:cNvPr id="21" name="chevron-0454">
            <a:extLst xmlns:a="http://schemas.openxmlformats.org/drawingml/2006/main">
              <a:ext uri="{FF2B5EF4-FFF2-40B4-BE49-F238E27FC236}">
                <a16:creationId xmlns:a16="http://schemas.microsoft.com/office/drawing/2014/main" id="{E85E2772-F991-446E-AD28-0758059F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676650" y="2495550"/>
            <a:ext cx="1524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22" name="stage-question-0455">
            <a:extLst xmlns:a="http://schemas.openxmlformats.org/drawingml/2006/main">
              <a:ext uri="{FF2B5EF4-FFF2-40B4-BE49-F238E27FC236}">
                <a16:creationId xmlns:a16="http://schemas.microsoft.com/office/drawing/2014/main" id="{C1DB9848-5A06-4FA6-970C-9DD54AC3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3352800" cy="112395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14152A"/>
          </a:solidFill>
          <a:ln xmlns:a="http://schemas.openxmlformats.org/drawingml/2006/main" w="10478">
            <a:solidFill>
              <a:srgbClr val="7C3AED"/>
            </a:solidFill>
            <a:prstDash val="solid"/>
          </a:ln>
        </p:spPr>
      </p:sp>
      <p:sp>
        <p:nvSpPr>
          <p:cNvPr id="23" name="stage-title-0456">
            <a:extLst xmlns:a="http://schemas.openxmlformats.org/drawingml/2006/main">
              <a:ext uri="{FF2B5EF4-FFF2-40B4-BE49-F238E27FC236}">
                <a16:creationId xmlns:a16="http://schemas.microsoft.com/office/drawing/2014/main" id="{55676374-3913-4209-B5CF-4169AEA5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7655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哪个 Proxy 阶段升高？</a:t>
            </a:r>
          </a:p>
        </p:txBody>
      </p:sp>
      <p:sp>
        <p:nvSpPr>
          <p:cNvPr id="24" name="stage-short-branches-0457">
            <a:extLst xmlns:a="http://schemas.openxmlformats.org/drawingml/2006/main">
              <a:ext uri="{FF2B5EF4-FFF2-40B4-BE49-F238E27FC236}">
                <a16:creationId xmlns:a16="http://schemas.microsoft.com/office/drawing/2014/main" id="{B5754991-EA69-457A-9188-1C9674C0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813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阶段一 → 接收 / 解析 / 预处理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阶段三 → 回包队列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阶段四 → Client 方向回包发送</a:t>
            </a:r>
          </a:p>
        </p:txBody>
      </p:sp>
      <p:sp>
        <p:nvSpPr>
          <p:cNvPr id="25" name="pill-0458">
            <a:extLst xmlns:a="http://schemas.openxmlformats.org/drawingml/2006/main">
              <a:ext uri="{FF2B5EF4-FFF2-40B4-BE49-F238E27FC236}">
                <a16:creationId xmlns:a16="http://schemas.microsoft.com/office/drawing/2014/main" id="{46EFE1FC-2FF5-4B17-9C89-61549888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1828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1"/>
          </a:solidFill>
          <a:ln xmlns:a="http://schemas.openxmlformats.org/drawingml/2006/main" w="11430">
            <a:solidFill>
              <a:srgbClr val="22D3EE"/>
            </a:solidFill>
            <a:prstDash val="solid"/>
          </a:ln>
        </p:spPr>
      </p:sp>
      <p:sp>
        <p:nvSpPr>
          <p:cNvPr id="26" name="pill-label-0459">
            <a:extLst xmlns:a="http://schemas.openxmlformats.org/drawingml/2006/main">
              <a:ext uri="{FF2B5EF4-FFF2-40B4-BE49-F238E27FC236}">
                <a16:creationId xmlns:a16="http://schemas.microsoft.com/office/drawing/2014/main" id="{28778336-EF0A-49BC-892E-C6767A3F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阶段二继续下钻</a:t>
            </a:r>
          </a:p>
        </p:txBody>
      </p:sp>
      <p:sp>
        <p:nvSpPr>
          <p:cNvPr id="27" name="chevron-0460">
            <a:extLst xmlns:a="http://schemas.openxmlformats.org/drawingml/2006/main">
              <a:ext uri="{FF2B5EF4-FFF2-40B4-BE49-F238E27FC236}">
                <a16:creationId xmlns:a16="http://schemas.microsoft.com/office/drawing/2014/main" id="{B1E2BBCC-C3E0-4251-9B93-4C6D0874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24500" y="4286250"/>
            <a:ext cx="1524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28" name="total-question-0461">
            <a:extLst xmlns:a="http://schemas.openxmlformats.org/drawingml/2006/main">
              <a:ext uri="{FF2B5EF4-FFF2-40B4-BE49-F238E27FC236}">
                <a16:creationId xmlns:a16="http://schemas.microsoft.com/office/drawing/2014/main" id="{EBDFCAB5-493F-4512-A2B5-9FB88CA8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52950"/>
            <a:ext cx="285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3220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29" name="total-question-text-0462">
            <a:extLst xmlns:a="http://schemas.openxmlformats.org/drawingml/2006/main">
              <a:ext uri="{FF2B5EF4-FFF2-40B4-BE49-F238E27FC236}">
                <a16:creationId xmlns:a16="http://schemas.microsoft.com/office/drawing/2014/main" id="{188E54DE-4238-44EE-8A8B-0165C1F0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610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Shard TOTAL 是否同步升高？</a:t>
            </a:r>
          </a:p>
        </p:txBody>
      </p:sp>
      <p:sp>
        <p:nvSpPr>
          <p:cNvPr id="30" name="line-0463">
            <a:extLst xmlns:a="http://schemas.openxmlformats.org/drawingml/2006/main">
              <a:ext uri="{FF2B5EF4-FFF2-40B4-BE49-F238E27FC236}">
                <a16:creationId xmlns:a16="http://schemas.microsoft.com/office/drawing/2014/main" id="{5CBD03F6-0E60-42F7-9F08-DD57DBA9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52975"/>
            <a:ext cx="-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34766"/>
            </a:solidFill>
            <a:prstDash val="solid"/>
          </a:ln>
        </p:spPr>
      </p:sp>
      <p:sp>
        <p:nvSpPr>
          <p:cNvPr id="31" name="total-no-0464">
            <a:extLst xmlns:a="http://schemas.openxmlformats.org/drawingml/2006/main">
              <a:ext uri="{FF2B5EF4-FFF2-40B4-BE49-F238E27FC236}">
                <a16:creationId xmlns:a16="http://schemas.microsoft.com/office/drawing/2014/main" id="{D0BC771F-3FC3-40E0-BA65-F07780B3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482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否 → 优先查 RPC / 网络 / 时间对齐</a:t>
            </a:r>
          </a:p>
        </p:txBody>
      </p:sp>
      <p:sp>
        <p:nvSpPr>
          <p:cNvPr id="32" name="chevron-0465">
            <a:extLst xmlns:a="http://schemas.openxmlformats.org/drawingml/2006/main">
              <a:ext uri="{FF2B5EF4-FFF2-40B4-BE49-F238E27FC236}">
                <a16:creationId xmlns:a16="http://schemas.microsoft.com/office/drawing/2014/main" id="{6728D775-C530-4E81-BE2E-E105958B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105400" y="5010150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34766"/>
          </a:solidFill>
          <a:ln xmlns:a="http://schemas.openxmlformats.org/drawingml/2006/main" w="4763">
            <a:solidFill>
              <a:srgbClr val="334766"/>
            </a:solidFill>
            <a:prstDash val="solid"/>
          </a:ln>
        </p:spPr>
      </p:sp>
      <p:sp>
        <p:nvSpPr>
          <p:cNvPr id="33" name="exec-question-0466">
            <a:extLst xmlns:a="http://schemas.openxmlformats.org/drawingml/2006/main">
              <a:ext uri="{FF2B5EF4-FFF2-40B4-BE49-F238E27FC236}">
                <a16:creationId xmlns:a16="http://schemas.microsoft.com/office/drawing/2014/main" id="{92C48783-5E4C-4055-877C-31032531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38750"/>
            <a:ext cx="3238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41642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4" name="exec-question-text-0467">
            <a:extLst xmlns:a="http://schemas.openxmlformats.org/drawingml/2006/main">
              <a:ext uri="{FF2B5EF4-FFF2-40B4-BE49-F238E27FC236}">
                <a16:creationId xmlns:a16="http://schemas.microsoft.com/office/drawing/2014/main" id="{5DC973E9-3421-4EFD-A639-F9231CAD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2959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EXEC 显著升高，且量级 / 增量可比？</a:t>
            </a:r>
          </a:p>
        </p:txBody>
      </p:sp>
      <p:sp>
        <p:nvSpPr>
          <p:cNvPr id="35" name="exec-yes-0468">
            <a:extLst xmlns:a="http://schemas.openxmlformats.org/drawingml/2006/main">
              <a:ext uri="{FF2B5EF4-FFF2-40B4-BE49-F238E27FC236}">
                <a16:creationId xmlns:a16="http://schemas.microsoft.com/office/drawing/2014/main" id="{CAE214A5-6444-408D-A9DD-1F1BE404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72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是 → 优先验证实际执行路径</a:t>
            </a:r>
          </a:p>
        </p:txBody>
      </p:sp>
      <p:sp>
        <p:nvSpPr>
          <p:cNvPr id="36" name="exec-no-0469">
            <a:extLst xmlns:a="http://schemas.openxmlformats.org/drawingml/2006/main">
              <a:ext uri="{FF2B5EF4-FFF2-40B4-BE49-F238E27FC236}">
                <a16:creationId xmlns:a16="http://schemas.microsoft.com/office/drawing/2014/main" id="{3D164FEF-82E9-4DCC-A6F4-F0B0D837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772150"/>
            <a:ext cx="2628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否 → 优先验证非 EXEC 区间</a:t>
            </a:r>
          </a:p>
        </p:txBody>
      </p:sp>
      <p:sp>
        <p:nvSpPr>
          <p:cNvPr id="37" name="heatmap-guide-0470">
            <a:extLst xmlns:a="http://schemas.openxmlformats.org/drawingml/2006/main">
              <a:ext uri="{FF2B5EF4-FFF2-40B4-BE49-F238E27FC236}">
                <a16:creationId xmlns:a16="http://schemas.microsoft.com/office/drawing/2014/main" id="{7C6EF8CD-DA64-4F65-AB18-D42F04AA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19200"/>
            <a:ext cx="443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空间范围：行 = Proxy ｜ 列 = Shard</a:t>
            </a:r>
          </a:p>
        </p:txBody>
      </p:sp>
      <p:sp>
        <p:nvSpPr>
          <p:cNvPr id="38" name="heat-title-0471">
            <a:extLst xmlns:a="http://schemas.openxmlformats.org/drawingml/2006/main">
              <a:ext uri="{FF2B5EF4-FFF2-40B4-BE49-F238E27FC236}">
                <a16:creationId xmlns:a16="http://schemas.microsoft.com/office/drawing/2014/main" id="{0D784A8F-C202-4BD9-91E0-9EDF7E36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581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全部单元格变热</a:t>
            </a:r>
          </a:p>
        </p:txBody>
      </p:sp>
      <p:sp>
        <p:nvSpPr>
          <p:cNvPr id="39" name="heat-subtitle-0472">
            <a:extLst xmlns:a="http://schemas.openxmlformats.org/drawingml/2006/main">
              <a:ext uri="{FF2B5EF4-FFF2-40B4-BE49-F238E27FC236}">
                <a16:creationId xmlns:a16="http://schemas.microsoft.com/office/drawing/2014/main" id="{AA4DB5B5-DB49-4072-946D-B606CCA8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192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全局负载或共享基础设施</a:t>
            </a:r>
          </a:p>
        </p:txBody>
      </p:sp>
      <p:sp>
        <p:nvSpPr>
          <p:cNvPr id="40" name="heat-col-0473">
            <a:extLst xmlns:a="http://schemas.openxmlformats.org/drawingml/2006/main">
              <a:ext uri="{FF2B5EF4-FFF2-40B4-BE49-F238E27FC236}">
                <a16:creationId xmlns:a16="http://schemas.microsoft.com/office/drawing/2014/main" id="{719F6B98-3E7E-4912-9ADE-25ADD58F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574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rPr>
              <a:t>Shard →</a:t>
            </a:r>
          </a:p>
        </p:txBody>
      </p:sp>
      <p:sp>
        <p:nvSpPr>
          <p:cNvPr id="41" name="heat-cell-0474">
            <a:extLst xmlns:a="http://schemas.openxmlformats.org/drawingml/2006/main">
              <a:ext uri="{FF2B5EF4-FFF2-40B4-BE49-F238E27FC236}">
                <a16:creationId xmlns:a16="http://schemas.microsoft.com/office/drawing/2014/main" id="{5DC5A6C1-1942-4F79-9348-3B1CCD5F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479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42" name="heat-cell-0475">
            <a:extLst xmlns:a="http://schemas.openxmlformats.org/drawingml/2006/main">
              <a:ext uri="{FF2B5EF4-FFF2-40B4-BE49-F238E27FC236}">
                <a16:creationId xmlns:a16="http://schemas.microsoft.com/office/drawing/2014/main" id="{EA4E427A-6003-480B-989F-5F228C12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479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43" name="heat-cell-0476">
            <a:extLst xmlns:a="http://schemas.openxmlformats.org/drawingml/2006/main">
              <a:ext uri="{FF2B5EF4-FFF2-40B4-BE49-F238E27FC236}">
                <a16:creationId xmlns:a16="http://schemas.microsoft.com/office/drawing/2014/main" id="{C8543931-D15E-4B7E-8A17-8FC73B38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479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44" name="heat-cell-0477">
            <a:extLst xmlns:a="http://schemas.openxmlformats.org/drawingml/2006/main">
              <a:ext uri="{FF2B5EF4-FFF2-40B4-BE49-F238E27FC236}">
                <a16:creationId xmlns:a16="http://schemas.microsoft.com/office/drawing/2014/main" id="{821F5059-971F-4143-B93A-616C2817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45" name="heat-cell-0478">
            <a:extLst xmlns:a="http://schemas.openxmlformats.org/drawingml/2006/main">
              <a:ext uri="{FF2B5EF4-FFF2-40B4-BE49-F238E27FC236}">
                <a16:creationId xmlns:a16="http://schemas.microsoft.com/office/drawing/2014/main" id="{49A41342-E2DF-4131-8009-69D51B7D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765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46" name="heat-cell-0479">
            <a:extLst xmlns:a="http://schemas.openxmlformats.org/drawingml/2006/main">
              <a:ext uri="{FF2B5EF4-FFF2-40B4-BE49-F238E27FC236}">
                <a16:creationId xmlns:a16="http://schemas.microsoft.com/office/drawing/2014/main" id="{0B107FA9-15DF-41C2-A0B4-A3851B14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765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47" name="heat-cell-0480">
            <a:extLst xmlns:a="http://schemas.openxmlformats.org/drawingml/2006/main">
              <a:ext uri="{FF2B5EF4-FFF2-40B4-BE49-F238E27FC236}">
                <a16:creationId xmlns:a16="http://schemas.microsoft.com/office/drawing/2014/main" id="{0509F37D-D785-45FF-BF72-AC0C0FB9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48" name="heat-cell-0481">
            <a:extLst xmlns:a="http://schemas.openxmlformats.org/drawingml/2006/main">
              <a:ext uri="{FF2B5EF4-FFF2-40B4-BE49-F238E27FC236}">
                <a16:creationId xmlns:a16="http://schemas.microsoft.com/office/drawing/2014/main" id="{6995E050-6D5D-4ECC-AEE1-83668981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49" name="heat-cell-0482">
            <a:extLst xmlns:a="http://schemas.openxmlformats.org/drawingml/2006/main">
              <a:ext uri="{FF2B5EF4-FFF2-40B4-BE49-F238E27FC236}">
                <a16:creationId xmlns:a16="http://schemas.microsoft.com/office/drawing/2014/main" id="{83543049-47A3-4B3B-8B25-52A10923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051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50" name="heat-cell-0483">
            <a:extLst xmlns:a="http://schemas.openxmlformats.org/drawingml/2006/main">
              <a:ext uri="{FF2B5EF4-FFF2-40B4-BE49-F238E27FC236}">
                <a16:creationId xmlns:a16="http://schemas.microsoft.com/office/drawing/2014/main" id="{312EB90C-E022-4E15-A0CE-CC436901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051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51" name="heat-cell-0484">
            <a:extLst xmlns:a="http://schemas.openxmlformats.org/drawingml/2006/main">
              <a:ext uri="{FF2B5EF4-FFF2-40B4-BE49-F238E27FC236}">
                <a16:creationId xmlns:a16="http://schemas.microsoft.com/office/drawing/2014/main" id="{69BCCCBF-FE38-462A-BA5C-376BEA78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051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52" name="heat-cell-0485">
            <a:extLst xmlns:a="http://schemas.openxmlformats.org/drawingml/2006/main">
              <a:ext uri="{FF2B5EF4-FFF2-40B4-BE49-F238E27FC236}">
                <a16:creationId xmlns:a16="http://schemas.microsoft.com/office/drawing/2014/main" id="{FBE357C1-8C84-4774-B48F-8C9EFFA0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53" name="heat-cell-0486">
            <a:extLst xmlns:a="http://schemas.openxmlformats.org/drawingml/2006/main">
              <a:ext uri="{FF2B5EF4-FFF2-40B4-BE49-F238E27FC236}">
                <a16:creationId xmlns:a16="http://schemas.microsoft.com/office/drawing/2014/main" id="{B6AAD29A-F9BC-458B-9E2F-93B226A1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337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54" name="heat-cell-0487">
            <a:extLst xmlns:a="http://schemas.openxmlformats.org/drawingml/2006/main">
              <a:ext uri="{FF2B5EF4-FFF2-40B4-BE49-F238E27FC236}">
                <a16:creationId xmlns:a16="http://schemas.microsoft.com/office/drawing/2014/main" id="{18CD3DD3-C0EB-4DDE-B4F8-4626163A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337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55" name="heat-cell-0488">
            <a:extLst xmlns:a="http://schemas.openxmlformats.org/drawingml/2006/main">
              <a:ext uri="{FF2B5EF4-FFF2-40B4-BE49-F238E27FC236}">
                <a16:creationId xmlns:a16="http://schemas.microsoft.com/office/drawing/2014/main" id="{0210037C-7A42-4E59-B09B-9551E1B1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337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56" name="heat-cell-0489">
            <a:extLst xmlns:a="http://schemas.openxmlformats.org/drawingml/2006/main">
              <a:ext uri="{FF2B5EF4-FFF2-40B4-BE49-F238E27FC236}">
                <a16:creationId xmlns:a16="http://schemas.microsoft.com/office/drawing/2014/main" id="{B99B7759-FA47-41D7-8BD6-9B869794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337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57" name="heat-title-0490">
            <a:extLst xmlns:a="http://schemas.openxmlformats.org/drawingml/2006/main">
              <a:ext uri="{FF2B5EF4-FFF2-40B4-BE49-F238E27FC236}">
                <a16:creationId xmlns:a16="http://schemas.microsoft.com/office/drawing/2014/main" id="{E748C5F3-65E8-4729-AC13-6A8DF01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581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一整行变热</a:t>
            </a:r>
          </a:p>
        </p:txBody>
      </p:sp>
      <p:sp>
        <p:nvSpPr>
          <p:cNvPr id="58" name="heat-subtitle-0491">
            <a:extLst xmlns:a="http://schemas.openxmlformats.org/drawingml/2006/main">
              <a:ext uri="{FF2B5EF4-FFF2-40B4-BE49-F238E27FC236}">
                <a16:creationId xmlns:a16="http://schemas.microsoft.com/office/drawing/2014/main" id="{08C506D1-5862-4235-8832-F88127B57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192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单 Proxy 或其所在主机</a:t>
            </a:r>
          </a:p>
        </p:txBody>
      </p:sp>
      <p:sp>
        <p:nvSpPr>
          <p:cNvPr id="59" name="heat-col-0492">
            <a:extLst xmlns:a="http://schemas.openxmlformats.org/drawingml/2006/main">
              <a:ext uri="{FF2B5EF4-FFF2-40B4-BE49-F238E27FC236}">
                <a16:creationId xmlns:a16="http://schemas.microsoft.com/office/drawing/2014/main" id="{D0168612-CCD4-48B8-AF85-B5BEAC38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574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rPr>
              <a:t>Shard →</a:t>
            </a:r>
          </a:p>
        </p:txBody>
      </p:sp>
      <p:sp>
        <p:nvSpPr>
          <p:cNvPr id="60" name="heat-cell-0493">
            <a:extLst xmlns:a="http://schemas.openxmlformats.org/drawingml/2006/main">
              <a:ext uri="{FF2B5EF4-FFF2-40B4-BE49-F238E27FC236}">
                <a16:creationId xmlns:a16="http://schemas.microsoft.com/office/drawing/2014/main" id="{9691457D-1C27-44D0-A431-789AF833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61" name="heat-cell-0494">
            <a:extLst xmlns:a="http://schemas.openxmlformats.org/drawingml/2006/main">
              <a:ext uri="{FF2B5EF4-FFF2-40B4-BE49-F238E27FC236}">
                <a16:creationId xmlns:a16="http://schemas.microsoft.com/office/drawing/2014/main" id="{198CAC49-8F75-4BDA-9432-5902F054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2479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62" name="heat-cell-0495">
            <a:extLst xmlns:a="http://schemas.openxmlformats.org/drawingml/2006/main">
              <a:ext uri="{FF2B5EF4-FFF2-40B4-BE49-F238E27FC236}">
                <a16:creationId xmlns:a16="http://schemas.microsoft.com/office/drawing/2014/main" id="{94C460F2-2650-4629-8072-EAE87EF8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479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63" name="heat-cell-0496">
            <a:extLst xmlns:a="http://schemas.openxmlformats.org/drawingml/2006/main">
              <a:ext uri="{FF2B5EF4-FFF2-40B4-BE49-F238E27FC236}">
                <a16:creationId xmlns:a16="http://schemas.microsoft.com/office/drawing/2014/main" id="{5CE30078-4027-4FE7-A98F-CECA88A7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2479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64" name="heat-cell-0497">
            <a:extLst xmlns:a="http://schemas.openxmlformats.org/drawingml/2006/main">
              <a:ext uri="{FF2B5EF4-FFF2-40B4-BE49-F238E27FC236}">
                <a16:creationId xmlns:a16="http://schemas.microsoft.com/office/drawing/2014/main" id="{F944C8A1-FD00-4924-8361-895E3A9D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765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65" name="heat-cell-0498">
            <a:extLst xmlns:a="http://schemas.openxmlformats.org/drawingml/2006/main">
              <a:ext uri="{FF2B5EF4-FFF2-40B4-BE49-F238E27FC236}">
                <a16:creationId xmlns:a16="http://schemas.microsoft.com/office/drawing/2014/main" id="{4035D38A-6043-4FF2-A4CD-9E0E9177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765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66" name="heat-cell-0499">
            <a:extLst xmlns:a="http://schemas.openxmlformats.org/drawingml/2006/main">
              <a:ext uri="{FF2B5EF4-FFF2-40B4-BE49-F238E27FC236}">
                <a16:creationId xmlns:a16="http://schemas.microsoft.com/office/drawing/2014/main" id="{DF8B193C-CFE3-4F97-83E9-1CD78579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4765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67" name="heat-cell-0500">
            <a:extLst xmlns:a="http://schemas.openxmlformats.org/drawingml/2006/main">
              <a:ext uri="{FF2B5EF4-FFF2-40B4-BE49-F238E27FC236}">
                <a16:creationId xmlns:a16="http://schemas.microsoft.com/office/drawing/2014/main" id="{197FE922-A1C2-496E-BB69-F9272378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4765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68" name="heat-cell-0501">
            <a:extLst xmlns:a="http://schemas.openxmlformats.org/drawingml/2006/main">
              <a:ext uri="{FF2B5EF4-FFF2-40B4-BE49-F238E27FC236}">
                <a16:creationId xmlns:a16="http://schemas.microsoft.com/office/drawing/2014/main" id="{F32399CB-462E-485B-B531-7181E948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051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69" name="heat-cell-0502">
            <a:extLst xmlns:a="http://schemas.openxmlformats.org/drawingml/2006/main">
              <a:ext uri="{FF2B5EF4-FFF2-40B4-BE49-F238E27FC236}">
                <a16:creationId xmlns:a16="http://schemas.microsoft.com/office/drawing/2014/main" id="{ECC86375-A9C9-4558-89F5-DC8F0AD4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051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70" name="heat-cell-0503">
            <a:extLst xmlns:a="http://schemas.openxmlformats.org/drawingml/2006/main">
              <a:ext uri="{FF2B5EF4-FFF2-40B4-BE49-F238E27FC236}">
                <a16:creationId xmlns:a16="http://schemas.microsoft.com/office/drawing/2014/main" id="{DC4AE6A6-A76E-46BD-883E-167276B4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7051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71" name="heat-cell-0504">
            <a:extLst xmlns:a="http://schemas.openxmlformats.org/drawingml/2006/main">
              <a:ext uri="{FF2B5EF4-FFF2-40B4-BE49-F238E27FC236}">
                <a16:creationId xmlns:a16="http://schemas.microsoft.com/office/drawing/2014/main" id="{6B613CE2-FE7A-4B09-8988-B1EB3CCC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7051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72" name="heat-cell-0505">
            <a:extLst xmlns:a="http://schemas.openxmlformats.org/drawingml/2006/main">
              <a:ext uri="{FF2B5EF4-FFF2-40B4-BE49-F238E27FC236}">
                <a16:creationId xmlns:a16="http://schemas.microsoft.com/office/drawing/2014/main" id="{B779689C-786E-464B-A57C-A2554E21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337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73" name="heat-cell-0506">
            <a:extLst xmlns:a="http://schemas.openxmlformats.org/drawingml/2006/main">
              <a:ext uri="{FF2B5EF4-FFF2-40B4-BE49-F238E27FC236}">
                <a16:creationId xmlns:a16="http://schemas.microsoft.com/office/drawing/2014/main" id="{2F2F0BD1-3FCD-41B1-89A8-45B0AF10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337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74" name="heat-cell-0507">
            <a:extLst xmlns:a="http://schemas.openxmlformats.org/drawingml/2006/main">
              <a:ext uri="{FF2B5EF4-FFF2-40B4-BE49-F238E27FC236}">
                <a16:creationId xmlns:a16="http://schemas.microsoft.com/office/drawing/2014/main" id="{9ECF0F0D-43DD-47AA-AF5E-5641AAF1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337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75" name="heat-cell-0508">
            <a:extLst xmlns:a="http://schemas.openxmlformats.org/drawingml/2006/main">
              <a:ext uri="{FF2B5EF4-FFF2-40B4-BE49-F238E27FC236}">
                <a16:creationId xmlns:a16="http://schemas.microsoft.com/office/drawing/2014/main" id="{03D4D4AA-59A1-400A-9BF3-ABB25E04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93370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76" name="heat-title-0509">
            <a:extLst xmlns:a="http://schemas.openxmlformats.org/drawingml/2006/main">
              <a:ext uri="{FF2B5EF4-FFF2-40B4-BE49-F238E27FC236}">
                <a16:creationId xmlns:a16="http://schemas.microsoft.com/office/drawing/2014/main" id="{1CB6ECFB-6151-462B-AAB2-8B233E96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33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一整列变热</a:t>
            </a:r>
          </a:p>
        </p:txBody>
      </p:sp>
      <p:sp>
        <p:nvSpPr>
          <p:cNvPr id="77" name="heat-subtitle-0510">
            <a:extLst xmlns:a="http://schemas.openxmlformats.org/drawingml/2006/main">
              <a:ext uri="{FF2B5EF4-FFF2-40B4-BE49-F238E27FC236}">
                <a16:creationId xmlns:a16="http://schemas.microsoft.com/office/drawing/2014/main" id="{CE9EEDE4-9D0A-465E-BA53-3D436C04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719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单 Shard、热点或数据倾斜</a:t>
            </a:r>
          </a:p>
        </p:txBody>
      </p:sp>
      <p:sp>
        <p:nvSpPr>
          <p:cNvPr id="78" name="heat-col-0511">
            <a:extLst xmlns:a="http://schemas.openxmlformats.org/drawingml/2006/main">
              <a:ext uri="{FF2B5EF4-FFF2-40B4-BE49-F238E27FC236}">
                <a16:creationId xmlns:a16="http://schemas.microsoft.com/office/drawing/2014/main" id="{AA35F2F1-71F9-42FA-91CE-CA3B653F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100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rPr>
              <a:t>Shard →</a:t>
            </a:r>
          </a:p>
        </p:txBody>
      </p:sp>
      <p:sp>
        <p:nvSpPr>
          <p:cNvPr id="79" name="heat-cell-0512">
            <a:extLst xmlns:a="http://schemas.openxmlformats.org/drawingml/2006/main">
              <a:ext uri="{FF2B5EF4-FFF2-40B4-BE49-F238E27FC236}">
                <a16:creationId xmlns:a16="http://schemas.microsoft.com/office/drawing/2014/main" id="{1565883C-E304-409E-8EBB-76BCC498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005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80" name="heat-cell-0513">
            <a:extLst xmlns:a="http://schemas.openxmlformats.org/drawingml/2006/main">
              <a:ext uri="{FF2B5EF4-FFF2-40B4-BE49-F238E27FC236}">
                <a16:creationId xmlns:a16="http://schemas.microsoft.com/office/drawing/2014/main" id="{31CFB26B-10ED-498A-8024-937A6F89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005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81" name="heat-cell-0514">
            <a:extLst xmlns:a="http://schemas.openxmlformats.org/drawingml/2006/main">
              <a:ext uri="{FF2B5EF4-FFF2-40B4-BE49-F238E27FC236}">
                <a16:creationId xmlns:a16="http://schemas.microsoft.com/office/drawing/2014/main" id="{6B3CBB1A-2CFE-4719-ADC8-6F8BA81A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005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82" name="heat-cell-0515">
            <a:extLst xmlns:a="http://schemas.openxmlformats.org/drawingml/2006/main">
              <a:ext uri="{FF2B5EF4-FFF2-40B4-BE49-F238E27FC236}">
                <a16:creationId xmlns:a16="http://schemas.microsoft.com/office/drawing/2014/main" id="{21C545EF-C92E-403A-B930-3C6D455C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005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83" name="heat-cell-0516">
            <a:extLst xmlns:a="http://schemas.openxmlformats.org/drawingml/2006/main">
              <a:ext uri="{FF2B5EF4-FFF2-40B4-BE49-F238E27FC236}">
                <a16:creationId xmlns:a16="http://schemas.microsoft.com/office/drawing/2014/main" id="{3E3994AC-3955-4E76-8C53-378B83B6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291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84" name="heat-cell-0517">
            <a:extLst xmlns:a="http://schemas.openxmlformats.org/drawingml/2006/main">
              <a:ext uri="{FF2B5EF4-FFF2-40B4-BE49-F238E27FC236}">
                <a16:creationId xmlns:a16="http://schemas.microsoft.com/office/drawing/2014/main" id="{D0833CA7-2308-4E8F-BE2C-D4952F18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85" name="heat-cell-0518">
            <a:extLst xmlns:a="http://schemas.openxmlformats.org/drawingml/2006/main">
              <a:ext uri="{FF2B5EF4-FFF2-40B4-BE49-F238E27FC236}">
                <a16:creationId xmlns:a16="http://schemas.microsoft.com/office/drawing/2014/main" id="{69C5F5E8-40D1-4B33-BE27-FDD3B3B4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86" name="heat-cell-0519">
            <a:extLst xmlns:a="http://schemas.openxmlformats.org/drawingml/2006/main">
              <a:ext uri="{FF2B5EF4-FFF2-40B4-BE49-F238E27FC236}">
                <a16:creationId xmlns:a16="http://schemas.microsoft.com/office/drawing/2014/main" id="{8E09F188-80A5-4477-800F-337851B6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291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87" name="heat-cell-0520">
            <a:extLst xmlns:a="http://schemas.openxmlformats.org/drawingml/2006/main">
              <a:ext uri="{FF2B5EF4-FFF2-40B4-BE49-F238E27FC236}">
                <a16:creationId xmlns:a16="http://schemas.microsoft.com/office/drawing/2014/main" id="{ACAF7061-16C7-4E8E-B9FC-1CF5636B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577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88" name="heat-cell-0521">
            <a:extLst xmlns:a="http://schemas.openxmlformats.org/drawingml/2006/main">
              <a:ext uri="{FF2B5EF4-FFF2-40B4-BE49-F238E27FC236}">
                <a16:creationId xmlns:a16="http://schemas.microsoft.com/office/drawing/2014/main" id="{1B433F9B-6858-4EE3-B3A7-58D332C9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577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89" name="heat-cell-0522">
            <a:extLst xmlns:a="http://schemas.openxmlformats.org/drawingml/2006/main">
              <a:ext uri="{FF2B5EF4-FFF2-40B4-BE49-F238E27FC236}">
                <a16:creationId xmlns:a16="http://schemas.microsoft.com/office/drawing/2014/main" id="{1E5245E8-5CA6-4D6C-A20F-8166764C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577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90" name="heat-cell-0523">
            <a:extLst xmlns:a="http://schemas.openxmlformats.org/drawingml/2006/main">
              <a:ext uri="{FF2B5EF4-FFF2-40B4-BE49-F238E27FC236}">
                <a16:creationId xmlns:a16="http://schemas.microsoft.com/office/drawing/2014/main" id="{32D24B72-AE05-4578-9415-ACEBCEC1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577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91" name="heat-cell-0524">
            <a:extLst xmlns:a="http://schemas.openxmlformats.org/drawingml/2006/main">
              <a:ext uri="{FF2B5EF4-FFF2-40B4-BE49-F238E27FC236}">
                <a16:creationId xmlns:a16="http://schemas.microsoft.com/office/drawing/2014/main" id="{99C3FC42-9A04-4138-9793-A6194D74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863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92" name="heat-cell-0525">
            <a:extLst xmlns:a="http://schemas.openxmlformats.org/drawingml/2006/main">
              <a:ext uri="{FF2B5EF4-FFF2-40B4-BE49-F238E27FC236}">
                <a16:creationId xmlns:a16="http://schemas.microsoft.com/office/drawing/2014/main" id="{C6548360-EA36-4753-A681-B596B547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863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93" name="heat-cell-0526">
            <a:extLst xmlns:a="http://schemas.openxmlformats.org/drawingml/2006/main">
              <a:ext uri="{FF2B5EF4-FFF2-40B4-BE49-F238E27FC236}">
                <a16:creationId xmlns:a16="http://schemas.microsoft.com/office/drawing/2014/main" id="{F898F0E4-6F72-4914-A2AD-03F423EF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863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94" name="heat-cell-0527">
            <a:extLst xmlns:a="http://schemas.openxmlformats.org/drawingml/2006/main">
              <a:ext uri="{FF2B5EF4-FFF2-40B4-BE49-F238E27FC236}">
                <a16:creationId xmlns:a16="http://schemas.microsoft.com/office/drawing/2014/main" id="{DDD16942-17BA-4128-A086-8E46A600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863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95" name="heat-title-0528">
            <a:extLst xmlns:a="http://schemas.openxmlformats.org/drawingml/2006/main">
              <a:ext uri="{FF2B5EF4-FFF2-40B4-BE49-F238E27FC236}">
                <a16:creationId xmlns:a16="http://schemas.microsoft.com/office/drawing/2014/main" id="{630998B2-CE78-4A9E-9D88-84DE9FC5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33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单个格子变热</a:t>
            </a:r>
          </a:p>
        </p:txBody>
      </p:sp>
      <p:sp>
        <p:nvSpPr>
          <p:cNvPr id="96" name="heat-subtitle-0529">
            <a:extLst xmlns:a="http://schemas.openxmlformats.org/drawingml/2006/main">
              <a:ext uri="{FF2B5EF4-FFF2-40B4-BE49-F238E27FC236}">
                <a16:creationId xmlns:a16="http://schemas.microsoft.com/office/drawing/2014/main" id="{ADD1E20C-EAC5-4E1F-A7CC-8EBDD404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719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特定 Proxy ↔ Shard 路径</a:t>
            </a:r>
          </a:p>
        </p:txBody>
      </p:sp>
      <p:sp>
        <p:nvSpPr>
          <p:cNvPr id="97" name="heat-col-0530">
            <a:extLst xmlns:a="http://schemas.openxmlformats.org/drawingml/2006/main">
              <a:ext uri="{FF2B5EF4-FFF2-40B4-BE49-F238E27FC236}">
                <a16:creationId xmlns:a16="http://schemas.microsoft.com/office/drawing/2014/main" id="{8B8E7B42-03B1-4998-A74E-82940149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100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8768B"/>
                </a:solidFill>
                <a:latin typeface="Microsoft YaHei"/>
                <a:ea typeface="Microsoft YaHei"/>
                <a:cs typeface="Microsoft YaHei"/>
              </a:rPr>
              <a:t>Shard →</a:t>
            </a:r>
          </a:p>
        </p:txBody>
      </p:sp>
      <p:sp>
        <p:nvSpPr>
          <p:cNvPr id="98" name="heat-cell-0531">
            <a:extLst xmlns:a="http://schemas.openxmlformats.org/drawingml/2006/main">
              <a:ext uri="{FF2B5EF4-FFF2-40B4-BE49-F238E27FC236}">
                <a16:creationId xmlns:a16="http://schemas.microsoft.com/office/drawing/2014/main" id="{2FF1C10B-204A-442D-A125-71A739DC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005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99" name="heat-cell-0532">
            <a:extLst xmlns:a="http://schemas.openxmlformats.org/drawingml/2006/main">
              <a:ext uri="{FF2B5EF4-FFF2-40B4-BE49-F238E27FC236}">
                <a16:creationId xmlns:a16="http://schemas.microsoft.com/office/drawing/2014/main" id="{2B188102-9AE0-42F1-9719-51CCDD46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4005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00" name="heat-cell-0533">
            <a:extLst xmlns:a="http://schemas.openxmlformats.org/drawingml/2006/main">
              <a:ext uri="{FF2B5EF4-FFF2-40B4-BE49-F238E27FC236}">
                <a16:creationId xmlns:a16="http://schemas.microsoft.com/office/drawing/2014/main" id="{69E64E80-0F45-4186-8F53-4DBA1456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005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01" name="heat-cell-0534">
            <a:extLst xmlns:a="http://schemas.openxmlformats.org/drawingml/2006/main">
              <a:ext uri="{FF2B5EF4-FFF2-40B4-BE49-F238E27FC236}">
                <a16:creationId xmlns:a16="http://schemas.microsoft.com/office/drawing/2014/main" id="{23CB91C1-53C8-4FF6-86FB-397BEC9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4005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02" name="heat-cell-0535">
            <a:extLst xmlns:a="http://schemas.openxmlformats.org/drawingml/2006/main">
              <a:ext uri="{FF2B5EF4-FFF2-40B4-BE49-F238E27FC236}">
                <a16:creationId xmlns:a16="http://schemas.microsoft.com/office/drawing/2014/main" id="{29DF624D-596A-4E9F-8F82-C5E29CD9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291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03" name="heat-cell-0536">
            <a:extLst xmlns:a="http://schemas.openxmlformats.org/drawingml/2006/main">
              <a:ext uri="{FF2B5EF4-FFF2-40B4-BE49-F238E27FC236}">
                <a16:creationId xmlns:a16="http://schemas.microsoft.com/office/drawing/2014/main" id="{3466061C-01CE-4661-84F5-1BD15FDB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6291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04" name="heat-cell-0537">
            <a:extLst xmlns:a="http://schemas.openxmlformats.org/drawingml/2006/main">
              <a:ext uri="{FF2B5EF4-FFF2-40B4-BE49-F238E27FC236}">
                <a16:creationId xmlns:a16="http://schemas.microsoft.com/office/drawing/2014/main" id="{0B78168C-A447-44EB-B737-75607276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291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105" name="heat-cell-0538">
            <a:extLst xmlns:a="http://schemas.openxmlformats.org/drawingml/2006/main">
              <a:ext uri="{FF2B5EF4-FFF2-40B4-BE49-F238E27FC236}">
                <a16:creationId xmlns:a16="http://schemas.microsoft.com/office/drawing/2014/main" id="{D1F11ADE-3544-4E82-8BF5-F1BEAB80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6291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06" name="heat-cell-0539">
            <a:extLst xmlns:a="http://schemas.openxmlformats.org/drawingml/2006/main">
              <a:ext uri="{FF2B5EF4-FFF2-40B4-BE49-F238E27FC236}">
                <a16:creationId xmlns:a16="http://schemas.microsoft.com/office/drawing/2014/main" id="{0EBE21D9-E51B-4582-8CB1-357B7D18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8577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07" name="heat-cell-0540">
            <a:extLst xmlns:a="http://schemas.openxmlformats.org/drawingml/2006/main">
              <a:ext uri="{FF2B5EF4-FFF2-40B4-BE49-F238E27FC236}">
                <a16:creationId xmlns:a16="http://schemas.microsoft.com/office/drawing/2014/main" id="{09C5C3BE-EFB6-44AC-A24B-EB9EBA4C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8577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08" name="heat-cell-0541">
            <a:extLst xmlns:a="http://schemas.openxmlformats.org/drawingml/2006/main">
              <a:ext uri="{FF2B5EF4-FFF2-40B4-BE49-F238E27FC236}">
                <a16:creationId xmlns:a16="http://schemas.microsoft.com/office/drawing/2014/main" id="{BC8520C5-D015-4DB1-9071-9B581931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577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09" name="heat-cell-0542">
            <a:extLst xmlns:a="http://schemas.openxmlformats.org/drawingml/2006/main">
              <a:ext uri="{FF2B5EF4-FFF2-40B4-BE49-F238E27FC236}">
                <a16:creationId xmlns:a16="http://schemas.microsoft.com/office/drawing/2014/main" id="{BEC48582-DCC1-49A3-AC44-E8C466DA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8577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10" name="heat-cell-0543">
            <a:extLst xmlns:a="http://schemas.openxmlformats.org/drawingml/2006/main">
              <a:ext uri="{FF2B5EF4-FFF2-40B4-BE49-F238E27FC236}">
                <a16:creationId xmlns:a16="http://schemas.microsoft.com/office/drawing/2014/main" id="{A57FF43B-64C3-46F7-80FA-EB3B1DAF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0863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11" name="heat-cell-0544">
            <a:extLst xmlns:a="http://schemas.openxmlformats.org/drawingml/2006/main">
              <a:ext uri="{FF2B5EF4-FFF2-40B4-BE49-F238E27FC236}">
                <a16:creationId xmlns:a16="http://schemas.microsoft.com/office/drawing/2014/main" id="{AC88FFED-108B-46A3-9B60-49070DEF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0863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12" name="heat-cell-0545">
            <a:extLst xmlns:a="http://schemas.openxmlformats.org/drawingml/2006/main">
              <a:ext uri="{FF2B5EF4-FFF2-40B4-BE49-F238E27FC236}">
                <a16:creationId xmlns:a16="http://schemas.microsoft.com/office/drawing/2014/main" id="{C071BF69-0977-41D9-9313-BEF0AB89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0863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13" name="heat-cell-0546">
            <a:extLst xmlns:a="http://schemas.openxmlformats.org/drawingml/2006/main">
              <a:ext uri="{FF2B5EF4-FFF2-40B4-BE49-F238E27FC236}">
                <a16:creationId xmlns:a16="http://schemas.microsoft.com/office/drawing/2014/main" id="{2A028849-AA0B-4231-97A4-E9435BA4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086350"/>
            <a:ext cx="200025" cy="2000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14" name="boundary-note-0547">
            <a:extLst xmlns:a="http://schemas.openxmlformats.org/drawingml/2006/main">
              <a:ext uri="{FF2B5EF4-FFF2-40B4-BE49-F238E27FC236}">
                <a16:creationId xmlns:a16="http://schemas.microsoft.com/office/drawing/2014/main" id="{BA3818CA-6421-49CC-8959-65712ECF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10300"/>
            <a:ext cx="11353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“升高”表示相对历史基线或同集群其他节点异常；分层 P99 用于定位，不能直接加减。</a:t>
            </a:r>
          </a:p>
        </p:txBody>
      </p:sp>
    </p:spTree>
    <p:extLst>
      <p:ext uri="{BB962C8B-B14F-4D97-AF65-F5344CB8AC3E}">
        <p14:creationId xmlns:p14="http://schemas.microsoft.com/office/powerpoint/2010/main" val="3247457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5570B7-826E-4C02-ACEC-8715591F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6"/>
          </a:solidFill>
          <a:ln xmlns:a="http://schemas.openxmlformats.org/drawingml/2006/main" w="12700">
            <a:solidFill>
              <a:srgbClr val="070B1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E909314-4393-4A5B-95D4-5C93D9E9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88E2A32-4F60-4D6E-A0EE-E246CBA7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"/>
            <a:ext cx="1219169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5" name="section-0548">
            <a:extLst xmlns:a="http://schemas.openxmlformats.org/drawingml/2006/main">
              <a:ext uri="{FF2B5EF4-FFF2-40B4-BE49-F238E27FC236}">
                <a16:creationId xmlns:a16="http://schemas.microsoft.com/office/drawing/2014/main" id="{5B6603DD-59C2-42EF-9CAF-C8B7D1E5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PART 3 · 排查方法</a:t>
            </a:r>
          </a:p>
        </p:txBody>
      </p:sp>
      <p:sp>
        <p:nvSpPr>
          <p:cNvPr id="6" name="page-top-0549">
            <a:extLst xmlns:a="http://schemas.openxmlformats.org/drawingml/2006/main">
              <a:ext uri="{FF2B5EF4-FFF2-40B4-BE49-F238E27FC236}">
                <a16:creationId xmlns:a16="http://schemas.microsoft.com/office/drawing/2014/main" id="{45208C07-60ED-4485-B2E6-8AEA0D7D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  <p:sp>
        <p:nvSpPr>
          <p:cNvPr id="7" name="title-0550">
            <a:extLst xmlns:a="http://schemas.openxmlformats.org/drawingml/2006/main">
              <a:ext uri="{FF2B5EF4-FFF2-40B4-BE49-F238E27FC236}">
                <a16:creationId xmlns:a16="http://schemas.microsoft.com/office/drawing/2014/main" id="{FA1F0D3D-380C-496A-A536-6C206198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异常阶段给出方向，通用指标用来验证原因</a:t>
            </a:r>
          </a:p>
        </p:txBody>
      </p:sp>
      <p:sp>
        <p:nvSpPr>
          <p:cNvPr id="8" name="line-0551">
            <a:extLst xmlns:a="http://schemas.openxmlformats.org/drawingml/2006/main">
              <a:ext uri="{FF2B5EF4-FFF2-40B4-BE49-F238E27FC236}">
                <a16:creationId xmlns:a16="http://schemas.microsoft.com/office/drawing/2014/main" id="{3F01E533-670A-40AF-BE4C-255F5D81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9" name="table-header-0552">
            <a:extLst xmlns:a="http://schemas.openxmlformats.org/drawingml/2006/main">
              <a:ext uri="{FF2B5EF4-FFF2-40B4-BE49-F238E27FC236}">
                <a16:creationId xmlns:a16="http://schemas.microsoft.com/office/drawing/2014/main" id="{CD069988-4B8A-40DB-B7F7-575B2B28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00150"/>
            <a:ext cx="3028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A"/>
          </a:solidFill>
          <a:ln xmlns:a="http://schemas.openxmlformats.org/drawingml/2006/main" w="9525">
            <a:solidFill>
              <a:srgbClr val="334766"/>
            </a:solidFill>
            <a:prstDash val="solid"/>
          </a:ln>
        </p:spPr>
      </p:sp>
      <p:sp>
        <p:nvSpPr>
          <p:cNvPr id="10" name="table-header-text-0553">
            <a:extLst xmlns:a="http://schemas.openxmlformats.org/drawingml/2006/main">
              <a:ext uri="{FF2B5EF4-FFF2-40B4-BE49-F238E27FC236}">
                <a16:creationId xmlns:a16="http://schemas.microsoft.com/office/drawing/2014/main" id="{0A35130D-F25C-4726-AE91-0B0BA36E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已定位的时延信号</a:t>
            </a:r>
          </a:p>
        </p:txBody>
      </p:sp>
      <p:sp>
        <p:nvSpPr>
          <p:cNvPr id="11" name="table-header-0554">
            <a:extLst xmlns:a="http://schemas.openxmlformats.org/drawingml/2006/main">
              <a:ext uri="{FF2B5EF4-FFF2-40B4-BE49-F238E27FC236}">
                <a16:creationId xmlns:a16="http://schemas.microsoft.com/office/drawing/2014/main" id="{ABEEC18B-2FF2-4A4F-BA99-F52591DD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00150"/>
            <a:ext cx="487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A"/>
          </a:solidFill>
          <a:ln xmlns:a="http://schemas.openxmlformats.org/drawingml/2006/main" w="9525">
            <a:solidFill>
              <a:srgbClr val="334766"/>
            </a:solidFill>
            <a:prstDash val="solid"/>
          </a:ln>
        </p:spPr>
      </p:sp>
      <p:sp>
        <p:nvSpPr>
          <p:cNvPr id="12" name="table-header-text-0555">
            <a:extLst xmlns:a="http://schemas.openxmlformats.org/drawingml/2006/main">
              <a:ext uri="{FF2B5EF4-FFF2-40B4-BE49-F238E27FC236}">
                <a16:creationId xmlns:a16="http://schemas.microsoft.com/office/drawing/2014/main" id="{FE3C64D3-E3AC-408E-BCD4-D3760E29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247775"/>
            <a:ext cx="468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同窗叠加指标</a:t>
            </a:r>
          </a:p>
        </p:txBody>
      </p:sp>
      <p:sp>
        <p:nvSpPr>
          <p:cNvPr id="13" name="table-header-0556">
            <a:extLst xmlns:a="http://schemas.openxmlformats.org/drawingml/2006/main">
              <a:ext uri="{FF2B5EF4-FFF2-40B4-BE49-F238E27FC236}">
                <a16:creationId xmlns:a16="http://schemas.microsoft.com/office/drawing/2014/main" id="{3EBEDE6A-7B8C-4049-B768-11515ECC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00150"/>
            <a:ext cx="3448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3A"/>
          </a:solidFill>
          <a:ln xmlns:a="http://schemas.openxmlformats.org/drawingml/2006/main" w="9525">
            <a:solidFill>
              <a:srgbClr val="334766"/>
            </a:solidFill>
            <a:prstDash val="solid"/>
          </a:ln>
        </p:spPr>
      </p:sp>
      <p:sp>
        <p:nvSpPr>
          <p:cNvPr id="14" name="table-header-text-0557">
            <a:extLst xmlns:a="http://schemas.openxmlformats.org/drawingml/2006/main">
              <a:ext uri="{FF2B5EF4-FFF2-40B4-BE49-F238E27FC236}">
                <a16:creationId xmlns:a16="http://schemas.microsoft.com/office/drawing/2014/main" id="{D3090C87-76E5-4748-8367-BB5F4056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247775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主要验证方向</a:t>
            </a:r>
          </a:p>
        </p:txBody>
      </p:sp>
      <p:sp>
        <p:nvSpPr>
          <p:cNvPr id="15" name="table-cell-0558">
            <a:extLst xmlns:a="http://schemas.openxmlformats.org/drawingml/2006/main">
              <a:ext uri="{FF2B5EF4-FFF2-40B4-BE49-F238E27FC236}">
                <a16:creationId xmlns:a16="http://schemas.microsoft.com/office/drawing/2014/main" id="{E7282B58-2C01-4DD3-8FF5-B0CDD5FB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562100"/>
            <a:ext cx="30289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16" name="table-body-text-0559">
            <a:extLst xmlns:a="http://schemas.openxmlformats.org/drawingml/2006/main">
              <a:ext uri="{FF2B5EF4-FFF2-40B4-BE49-F238E27FC236}">
                <a16:creationId xmlns:a16="http://schemas.microsoft.com/office/drawing/2014/main" id="{36383D05-CA60-448F-A5A5-9DBEC03E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2800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阶段一升高</a:t>
            </a:r>
          </a:p>
        </p:txBody>
      </p:sp>
      <p:sp>
        <p:nvSpPr>
          <p:cNvPr id="17" name="table-cell-0560">
            <a:extLst xmlns:a="http://schemas.openxmlformats.org/drawingml/2006/main">
              <a:ext uri="{FF2B5EF4-FFF2-40B4-BE49-F238E27FC236}">
                <a16:creationId xmlns:a16="http://schemas.microsoft.com/office/drawing/2014/main" id="{A79218CA-25C0-4DDB-8F45-4939ABF2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62100"/>
            <a:ext cx="4876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18" name="table-body-text-0561">
            <a:extLst xmlns:a="http://schemas.openxmlformats.org/drawingml/2006/main">
              <a:ext uri="{FF2B5EF4-FFF2-40B4-BE49-F238E27FC236}">
                <a16:creationId xmlns:a16="http://schemas.microsoft.com/office/drawing/2014/main" id="{753EAAA5-6A68-4D10-B9AE-7579EAA8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19250"/>
            <a:ext cx="464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Proxy 进入 QPS、连接数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输入流量、CPU</a:t>
            </a:r>
          </a:p>
        </p:txBody>
      </p:sp>
      <p:sp>
        <p:nvSpPr>
          <p:cNvPr id="19" name="table-cell-0562">
            <a:extLst xmlns:a="http://schemas.openxmlformats.org/drawingml/2006/main">
              <a:ext uri="{FF2B5EF4-FFF2-40B4-BE49-F238E27FC236}">
                <a16:creationId xmlns:a16="http://schemas.microsoft.com/office/drawing/2014/main" id="{E7633128-E850-4994-9E63-C5E600CD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62100"/>
            <a:ext cx="3448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20" name="table-body-text-0563">
            <a:extLst xmlns:a="http://schemas.openxmlformats.org/drawingml/2006/main">
              <a:ext uri="{FF2B5EF4-FFF2-40B4-BE49-F238E27FC236}">
                <a16:creationId xmlns:a16="http://schemas.microsoft.com/office/drawing/2014/main" id="{669026E1-CEA8-4350-B7D4-AC5C40DB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19250"/>
            <a:ext cx="3219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接收、解析或预处理饱和</a:t>
            </a:r>
          </a:p>
        </p:txBody>
      </p:sp>
      <p:sp>
        <p:nvSpPr>
          <p:cNvPr id="21" name="strip-0564">
            <a:extLst xmlns:a="http://schemas.openxmlformats.org/drawingml/2006/main">
              <a:ext uri="{FF2B5EF4-FFF2-40B4-BE49-F238E27FC236}">
                <a16:creationId xmlns:a16="http://schemas.microsoft.com/office/drawing/2014/main" id="{9D59E5E2-6029-4BE9-9E37-DEF7417F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19250"/>
            <a:ext cx="47625" cy="4476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4763">
            <a:solidFill>
              <a:srgbClr val="7C3AED"/>
            </a:solidFill>
            <a:prstDash val="solid"/>
          </a:ln>
        </p:spPr>
      </p:sp>
      <p:sp>
        <p:nvSpPr>
          <p:cNvPr id="22" name="table-cell-0565">
            <a:extLst xmlns:a="http://schemas.openxmlformats.org/drawingml/2006/main">
              <a:ext uri="{FF2B5EF4-FFF2-40B4-BE49-F238E27FC236}">
                <a16:creationId xmlns:a16="http://schemas.microsoft.com/office/drawing/2014/main" id="{63B0B836-8205-453D-A79E-104CE9AF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24075"/>
            <a:ext cx="30289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323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23" name="table-body-text-0566">
            <a:extLst xmlns:a="http://schemas.openxmlformats.org/drawingml/2006/main">
              <a:ext uri="{FF2B5EF4-FFF2-40B4-BE49-F238E27FC236}">
                <a16:creationId xmlns:a16="http://schemas.microsoft.com/office/drawing/2014/main" id="{A7EA0558-AF0A-4D07-8635-095CFC6F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2800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阶段二、TOTAL、EXEC 同升</a:t>
            </a:r>
          </a:p>
        </p:txBody>
      </p:sp>
      <p:sp>
        <p:nvSpPr>
          <p:cNvPr id="24" name="table-cell-0567">
            <a:extLst xmlns:a="http://schemas.openxmlformats.org/drawingml/2006/main">
              <a:ext uri="{FF2B5EF4-FFF2-40B4-BE49-F238E27FC236}">
                <a16:creationId xmlns:a16="http://schemas.microsoft.com/office/drawing/2014/main" id="{772BDCB1-4AAB-4CA4-A6BC-0F215BAB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24075"/>
            <a:ext cx="4876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323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25" name="table-body-text-0568">
            <a:extLst xmlns:a="http://schemas.openxmlformats.org/drawingml/2006/main">
              <a:ext uri="{FF2B5EF4-FFF2-40B4-BE49-F238E27FC236}">
                <a16:creationId xmlns:a16="http://schemas.microsoft.com/office/drawing/2014/main" id="{ECE2B8AF-8292-42BC-84B9-C4200B0A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81225"/>
            <a:ext cx="464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命令 / Key / Value、Shard CPU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底层读写时延、后台任务</a:t>
            </a:r>
          </a:p>
        </p:txBody>
      </p:sp>
      <p:sp>
        <p:nvSpPr>
          <p:cNvPr id="26" name="table-cell-0569">
            <a:extLst xmlns:a="http://schemas.openxmlformats.org/drawingml/2006/main">
              <a:ext uri="{FF2B5EF4-FFF2-40B4-BE49-F238E27FC236}">
                <a16:creationId xmlns:a16="http://schemas.microsoft.com/office/drawing/2014/main" id="{C4297E9D-77C7-45C3-8F2E-465B5E1E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24075"/>
            <a:ext cx="3448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323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27" name="table-body-text-0570">
            <a:extLst xmlns:a="http://schemas.openxmlformats.org/drawingml/2006/main">
              <a:ext uri="{FF2B5EF4-FFF2-40B4-BE49-F238E27FC236}">
                <a16:creationId xmlns:a16="http://schemas.microsoft.com/office/drawing/2014/main" id="{4C40DA8B-8D41-4812-B445-A7D67D98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81225"/>
            <a:ext cx="3219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实际执行或存储路径变慢</a:t>
            </a:r>
          </a:p>
        </p:txBody>
      </p:sp>
      <p:sp>
        <p:nvSpPr>
          <p:cNvPr id="28" name="strip-0571">
            <a:extLst xmlns:a="http://schemas.openxmlformats.org/drawingml/2006/main">
              <a:ext uri="{FF2B5EF4-FFF2-40B4-BE49-F238E27FC236}">
                <a16:creationId xmlns:a16="http://schemas.microsoft.com/office/drawing/2014/main" id="{D3B70196-A8AE-4677-BC3B-DE497F87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181225"/>
            <a:ext cx="47625" cy="4476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4763">
            <a:solidFill>
              <a:srgbClr val="F59E0B"/>
            </a:solidFill>
            <a:prstDash val="solid"/>
          </a:ln>
        </p:spPr>
      </p:sp>
      <p:sp>
        <p:nvSpPr>
          <p:cNvPr id="29" name="table-cell-0572">
            <a:extLst xmlns:a="http://schemas.openxmlformats.org/drawingml/2006/main">
              <a:ext uri="{FF2B5EF4-FFF2-40B4-BE49-F238E27FC236}">
                <a16:creationId xmlns:a16="http://schemas.microsoft.com/office/drawing/2014/main" id="{45543776-5089-4441-8B16-FA185584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86050"/>
            <a:ext cx="30289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30" name="table-body-text-0573">
            <a:extLst xmlns:a="http://schemas.openxmlformats.org/drawingml/2006/main">
              <a:ext uri="{FF2B5EF4-FFF2-40B4-BE49-F238E27FC236}">
                <a16:creationId xmlns:a16="http://schemas.microsoft.com/office/drawing/2014/main" id="{70ED959A-FDC2-4825-A2C3-EC28E560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2800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阶段二和 TOTAL 升高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5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EXEC 稳定</a:t>
            </a:r>
          </a:p>
        </p:txBody>
      </p:sp>
      <p:sp>
        <p:nvSpPr>
          <p:cNvPr id="31" name="table-cell-0574">
            <a:extLst xmlns:a="http://schemas.openxmlformats.org/drawingml/2006/main">
              <a:ext uri="{FF2B5EF4-FFF2-40B4-BE49-F238E27FC236}">
                <a16:creationId xmlns:a16="http://schemas.microsoft.com/office/drawing/2014/main" id="{08132217-6F3A-4F45-AE65-5F009A11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86050"/>
            <a:ext cx="4876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32" name="table-body-text-0575">
            <a:extLst xmlns:a="http://schemas.openxmlformats.org/drawingml/2006/main">
              <a:ext uri="{FF2B5EF4-FFF2-40B4-BE49-F238E27FC236}">
                <a16:creationId xmlns:a16="http://schemas.microsoft.com/office/drawing/2014/main" id="{0A356D88-73AD-4FDA-BA73-8FBB99CC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43200"/>
            <a:ext cx="464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进入 / 完成 QPS、TOTAL / EXEC 关系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CPU 限流、内存压力</a:t>
            </a:r>
          </a:p>
        </p:txBody>
      </p:sp>
      <p:sp>
        <p:nvSpPr>
          <p:cNvPr id="33" name="table-cell-0576">
            <a:extLst xmlns:a="http://schemas.openxmlformats.org/drawingml/2006/main">
              <a:ext uri="{FF2B5EF4-FFF2-40B4-BE49-F238E27FC236}">
                <a16:creationId xmlns:a16="http://schemas.microsoft.com/office/drawing/2014/main" id="{188D1B7A-C45F-427E-BE8E-19CC4583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3448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34" name="table-body-text-0577">
            <a:extLst xmlns:a="http://schemas.openxmlformats.org/drawingml/2006/main">
              <a:ext uri="{FF2B5EF4-FFF2-40B4-BE49-F238E27FC236}">
                <a16:creationId xmlns:a16="http://schemas.microsoft.com/office/drawing/2014/main" id="{216A032A-70A1-4F9A-98F9-F9B1BB27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43200"/>
            <a:ext cx="3219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排队或其他非 EXEC 区间</a:t>
            </a:r>
          </a:p>
        </p:txBody>
      </p:sp>
      <p:sp>
        <p:nvSpPr>
          <p:cNvPr id="35" name="strip-0578">
            <a:extLst xmlns:a="http://schemas.openxmlformats.org/drawingml/2006/main">
              <a:ext uri="{FF2B5EF4-FFF2-40B4-BE49-F238E27FC236}">
                <a16:creationId xmlns:a16="http://schemas.microsoft.com/office/drawing/2014/main" id="{06118810-E8BB-49BF-A64A-E2201759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743200"/>
            <a:ext cx="47625" cy="4476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4763">
            <a:solidFill>
              <a:srgbClr val="F59E0B"/>
            </a:solidFill>
            <a:prstDash val="solid"/>
          </a:ln>
        </p:spPr>
      </p:sp>
      <p:sp>
        <p:nvSpPr>
          <p:cNvPr id="36" name="table-cell-0579">
            <a:extLst xmlns:a="http://schemas.openxmlformats.org/drawingml/2006/main">
              <a:ext uri="{FF2B5EF4-FFF2-40B4-BE49-F238E27FC236}">
                <a16:creationId xmlns:a16="http://schemas.microsoft.com/office/drawing/2014/main" id="{71B1CBCB-6D4E-4BF8-A7B6-F44B4A41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48025"/>
            <a:ext cx="30289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323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37" name="table-body-text-0580">
            <a:extLst xmlns:a="http://schemas.openxmlformats.org/drawingml/2006/main">
              <a:ext uri="{FF2B5EF4-FFF2-40B4-BE49-F238E27FC236}">
                <a16:creationId xmlns:a16="http://schemas.microsoft.com/office/drawing/2014/main" id="{2473581B-9527-45C9-833F-AB461430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05175"/>
            <a:ext cx="2800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阶段二升高，TOTAL 正常</a:t>
            </a:r>
          </a:p>
        </p:txBody>
      </p:sp>
      <p:sp>
        <p:nvSpPr>
          <p:cNvPr id="38" name="table-cell-0581">
            <a:extLst xmlns:a="http://schemas.openxmlformats.org/drawingml/2006/main">
              <a:ext uri="{FF2B5EF4-FFF2-40B4-BE49-F238E27FC236}">
                <a16:creationId xmlns:a16="http://schemas.microsoft.com/office/drawing/2014/main" id="{650D9684-8ABA-4953-899D-2998765A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48025"/>
            <a:ext cx="4876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323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39" name="table-body-text-0582">
            <a:extLst xmlns:a="http://schemas.openxmlformats.org/drawingml/2006/main">
              <a:ext uri="{FF2B5EF4-FFF2-40B4-BE49-F238E27FC236}">
                <a16:creationId xmlns:a16="http://schemas.microsoft.com/office/drawing/2014/main" id="{F03E4BFE-B837-42BA-AB96-E9638E5C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05175"/>
            <a:ext cx="464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节点间 RTT、重传、带宽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RPC 连接</a:t>
            </a:r>
          </a:p>
        </p:txBody>
      </p:sp>
      <p:sp>
        <p:nvSpPr>
          <p:cNvPr id="40" name="table-cell-0583">
            <a:extLst xmlns:a="http://schemas.openxmlformats.org/drawingml/2006/main">
              <a:ext uri="{FF2B5EF4-FFF2-40B4-BE49-F238E27FC236}">
                <a16:creationId xmlns:a16="http://schemas.microsoft.com/office/drawing/2014/main" id="{4E36F0AD-E9E1-4151-8CC4-5F8E5F5A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48025"/>
            <a:ext cx="3448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323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41" name="table-body-text-0584">
            <a:extLst xmlns:a="http://schemas.openxmlformats.org/drawingml/2006/main">
              <a:ext uri="{FF2B5EF4-FFF2-40B4-BE49-F238E27FC236}">
                <a16:creationId xmlns:a16="http://schemas.microsoft.com/office/drawing/2014/main" id="{BB2E8EB7-F7EE-4939-8470-4CC5AA8F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05175"/>
            <a:ext cx="3219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Proxy ↔ Shard 网络或 RPC</a:t>
            </a:r>
          </a:p>
        </p:txBody>
      </p:sp>
      <p:sp>
        <p:nvSpPr>
          <p:cNvPr id="42" name="strip-0585">
            <a:extLst xmlns:a="http://schemas.openxmlformats.org/drawingml/2006/main">
              <a:ext uri="{FF2B5EF4-FFF2-40B4-BE49-F238E27FC236}">
                <a16:creationId xmlns:a16="http://schemas.microsoft.com/office/drawing/2014/main" id="{56A2011E-121B-48B2-AC3F-4CAE5389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305175"/>
            <a:ext cx="47625" cy="4476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4763">
            <a:solidFill>
              <a:srgbClr val="22D3EE"/>
            </a:solidFill>
            <a:prstDash val="solid"/>
          </a:ln>
        </p:spPr>
      </p:sp>
      <p:sp>
        <p:nvSpPr>
          <p:cNvPr id="43" name="table-cell-0586">
            <a:extLst xmlns:a="http://schemas.openxmlformats.org/drawingml/2006/main">
              <a:ext uri="{FF2B5EF4-FFF2-40B4-BE49-F238E27FC236}">
                <a16:creationId xmlns:a16="http://schemas.microsoft.com/office/drawing/2014/main" id="{7EC519CB-A95F-4642-804B-6CB94052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0"/>
            <a:ext cx="30289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44" name="table-body-text-0587">
            <a:extLst xmlns:a="http://schemas.openxmlformats.org/drawingml/2006/main">
              <a:ext uri="{FF2B5EF4-FFF2-40B4-BE49-F238E27FC236}">
                <a16:creationId xmlns:a16="http://schemas.microsoft.com/office/drawing/2014/main" id="{275D010C-6D18-4A6C-B2A1-54A4F0ED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2800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阶段三升高</a:t>
            </a:r>
          </a:p>
        </p:txBody>
      </p:sp>
      <p:sp>
        <p:nvSpPr>
          <p:cNvPr id="45" name="table-cell-0588">
            <a:extLst xmlns:a="http://schemas.openxmlformats.org/drawingml/2006/main">
              <a:ext uri="{FF2B5EF4-FFF2-40B4-BE49-F238E27FC236}">
                <a16:creationId xmlns:a16="http://schemas.microsoft.com/office/drawing/2014/main" id="{FD789537-2449-4573-9A18-8A44E5FF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10000"/>
            <a:ext cx="4876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46" name="table-body-text-0589">
            <a:extLst xmlns:a="http://schemas.openxmlformats.org/drawingml/2006/main">
              <a:ext uri="{FF2B5EF4-FFF2-40B4-BE49-F238E27FC236}">
                <a16:creationId xmlns:a16="http://schemas.microsoft.com/office/drawing/2014/main" id="{058A037A-CDDB-4142-A37D-A3D9C371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67150"/>
            <a:ext cx="464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Proxy 回包队列、CPU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连接数、输出流量</a:t>
            </a:r>
          </a:p>
        </p:txBody>
      </p:sp>
      <p:sp>
        <p:nvSpPr>
          <p:cNvPr id="47" name="table-cell-0590">
            <a:extLst xmlns:a="http://schemas.openxmlformats.org/drawingml/2006/main">
              <a:ext uri="{FF2B5EF4-FFF2-40B4-BE49-F238E27FC236}">
                <a16:creationId xmlns:a16="http://schemas.microsoft.com/office/drawing/2014/main" id="{88318DA7-ED0C-47EF-9543-EC6F41E9B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10000"/>
            <a:ext cx="3448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48" name="table-body-text-0591">
            <a:extLst xmlns:a="http://schemas.openxmlformats.org/drawingml/2006/main">
              <a:ext uri="{FF2B5EF4-FFF2-40B4-BE49-F238E27FC236}">
                <a16:creationId xmlns:a16="http://schemas.microsoft.com/office/drawing/2014/main" id="{8C564A54-5ED7-464E-BDEC-B9E374E4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67150"/>
            <a:ext cx="3219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回包调度或反压</a:t>
            </a:r>
          </a:p>
        </p:txBody>
      </p:sp>
      <p:sp>
        <p:nvSpPr>
          <p:cNvPr id="49" name="strip-0592">
            <a:extLst xmlns:a="http://schemas.openxmlformats.org/drawingml/2006/main">
              <a:ext uri="{FF2B5EF4-FFF2-40B4-BE49-F238E27FC236}">
                <a16:creationId xmlns:a16="http://schemas.microsoft.com/office/drawing/2014/main" id="{1D9CB326-BCE5-4DF5-B9DE-444F6290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67150"/>
            <a:ext cx="47625" cy="4476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4763">
            <a:solidFill>
              <a:srgbClr val="7C3AED"/>
            </a:solidFill>
            <a:prstDash val="solid"/>
          </a:ln>
        </p:spPr>
      </p:sp>
      <p:sp>
        <p:nvSpPr>
          <p:cNvPr id="50" name="table-cell-0593">
            <a:extLst xmlns:a="http://schemas.openxmlformats.org/drawingml/2006/main">
              <a:ext uri="{FF2B5EF4-FFF2-40B4-BE49-F238E27FC236}">
                <a16:creationId xmlns:a16="http://schemas.microsoft.com/office/drawing/2014/main" id="{29B8BBFB-A3E6-4561-BC3C-64C86163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371975"/>
            <a:ext cx="30289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323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51" name="table-body-text-0594">
            <a:extLst xmlns:a="http://schemas.openxmlformats.org/drawingml/2006/main">
              <a:ext uri="{FF2B5EF4-FFF2-40B4-BE49-F238E27FC236}">
                <a16:creationId xmlns:a16="http://schemas.microsoft.com/office/drawing/2014/main" id="{1F7D7E51-0F08-4C5B-8891-DE9BC632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29125"/>
            <a:ext cx="2800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阶段四升高</a:t>
            </a:r>
          </a:p>
        </p:txBody>
      </p:sp>
      <p:sp>
        <p:nvSpPr>
          <p:cNvPr id="52" name="table-cell-0595">
            <a:extLst xmlns:a="http://schemas.openxmlformats.org/drawingml/2006/main">
              <a:ext uri="{FF2B5EF4-FFF2-40B4-BE49-F238E27FC236}">
                <a16:creationId xmlns:a16="http://schemas.microsoft.com/office/drawing/2014/main" id="{7EFBE838-AF65-4409-A7C7-A65649F7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371975"/>
            <a:ext cx="4876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323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53" name="table-body-text-0596">
            <a:extLst xmlns:a="http://schemas.openxmlformats.org/drawingml/2006/main">
              <a:ext uri="{FF2B5EF4-FFF2-40B4-BE49-F238E27FC236}">
                <a16:creationId xmlns:a16="http://schemas.microsoft.com/office/drawing/2014/main" id="{59A1AB70-F99A-43D4-B011-88548016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29125"/>
            <a:ext cx="464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响应大小、出口流量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TCP 发送队列 / 重传、Client 读取</a:t>
            </a:r>
          </a:p>
        </p:txBody>
      </p:sp>
      <p:sp>
        <p:nvSpPr>
          <p:cNvPr id="54" name="table-cell-0597">
            <a:extLst xmlns:a="http://schemas.openxmlformats.org/drawingml/2006/main">
              <a:ext uri="{FF2B5EF4-FFF2-40B4-BE49-F238E27FC236}">
                <a16:creationId xmlns:a16="http://schemas.microsoft.com/office/drawing/2014/main" id="{03A8D19F-6921-4EEC-A74C-E1B41D66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71975"/>
            <a:ext cx="3448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323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55" name="table-body-text-0598">
            <a:extLst xmlns:a="http://schemas.openxmlformats.org/drawingml/2006/main">
              <a:ext uri="{FF2B5EF4-FFF2-40B4-BE49-F238E27FC236}">
                <a16:creationId xmlns:a16="http://schemas.microsoft.com/office/drawing/2014/main" id="{D3931885-66A3-429C-A689-31E539D5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29125"/>
            <a:ext cx="3219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Client 方向发送受阻</a:t>
            </a:r>
          </a:p>
        </p:txBody>
      </p:sp>
      <p:sp>
        <p:nvSpPr>
          <p:cNvPr id="56" name="strip-0599">
            <a:extLst xmlns:a="http://schemas.openxmlformats.org/drawingml/2006/main">
              <a:ext uri="{FF2B5EF4-FFF2-40B4-BE49-F238E27FC236}">
                <a16:creationId xmlns:a16="http://schemas.microsoft.com/office/drawing/2014/main" id="{A34B5655-D5EE-4861-83AB-F8F91281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429125"/>
            <a:ext cx="47625" cy="4476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0B981"/>
          </a:solidFill>
          <a:ln xmlns:a="http://schemas.openxmlformats.org/drawingml/2006/main" w="4763">
            <a:solidFill>
              <a:srgbClr val="10B981"/>
            </a:solidFill>
            <a:prstDash val="solid"/>
          </a:ln>
        </p:spPr>
      </p:sp>
      <p:sp>
        <p:nvSpPr>
          <p:cNvPr id="57" name="table-cell-0600">
            <a:extLst xmlns:a="http://schemas.openxmlformats.org/drawingml/2006/main">
              <a:ext uri="{FF2B5EF4-FFF2-40B4-BE49-F238E27FC236}">
                <a16:creationId xmlns:a16="http://schemas.microsoft.com/office/drawing/2014/main" id="{41D0509C-3409-4875-B8F0-B0D0E7DF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33950"/>
            <a:ext cx="30289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58" name="table-body-text-0601">
            <a:extLst xmlns:a="http://schemas.openxmlformats.org/drawingml/2006/main">
              <a:ext uri="{FF2B5EF4-FFF2-40B4-BE49-F238E27FC236}">
                <a16:creationId xmlns:a16="http://schemas.microsoft.com/office/drawing/2014/main" id="{760CD4FC-1D73-4C9E-861C-3387D867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800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业务 P99 高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57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Proxy 总耗时正常</a:t>
            </a:r>
          </a:p>
        </p:txBody>
      </p:sp>
      <p:sp>
        <p:nvSpPr>
          <p:cNvPr id="59" name="table-cell-0602">
            <a:extLst xmlns:a="http://schemas.openxmlformats.org/drawingml/2006/main">
              <a:ext uri="{FF2B5EF4-FFF2-40B4-BE49-F238E27FC236}">
                <a16:creationId xmlns:a16="http://schemas.microsoft.com/office/drawing/2014/main" id="{8FE1C890-5032-449F-9F90-5F055C4C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33950"/>
            <a:ext cx="4876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60" name="table-body-text-0603">
            <a:extLst xmlns:a="http://schemas.openxmlformats.org/drawingml/2006/main">
              <a:ext uri="{FF2B5EF4-FFF2-40B4-BE49-F238E27FC236}">
                <a16:creationId xmlns:a16="http://schemas.microsoft.com/office/drawing/2014/main" id="{B4F48B1C-353B-44FF-AE5A-FAA8770F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991100"/>
            <a:ext cx="4648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连接池、LB、外部 RTT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Client 读取、超时统计口径</a:t>
            </a:r>
          </a:p>
        </p:txBody>
      </p:sp>
      <p:sp>
        <p:nvSpPr>
          <p:cNvPr id="61" name="table-cell-0604">
            <a:extLst xmlns:a="http://schemas.openxmlformats.org/drawingml/2006/main">
              <a:ext uri="{FF2B5EF4-FFF2-40B4-BE49-F238E27FC236}">
                <a16:creationId xmlns:a16="http://schemas.microsoft.com/office/drawing/2014/main" id="{88DBD102-E30A-4BC3-9A94-E6CFFA4F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33950"/>
            <a:ext cx="34480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1628"/>
          </a:solidFill>
          <a:ln xmlns:a="http://schemas.openxmlformats.org/drawingml/2006/main" w="7620">
            <a:solidFill>
              <a:srgbClr val="263750"/>
            </a:solidFill>
            <a:prstDash val="solid"/>
          </a:ln>
        </p:spPr>
      </p:sp>
      <p:sp>
        <p:nvSpPr>
          <p:cNvPr id="62" name="table-body-text-0605">
            <a:extLst xmlns:a="http://schemas.openxmlformats.org/drawingml/2006/main">
              <a:ext uri="{FF2B5EF4-FFF2-40B4-BE49-F238E27FC236}">
                <a16:creationId xmlns:a16="http://schemas.microsoft.com/office/drawing/2014/main" id="{2E4C4A57-7F69-45B6-9A31-F09C7B15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91100"/>
            <a:ext cx="32194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5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Proxy 测量边界之外</a:t>
            </a:r>
          </a:p>
        </p:txBody>
      </p:sp>
      <p:sp>
        <p:nvSpPr>
          <p:cNvPr id="63" name="strip-0606">
            <a:extLst xmlns:a="http://schemas.openxmlformats.org/drawingml/2006/main">
              <a:ext uri="{FF2B5EF4-FFF2-40B4-BE49-F238E27FC236}">
                <a16:creationId xmlns:a16="http://schemas.microsoft.com/office/drawing/2014/main" id="{3C5DC2EB-D0F8-40C6-8421-FFEF56CB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91100"/>
            <a:ext cx="47625" cy="44767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3B82F6"/>
          </a:solidFill>
          <a:ln xmlns:a="http://schemas.openxmlformats.org/drawingml/2006/main" w="4763">
            <a:solidFill>
              <a:srgbClr val="3B82F6"/>
            </a:solidFill>
            <a:prstDash val="solid"/>
          </a:ln>
        </p:spPr>
      </p:sp>
      <p:sp>
        <p:nvSpPr>
          <p:cNvPr id="64" name="closure-flow-0607">
            <a:extLst xmlns:a="http://schemas.openxmlformats.org/drawingml/2006/main">
              <a:ext uri="{FF2B5EF4-FFF2-40B4-BE49-F238E27FC236}">
                <a16:creationId xmlns:a16="http://schemas.microsoft.com/office/drawing/2014/main" id="{1083A6B7-EFEA-4564-92B6-F40F1A25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38800"/>
            <a:ext cx="100203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0B2B2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65" name="closure-flow-text-0608">
            <a:extLst xmlns:a="http://schemas.openxmlformats.org/drawingml/2006/main">
              <a:ext uri="{FF2B5EF4-FFF2-40B4-BE49-F238E27FC236}">
                <a16:creationId xmlns:a16="http://schemas.microsoft.com/office/drawing/2014/main" id="{643990CF-BA6C-440E-AF77-E4851F5C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76900"/>
            <a:ext cx="967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3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对齐窗口  →  提出假设  →  单一可验证动作  →  同负载复测  →  形成结论</a:t>
            </a:r>
          </a:p>
        </p:txBody>
      </p:sp>
      <p:sp>
        <p:nvSpPr>
          <p:cNvPr id="66" name="retest-metrics-0609">
            <a:extLst xmlns:a="http://schemas.openxmlformats.org/drawingml/2006/main">
              <a:ext uri="{FF2B5EF4-FFF2-40B4-BE49-F238E27FC236}">
                <a16:creationId xmlns:a16="http://schemas.microsoft.com/office/drawing/2014/main" id="{5903D0EC-4AFB-457C-A211-D67C9D78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057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复测：Average / P99 / Max / 错误 / 超时</a:t>
            </a:r>
          </a:p>
        </p:txBody>
      </p:sp>
      <p:sp>
        <p:nvSpPr>
          <p:cNvPr id="67" name="four-part-output-0610">
            <a:extLst xmlns:a="http://schemas.openxmlformats.org/drawingml/2006/main">
              <a:ext uri="{FF2B5EF4-FFF2-40B4-BE49-F238E27FC236}">
                <a16:creationId xmlns:a16="http://schemas.microsoft.com/office/drawing/2014/main" id="{D9E475EF-4543-4513-9F0B-30C6121D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057900"/>
            <a:ext cx="681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事实 ｜ 影响范围 ｜ 原因强度（已确认 / 推断 / 待验证）｜ 动作与复测结果</a:t>
            </a:r>
          </a:p>
        </p:txBody>
      </p:sp>
    </p:spTree>
    <p:extLst>
      <p:ext uri="{BB962C8B-B14F-4D97-AF65-F5344CB8AC3E}">
        <p14:creationId xmlns:p14="http://schemas.microsoft.com/office/powerpoint/2010/main" val="2457826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D063263-E41E-41E2-A750-BC57F596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6"/>
          </a:solidFill>
          <a:ln xmlns:a="http://schemas.openxmlformats.org/drawingml/2006/main" w="12700">
            <a:solidFill>
              <a:srgbClr val="070B1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16648B-89DE-401D-A2B3-4F8C61B6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DD3BFA0-8BA3-4979-8DC8-5762254B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"/>
            <a:ext cx="1219169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5" name="section-0611">
            <a:extLst xmlns:a="http://schemas.openxmlformats.org/drawingml/2006/main">
              <a:ext uri="{FF2B5EF4-FFF2-40B4-BE49-F238E27FC236}">
                <a16:creationId xmlns:a16="http://schemas.microsoft.com/office/drawing/2014/main" id="{751E1155-4964-4A64-A58B-9505A324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PART 4 · 典型场景</a:t>
            </a:r>
          </a:p>
        </p:txBody>
      </p:sp>
      <p:sp>
        <p:nvSpPr>
          <p:cNvPr id="6" name="page-top-0612">
            <a:extLst xmlns:a="http://schemas.openxmlformats.org/drawingml/2006/main">
              <a:ext uri="{FF2B5EF4-FFF2-40B4-BE49-F238E27FC236}">
                <a16:creationId xmlns:a16="http://schemas.microsoft.com/office/drawing/2014/main" id="{DBDA5877-9F95-425F-9641-F129F4CC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  <p:sp>
        <p:nvSpPr>
          <p:cNvPr id="7" name="title-0613">
            <a:extLst xmlns:a="http://schemas.openxmlformats.org/drawingml/2006/main">
              <a:ext uri="{FF2B5EF4-FFF2-40B4-BE49-F238E27FC236}">
                <a16:creationId xmlns:a16="http://schemas.microsoft.com/office/drawing/2014/main" id="{99539CF3-0068-4151-A2FE-D265BC20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Redis 产品侧：六类高频故障形态</a:t>
            </a:r>
          </a:p>
        </p:txBody>
      </p:sp>
      <p:sp>
        <p:nvSpPr>
          <p:cNvPr id="8" name="line-0614">
            <a:extLst xmlns:a="http://schemas.openxmlformats.org/drawingml/2006/main">
              <a:ext uri="{FF2B5EF4-FFF2-40B4-BE49-F238E27FC236}">
                <a16:creationId xmlns:a16="http://schemas.microsoft.com/office/drawing/2014/main" id="{22514845-A27C-44AB-AFD9-32AE2AFB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9" name="scenario-card-0615">
            <a:extLst xmlns:a="http://schemas.openxmlformats.org/drawingml/2006/main">
              <a:ext uri="{FF2B5EF4-FFF2-40B4-BE49-F238E27FC236}">
                <a16:creationId xmlns:a16="http://schemas.microsoft.com/office/drawing/2014/main" id="{E10940AF-F3B6-4C8B-BC48-53F5B819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505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1430">
            <a:solidFill>
              <a:srgbClr val="263750"/>
            </a:solidFill>
            <a:prstDash val="solid"/>
          </a:ln>
        </p:spPr>
      </p:sp>
      <p:sp>
        <p:nvSpPr>
          <p:cNvPr id="10" name="card-top-rule-0616">
            <a:extLst xmlns:a="http://schemas.openxmlformats.org/drawingml/2006/main">
              <a:ext uri="{FF2B5EF4-FFF2-40B4-BE49-F238E27FC236}">
                <a16:creationId xmlns:a16="http://schemas.microsoft.com/office/drawing/2014/main" id="{A735FF84-B748-4AAF-8CC9-F6AC3FFD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4763">
            <a:solidFill>
              <a:srgbClr val="F59E0B"/>
            </a:solidFill>
            <a:prstDash val="solid"/>
          </a:ln>
        </p:spPr>
      </p:sp>
      <p:sp>
        <p:nvSpPr>
          <p:cNvPr id="11" name="pill-0617">
            <a:extLst xmlns:a="http://schemas.openxmlformats.org/drawingml/2006/main">
              <a:ext uri="{FF2B5EF4-FFF2-40B4-BE49-F238E27FC236}">
                <a16:creationId xmlns:a16="http://schemas.microsoft.com/office/drawing/2014/main" id="{4977FECF-C794-4BED-B0B0-D90AEAAA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220A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2" name="pill-label-0618">
            <a:extLst xmlns:a="http://schemas.openxmlformats.org/drawingml/2006/main">
              <a:ext uri="{FF2B5EF4-FFF2-40B4-BE49-F238E27FC236}">
                <a16:creationId xmlns:a16="http://schemas.microsoft.com/office/drawing/2014/main" id="{B4DF00F4-A201-4768-9B99-2064D1EA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列热</a:t>
            </a:r>
          </a:p>
        </p:txBody>
      </p:sp>
      <p:sp>
        <p:nvSpPr>
          <p:cNvPr id="13" name="card-title-0619">
            <a:extLst xmlns:a="http://schemas.openxmlformats.org/drawingml/2006/main">
              <a:ext uri="{FF2B5EF4-FFF2-40B4-BE49-F238E27FC236}">
                <a16:creationId xmlns:a16="http://schemas.microsoft.com/office/drawing/2014/main" id="{1AF481FA-57C4-447A-A613-7B852B35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543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单 Shard 热点</a:t>
            </a:r>
          </a:p>
        </p:txBody>
      </p:sp>
      <p:sp>
        <p:nvSpPr>
          <p:cNvPr id="14" name="card-label-0620">
            <a:extLst xmlns:a="http://schemas.openxmlformats.org/drawingml/2006/main">
              <a:ext uri="{FF2B5EF4-FFF2-40B4-BE49-F238E27FC236}">
                <a16:creationId xmlns:a16="http://schemas.microsoft.com/office/drawing/2014/main" id="{1BF00848-B884-42CC-95DF-63F53EC1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形态</a:t>
            </a:r>
          </a:p>
        </p:txBody>
      </p:sp>
      <p:sp>
        <p:nvSpPr>
          <p:cNvPr id="15" name="card-shape-0621">
            <a:extLst xmlns:a="http://schemas.openxmlformats.org/drawingml/2006/main">
              <a:ext uri="{FF2B5EF4-FFF2-40B4-BE49-F238E27FC236}">
                <a16:creationId xmlns:a16="http://schemas.microsoft.com/office/drawing/2014/main" id="{48DF4F3F-35C7-419E-9FBD-03F8EE0C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多个入口到同一分片慢</a:t>
            </a:r>
          </a:p>
        </p:txBody>
      </p:sp>
      <p:sp>
        <p:nvSpPr>
          <p:cNvPr id="16" name="card-label-0622">
            <a:extLst xmlns:a="http://schemas.openxmlformats.org/drawingml/2006/main">
              <a:ext uri="{FF2B5EF4-FFF2-40B4-BE49-F238E27FC236}">
                <a16:creationId xmlns:a16="http://schemas.microsoft.com/office/drawing/2014/main" id="{8812BF28-2323-492B-8C29-61FEC0C8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首查</a:t>
            </a:r>
          </a:p>
        </p:txBody>
      </p:sp>
      <p:sp>
        <p:nvSpPr>
          <p:cNvPr id="17" name="card-action-0623">
            <a:extLst xmlns:a="http://schemas.openxmlformats.org/drawingml/2006/main">
              <a:ext uri="{FF2B5EF4-FFF2-40B4-BE49-F238E27FC236}">
                <a16:creationId xmlns:a16="http://schemas.microsoft.com/office/drawing/2014/main" id="{C84B49A7-1080-4D08-A7D8-CEAD0EAA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热点 / 数据倾斜 / 节点资源</a:t>
            </a:r>
          </a:p>
        </p:txBody>
      </p:sp>
      <p:sp>
        <p:nvSpPr>
          <p:cNvPr id="18" name="scenario-card-0624">
            <a:extLst xmlns:a="http://schemas.openxmlformats.org/drawingml/2006/main">
              <a:ext uri="{FF2B5EF4-FFF2-40B4-BE49-F238E27FC236}">
                <a16:creationId xmlns:a16="http://schemas.microsoft.com/office/drawing/2014/main" id="{2F0699E0-D86E-4A62-9E9C-AAF540B0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3505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1430">
            <a:solidFill>
              <a:srgbClr val="263750"/>
            </a:solidFill>
            <a:prstDash val="solid"/>
          </a:ln>
        </p:spPr>
      </p:sp>
      <p:sp>
        <p:nvSpPr>
          <p:cNvPr id="19" name="card-top-rule-0625">
            <a:extLst xmlns:a="http://schemas.openxmlformats.org/drawingml/2006/main">
              <a:ext uri="{FF2B5EF4-FFF2-40B4-BE49-F238E27FC236}">
                <a16:creationId xmlns:a16="http://schemas.microsoft.com/office/drawing/2014/main" id="{F55B4383-55F5-40BD-A005-444E4E33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4763">
            <a:solidFill>
              <a:srgbClr val="7C3AED"/>
            </a:solidFill>
            <a:prstDash val="solid"/>
          </a:ln>
        </p:spPr>
      </p:sp>
      <p:sp>
        <p:nvSpPr>
          <p:cNvPr id="20" name="pill-0626">
            <a:extLst xmlns:a="http://schemas.openxmlformats.org/drawingml/2006/main">
              <a:ext uri="{FF2B5EF4-FFF2-40B4-BE49-F238E27FC236}">
                <a16:creationId xmlns:a16="http://schemas.microsoft.com/office/drawing/2014/main" id="{27E8E535-C832-48E6-847C-E0E4A9DB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430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1642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21" name="pill-label-0627">
            <a:extLst xmlns:a="http://schemas.openxmlformats.org/drawingml/2006/main">
              <a:ext uri="{FF2B5EF4-FFF2-40B4-BE49-F238E27FC236}">
                <a16:creationId xmlns:a16="http://schemas.microsoft.com/office/drawing/2014/main" id="{627B7971-A43D-499F-9D10-3316FF63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621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行热</a:t>
            </a:r>
          </a:p>
        </p:txBody>
      </p:sp>
      <p:sp>
        <p:nvSpPr>
          <p:cNvPr id="22" name="card-title-0628">
            <a:extLst xmlns:a="http://schemas.openxmlformats.org/drawingml/2006/main">
              <a:ext uri="{FF2B5EF4-FFF2-40B4-BE49-F238E27FC236}">
                <a16:creationId xmlns:a16="http://schemas.microsoft.com/office/drawing/2014/main" id="{079B5D44-FA4A-4529-B664-04A914E1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43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单 Proxy 异常</a:t>
            </a:r>
          </a:p>
        </p:txBody>
      </p:sp>
      <p:sp>
        <p:nvSpPr>
          <p:cNvPr id="23" name="card-label-0629">
            <a:extLst xmlns:a="http://schemas.openxmlformats.org/drawingml/2006/main">
              <a:ext uri="{FF2B5EF4-FFF2-40B4-BE49-F238E27FC236}">
                <a16:creationId xmlns:a16="http://schemas.microsoft.com/office/drawing/2014/main" id="{1B09016B-41EA-4552-862B-DD0FFE5D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形态</a:t>
            </a:r>
          </a:p>
        </p:txBody>
      </p:sp>
      <p:sp>
        <p:nvSpPr>
          <p:cNvPr id="24" name="card-shape-0630">
            <a:extLst xmlns:a="http://schemas.openxmlformats.org/drawingml/2006/main">
              <a:ext uri="{FF2B5EF4-FFF2-40B4-BE49-F238E27FC236}">
                <a16:creationId xmlns:a16="http://schemas.microsoft.com/office/drawing/2014/main" id="{09B2B62E-0B88-4E6C-A3E6-09EF2A6A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764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一个入口到所有分片慢</a:t>
            </a:r>
          </a:p>
        </p:txBody>
      </p:sp>
      <p:sp>
        <p:nvSpPr>
          <p:cNvPr id="25" name="card-label-0631">
            <a:extLst xmlns:a="http://schemas.openxmlformats.org/drawingml/2006/main">
              <a:ext uri="{FF2B5EF4-FFF2-40B4-BE49-F238E27FC236}">
                <a16:creationId xmlns:a16="http://schemas.microsoft.com/office/drawing/2014/main" id="{E774A284-9ECC-45B7-A0A4-58B6A809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首查</a:t>
            </a:r>
          </a:p>
        </p:txBody>
      </p:sp>
      <p:sp>
        <p:nvSpPr>
          <p:cNvPr id="26" name="card-action-0632">
            <a:extLst xmlns:a="http://schemas.openxmlformats.org/drawingml/2006/main">
              <a:ext uri="{FF2B5EF4-FFF2-40B4-BE49-F238E27FC236}">
                <a16:creationId xmlns:a16="http://schemas.microsoft.com/office/drawing/2014/main" id="{8802CD78-30BB-4A4E-BEDB-41F99536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289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限流 / 事件循环 / 连接倾斜</a:t>
            </a:r>
          </a:p>
        </p:txBody>
      </p:sp>
      <p:sp>
        <p:nvSpPr>
          <p:cNvPr id="27" name="scenario-card-0633">
            <a:extLst xmlns:a="http://schemas.openxmlformats.org/drawingml/2006/main">
              <a:ext uri="{FF2B5EF4-FFF2-40B4-BE49-F238E27FC236}">
                <a16:creationId xmlns:a16="http://schemas.microsoft.com/office/drawing/2014/main" id="{DCAC560E-F5A6-4CE5-B735-858CA68E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52550"/>
            <a:ext cx="3505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1430">
            <a:solidFill>
              <a:srgbClr val="263750"/>
            </a:solidFill>
            <a:prstDash val="solid"/>
          </a:ln>
        </p:spPr>
      </p:sp>
      <p:sp>
        <p:nvSpPr>
          <p:cNvPr id="28" name="card-top-rule-0634">
            <a:extLst xmlns:a="http://schemas.openxmlformats.org/drawingml/2006/main">
              <a:ext uri="{FF2B5EF4-FFF2-40B4-BE49-F238E27FC236}">
                <a16:creationId xmlns:a16="http://schemas.microsoft.com/office/drawing/2014/main" id="{4055391F-62DD-4043-9F8E-69E70ECE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5255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4763">
            <a:solidFill>
              <a:srgbClr val="EF4444"/>
            </a:solidFill>
            <a:prstDash val="solid"/>
          </a:ln>
        </p:spPr>
      </p:sp>
      <p:sp>
        <p:nvSpPr>
          <p:cNvPr id="29" name="pill-0635">
            <a:extLst xmlns:a="http://schemas.openxmlformats.org/drawingml/2006/main">
              <a:ext uri="{FF2B5EF4-FFF2-40B4-BE49-F238E27FC236}">
                <a16:creationId xmlns:a16="http://schemas.microsoft.com/office/drawing/2014/main" id="{9DC9B5C7-C52F-4660-9FC0-D5B79351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31B"/>
          </a:solidFill>
          <a:ln xmlns:a="http://schemas.openxmlformats.org/drawingml/2006/main" w="11430">
            <a:solidFill>
              <a:srgbClr val="EF4444"/>
            </a:solidFill>
            <a:prstDash val="solid"/>
          </a:ln>
        </p:spPr>
      </p:sp>
      <p:sp>
        <p:nvSpPr>
          <p:cNvPr id="30" name="pill-label-0636">
            <a:extLst xmlns:a="http://schemas.openxmlformats.org/drawingml/2006/main">
              <a:ext uri="{FF2B5EF4-FFF2-40B4-BE49-F238E27FC236}">
                <a16:creationId xmlns:a16="http://schemas.microsoft.com/office/drawing/2014/main" id="{1C3C4ABC-4AEF-4627-9CDC-19B23A76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621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全局</a:t>
            </a:r>
          </a:p>
        </p:txBody>
      </p:sp>
      <p:sp>
        <p:nvSpPr>
          <p:cNvPr id="31" name="card-title-0637">
            <a:extLst xmlns:a="http://schemas.openxmlformats.org/drawingml/2006/main">
              <a:ext uri="{FF2B5EF4-FFF2-40B4-BE49-F238E27FC236}">
                <a16:creationId xmlns:a16="http://schemas.microsoft.com/office/drawing/2014/main" id="{11376372-D7F0-401A-AB87-4B81385F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43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集群排队饱和</a:t>
            </a:r>
          </a:p>
        </p:txBody>
      </p:sp>
      <p:sp>
        <p:nvSpPr>
          <p:cNvPr id="32" name="card-label-0638">
            <a:extLst xmlns:a="http://schemas.openxmlformats.org/drawingml/2006/main">
              <a:ext uri="{FF2B5EF4-FFF2-40B4-BE49-F238E27FC236}">
                <a16:creationId xmlns:a16="http://schemas.microsoft.com/office/drawing/2014/main" id="{FFAED220-A302-4F94-BDA7-9CF228B3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形态</a:t>
            </a:r>
          </a:p>
        </p:txBody>
      </p:sp>
      <p:sp>
        <p:nvSpPr>
          <p:cNvPr id="33" name="card-shape-0639">
            <a:extLst xmlns:a="http://schemas.openxmlformats.org/drawingml/2006/main">
              <a:ext uri="{FF2B5EF4-FFF2-40B4-BE49-F238E27FC236}">
                <a16:creationId xmlns:a16="http://schemas.microsoft.com/office/drawing/2014/main" id="{D18A8536-9D5D-43DC-AB7D-FF038B60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P50 / Avg / P99 同升</a:t>
            </a:r>
          </a:p>
        </p:txBody>
      </p:sp>
      <p:sp>
        <p:nvSpPr>
          <p:cNvPr id="34" name="card-label-0640">
            <a:extLst xmlns:a="http://schemas.openxmlformats.org/drawingml/2006/main">
              <a:ext uri="{FF2B5EF4-FFF2-40B4-BE49-F238E27FC236}">
                <a16:creationId xmlns:a16="http://schemas.microsoft.com/office/drawing/2014/main" id="{2C32769E-F0CD-447D-8EC4-5392379D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首查</a:t>
            </a:r>
          </a:p>
        </p:txBody>
      </p:sp>
      <p:sp>
        <p:nvSpPr>
          <p:cNvPr id="35" name="card-action-0641">
            <a:extLst xmlns:a="http://schemas.openxmlformats.org/drawingml/2006/main">
              <a:ext uri="{FF2B5EF4-FFF2-40B4-BE49-F238E27FC236}">
                <a16:creationId xmlns:a16="http://schemas.microsoft.com/office/drawing/2014/main" id="{87D27E17-0F3E-4AFD-927E-F428784B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进入 vs 完成 QPS / 队列</a:t>
            </a:r>
          </a:p>
        </p:txBody>
      </p:sp>
      <p:sp>
        <p:nvSpPr>
          <p:cNvPr id="36" name="scenario-card-0642">
            <a:extLst xmlns:a="http://schemas.openxmlformats.org/drawingml/2006/main">
              <a:ext uri="{FF2B5EF4-FFF2-40B4-BE49-F238E27FC236}">
                <a16:creationId xmlns:a16="http://schemas.microsoft.com/office/drawing/2014/main" id="{1B5963C7-0090-484F-8C68-74460958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3505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1430">
            <a:solidFill>
              <a:srgbClr val="263750"/>
            </a:solidFill>
            <a:prstDash val="solid"/>
          </a:ln>
        </p:spPr>
      </p:sp>
      <p:sp>
        <p:nvSpPr>
          <p:cNvPr id="37" name="card-top-rule-0643">
            <a:extLst xmlns:a="http://schemas.openxmlformats.org/drawingml/2006/main">
              <a:ext uri="{FF2B5EF4-FFF2-40B4-BE49-F238E27FC236}">
                <a16:creationId xmlns:a16="http://schemas.microsoft.com/office/drawing/2014/main" id="{59DB9A57-7FC4-4F53-B4B8-CE164E40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4763">
            <a:solidFill>
              <a:srgbClr val="FACC15"/>
            </a:solidFill>
            <a:prstDash val="solid"/>
          </a:ln>
        </p:spPr>
      </p:sp>
      <p:sp>
        <p:nvSpPr>
          <p:cNvPr id="38" name="pill-0644">
            <a:extLst xmlns:a="http://schemas.openxmlformats.org/drawingml/2006/main">
              <a:ext uri="{FF2B5EF4-FFF2-40B4-BE49-F238E27FC236}">
                <a16:creationId xmlns:a16="http://schemas.microsoft.com/office/drawing/2014/main" id="{AD0CB8B2-2685-464A-BA3C-C1996290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914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2908"/>
          </a:solidFill>
          <a:ln xmlns:a="http://schemas.openxmlformats.org/drawingml/2006/main" w="11430">
            <a:solidFill>
              <a:srgbClr val="FACC15"/>
            </a:solidFill>
            <a:prstDash val="solid"/>
          </a:ln>
        </p:spPr>
      </p:sp>
      <p:sp>
        <p:nvSpPr>
          <p:cNvPr id="39" name="pill-label-0645">
            <a:extLst xmlns:a="http://schemas.openxmlformats.org/drawingml/2006/main">
              <a:ext uri="{FF2B5EF4-FFF2-40B4-BE49-F238E27FC236}">
                <a16:creationId xmlns:a16="http://schemas.microsoft.com/office/drawing/2014/main" id="{35DB33E2-3645-4533-888A-55385E9A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ACC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ACC15"/>
                </a:solidFill>
                <a:latin typeface="Microsoft YaHei"/>
                <a:ea typeface="Microsoft YaHei"/>
                <a:cs typeface="Microsoft YaHei"/>
              </a:rPr>
              <a:t>周期峰</a:t>
            </a:r>
          </a:p>
        </p:txBody>
      </p:sp>
      <p:sp>
        <p:nvSpPr>
          <p:cNvPr id="40" name="card-title-0646">
            <a:extLst xmlns:a="http://schemas.openxmlformats.org/drawingml/2006/main">
              <a:ext uri="{FF2B5EF4-FFF2-40B4-BE49-F238E27FC236}">
                <a16:creationId xmlns:a16="http://schemas.microsoft.com/office/drawing/2014/main" id="{8FB4E609-122D-47E2-B55A-BCD0E6E2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29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周期后台任务</a:t>
            </a:r>
          </a:p>
        </p:txBody>
      </p:sp>
      <p:sp>
        <p:nvSpPr>
          <p:cNvPr id="41" name="card-label-0647">
            <a:extLst xmlns:a="http://schemas.openxmlformats.org/drawingml/2006/main">
              <a:ext uri="{FF2B5EF4-FFF2-40B4-BE49-F238E27FC236}">
                <a16:creationId xmlns:a16="http://schemas.microsoft.com/office/drawing/2014/main" id="{EF277B40-FF0A-4CAA-B08A-74D072ED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形态</a:t>
            </a:r>
          </a:p>
        </p:txBody>
      </p:sp>
      <p:sp>
        <p:nvSpPr>
          <p:cNvPr id="42" name="card-shape-0648">
            <a:extLst xmlns:a="http://schemas.openxmlformats.org/drawingml/2006/main">
              <a:ext uri="{FF2B5EF4-FFF2-40B4-BE49-F238E27FC236}">
                <a16:creationId xmlns:a16="http://schemas.microsoft.com/office/drawing/2014/main" id="{6EA8A3A9-F71F-49E0-8E4C-32F32C0D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P99 / Max 固定周期尖峰</a:t>
            </a:r>
          </a:p>
        </p:txBody>
      </p:sp>
      <p:sp>
        <p:nvSpPr>
          <p:cNvPr id="43" name="card-label-0649">
            <a:extLst xmlns:a="http://schemas.openxmlformats.org/drawingml/2006/main">
              <a:ext uri="{FF2B5EF4-FFF2-40B4-BE49-F238E27FC236}">
                <a16:creationId xmlns:a16="http://schemas.microsoft.com/office/drawing/2014/main" id="{DB33FA47-DF03-4E2B-94D4-6B93E302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ACC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ACC15"/>
                </a:solidFill>
                <a:latin typeface="Microsoft YaHei"/>
                <a:ea typeface="Microsoft YaHei"/>
                <a:cs typeface="Microsoft YaHei"/>
              </a:rPr>
              <a:t>首查</a:t>
            </a:r>
          </a:p>
        </p:txBody>
      </p:sp>
      <p:sp>
        <p:nvSpPr>
          <p:cNvPr id="44" name="card-action-0650">
            <a:extLst xmlns:a="http://schemas.openxmlformats.org/drawingml/2006/main">
              <a:ext uri="{FF2B5EF4-FFF2-40B4-BE49-F238E27FC236}">
                <a16:creationId xmlns:a16="http://schemas.microsoft.com/office/drawing/2014/main" id="{1F7EE1CC-8D9A-495F-81F7-36735DF8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快照 / 压缩 / 备份 / 迁移</a:t>
            </a:r>
          </a:p>
        </p:txBody>
      </p:sp>
      <p:sp>
        <p:nvSpPr>
          <p:cNvPr id="45" name="scenario-card-0651">
            <a:extLst xmlns:a="http://schemas.openxmlformats.org/drawingml/2006/main">
              <a:ext uri="{FF2B5EF4-FFF2-40B4-BE49-F238E27FC236}">
                <a16:creationId xmlns:a16="http://schemas.microsoft.com/office/drawing/2014/main" id="{66E9C7D6-3F42-4E18-8396-649CD1D3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505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1430">
            <a:solidFill>
              <a:srgbClr val="263750"/>
            </a:solidFill>
            <a:prstDash val="solid"/>
          </a:ln>
        </p:spPr>
      </p:sp>
      <p:sp>
        <p:nvSpPr>
          <p:cNvPr id="46" name="card-top-rule-0652">
            <a:extLst xmlns:a="http://schemas.openxmlformats.org/drawingml/2006/main">
              <a:ext uri="{FF2B5EF4-FFF2-40B4-BE49-F238E27FC236}">
                <a16:creationId xmlns:a16="http://schemas.microsoft.com/office/drawing/2014/main" id="{9BD747F8-8AC7-444C-B908-82AA51B2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4763">
            <a:solidFill>
              <a:srgbClr val="EF4444"/>
            </a:solidFill>
            <a:prstDash val="solid"/>
          </a:ln>
        </p:spPr>
      </p:sp>
      <p:sp>
        <p:nvSpPr>
          <p:cNvPr id="47" name="pill-0653">
            <a:extLst xmlns:a="http://schemas.openxmlformats.org/drawingml/2006/main">
              <a:ext uri="{FF2B5EF4-FFF2-40B4-BE49-F238E27FC236}">
                <a16:creationId xmlns:a16="http://schemas.microsoft.com/office/drawing/2014/main" id="{93B933A6-4D9A-45C6-A4C6-10E571A7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914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31B"/>
          </a:solidFill>
          <a:ln xmlns:a="http://schemas.openxmlformats.org/drawingml/2006/main" w="11430">
            <a:solidFill>
              <a:srgbClr val="EF4444"/>
            </a:solidFill>
            <a:prstDash val="solid"/>
          </a:ln>
        </p:spPr>
      </p:sp>
      <p:sp>
        <p:nvSpPr>
          <p:cNvPr id="48" name="pill-label-0654">
            <a:extLst xmlns:a="http://schemas.openxmlformats.org/drawingml/2006/main">
              <a:ext uri="{FF2B5EF4-FFF2-40B4-BE49-F238E27FC236}">
                <a16:creationId xmlns:a16="http://schemas.microsoft.com/office/drawing/2014/main" id="{D6E47D98-24C8-4164-ADBC-9842556D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48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切换峰</a:t>
            </a:r>
          </a:p>
        </p:txBody>
      </p:sp>
      <p:sp>
        <p:nvSpPr>
          <p:cNvPr id="49" name="card-title-0655">
            <a:extLst xmlns:a="http://schemas.openxmlformats.org/drawingml/2006/main">
              <a:ext uri="{FF2B5EF4-FFF2-40B4-BE49-F238E27FC236}">
                <a16:creationId xmlns:a16="http://schemas.microsoft.com/office/drawing/2014/main" id="{6C27A6A2-8812-4F6C-A423-2DC84469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29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切换与恢复</a:t>
            </a:r>
          </a:p>
        </p:txBody>
      </p:sp>
      <p:sp>
        <p:nvSpPr>
          <p:cNvPr id="50" name="card-label-0656">
            <a:extLst xmlns:a="http://schemas.openxmlformats.org/drawingml/2006/main">
              <a:ext uri="{FF2B5EF4-FFF2-40B4-BE49-F238E27FC236}">
                <a16:creationId xmlns:a16="http://schemas.microsoft.com/office/drawing/2014/main" id="{168F292C-768D-4EF2-A677-DF3128F1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81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形态</a:t>
            </a:r>
          </a:p>
        </p:txBody>
      </p:sp>
      <p:sp>
        <p:nvSpPr>
          <p:cNvPr id="51" name="card-shape-0657">
            <a:extLst xmlns:a="http://schemas.openxmlformats.org/drawingml/2006/main">
              <a:ext uri="{FF2B5EF4-FFF2-40B4-BE49-F238E27FC236}">
                <a16:creationId xmlns:a16="http://schemas.microsoft.com/office/drawing/2014/main" id="{2A1D7129-3507-40A2-8675-9309079D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624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时延 / 错误 / 重连同步升高</a:t>
            </a:r>
          </a:p>
        </p:txBody>
      </p:sp>
      <p:sp>
        <p:nvSpPr>
          <p:cNvPr id="52" name="card-label-0658">
            <a:extLst xmlns:a="http://schemas.openxmlformats.org/drawingml/2006/main">
              <a:ext uri="{FF2B5EF4-FFF2-40B4-BE49-F238E27FC236}">
                <a16:creationId xmlns:a16="http://schemas.microsoft.com/office/drawing/2014/main" id="{0B19B887-535B-4B37-A3C8-D102CAB0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33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首查</a:t>
            </a:r>
          </a:p>
        </p:txBody>
      </p:sp>
      <p:sp>
        <p:nvSpPr>
          <p:cNvPr id="53" name="card-action-0659">
            <a:extLst xmlns:a="http://schemas.openxmlformats.org/drawingml/2006/main">
              <a:ext uri="{FF2B5EF4-FFF2-40B4-BE49-F238E27FC236}">
                <a16:creationId xmlns:a16="http://schemas.microsoft.com/office/drawing/2014/main" id="{BCCECFEE-50D2-4B2C-A85F-D5E32F4F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9149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切换 / 复制追赶 / 容量余量</a:t>
            </a:r>
          </a:p>
        </p:txBody>
      </p:sp>
      <p:sp>
        <p:nvSpPr>
          <p:cNvPr id="54" name="scenario-card-0660">
            <a:extLst xmlns:a="http://schemas.openxmlformats.org/drawingml/2006/main">
              <a:ext uri="{FF2B5EF4-FFF2-40B4-BE49-F238E27FC236}">
                <a16:creationId xmlns:a16="http://schemas.microsoft.com/office/drawing/2014/main" id="{9574E704-8627-48A8-A44D-89EE1716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505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1430">
            <a:solidFill>
              <a:srgbClr val="263750"/>
            </a:solidFill>
            <a:prstDash val="solid"/>
          </a:ln>
        </p:spPr>
      </p:sp>
      <p:sp>
        <p:nvSpPr>
          <p:cNvPr id="55" name="card-top-rule-0661">
            <a:extLst xmlns:a="http://schemas.openxmlformats.org/drawingml/2006/main">
              <a:ext uri="{FF2B5EF4-FFF2-40B4-BE49-F238E27FC236}">
                <a16:creationId xmlns:a16="http://schemas.microsoft.com/office/drawing/2014/main" id="{2C7EA8D3-6903-474B-849C-956FEBE6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4763">
            <a:solidFill>
              <a:srgbClr val="22D3EE"/>
            </a:solidFill>
            <a:prstDash val="solid"/>
          </a:ln>
        </p:spPr>
      </p:sp>
      <p:sp>
        <p:nvSpPr>
          <p:cNvPr id="56" name="pill-0662">
            <a:extLst xmlns:a="http://schemas.openxmlformats.org/drawingml/2006/main">
              <a:ext uri="{FF2B5EF4-FFF2-40B4-BE49-F238E27FC236}">
                <a16:creationId xmlns:a16="http://schemas.microsoft.com/office/drawing/2014/main" id="{7B217ACA-3107-4A1C-BECE-DC2B3811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29050"/>
            <a:ext cx="914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1"/>
          </a:solidFill>
          <a:ln xmlns:a="http://schemas.openxmlformats.org/drawingml/2006/main" w="11430">
            <a:solidFill>
              <a:srgbClr val="22D3EE"/>
            </a:solidFill>
            <a:prstDash val="solid"/>
          </a:ln>
        </p:spPr>
      </p:sp>
      <p:sp>
        <p:nvSpPr>
          <p:cNvPr id="57" name="pill-label-0663">
            <a:extLst xmlns:a="http://schemas.openxmlformats.org/drawingml/2006/main">
              <a:ext uri="{FF2B5EF4-FFF2-40B4-BE49-F238E27FC236}">
                <a16:creationId xmlns:a16="http://schemas.microsoft.com/office/drawing/2014/main" id="{3F4D31D7-5FB4-4445-86DC-AC0D02AB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链路峰</a:t>
            </a:r>
          </a:p>
        </p:txBody>
      </p:sp>
      <p:sp>
        <p:nvSpPr>
          <p:cNvPr id="58" name="card-title-0664">
            <a:extLst xmlns:a="http://schemas.openxmlformats.org/drawingml/2006/main">
              <a:ext uri="{FF2B5EF4-FFF2-40B4-BE49-F238E27FC236}">
                <a16:creationId xmlns:a16="http://schemas.microsoft.com/office/drawing/2014/main" id="{0555FE0B-1F65-4BB3-881D-44D5A6A8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29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网络 / 主机抖动</a:t>
            </a:r>
          </a:p>
        </p:txBody>
      </p:sp>
      <p:sp>
        <p:nvSpPr>
          <p:cNvPr id="59" name="card-label-0665">
            <a:extLst xmlns:a="http://schemas.openxmlformats.org/drawingml/2006/main">
              <a:ext uri="{FF2B5EF4-FFF2-40B4-BE49-F238E27FC236}">
                <a16:creationId xmlns:a16="http://schemas.microsoft.com/office/drawing/2014/main" id="{8776F54F-59B2-4766-8233-054185E1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形态</a:t>
            </a:r>
          </a:p>
        </p:txBody>
      </p:sp>
      <p:sp>
        <p:nvSpPr>
          <p:cNvPr id="60" name="card-shape-0666">
            <a:extLst xmlns:a="http://schemas.openxmlformats.org/drawingml/2006/main">
              <a:ext uri="{FF2B5EF4-FFF2-40B4-BE49-F238E27FC236}">
                <a16:creationId xmlns:a16="http://schemas.microsoft.com/office/drawing/2014/main" id="{2D128AD3-C8DC-4568-8861-BB10082C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624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执行正常，RPC 或 Max 升高</a:t>
            </a:r>
          </a:p>
        </p:txBody>
      </p:sp>
      <p:sp>
        <p:nvSpPr>
          <p:cNvPr id="61" name="card-label-0667">
            <a:extLst xmlns:a="http://schemas.openxmlformats.org/drawingml/2006/main">
              <a:ext uri="{FF2B5EF4-FFF2-40B4-BE49-F238E27FC236}">
                <a16:creationId xmlns:a16="http://schemas.microsoft.com/office/drawing/2014/main" id="{FFD893BD-CE26-4975-AB42-E855BE5B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33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首查</a:t>
            </a:r>
          </a:p>
        </p:txBody>
      </p:sp>
      <p:sp>
        <p:nvSpPr>
          <p:cNvPr id="62" name="card-action-0668">
            <a:extLst xmlns:a="http://schemas.openxmlformats.org/drawingml/2006/main">
              <a:ext uri="{FF2B5EF4-FFF2-40B4-BE49-F238E27FC236}">
                <a16:creationId xmlns:a16="http://schemas.microsoft.com/office/drawing/2014/main" id="{7AC2CE0B-AB75-4C9B-AB5E-F9254C61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149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重传 / throttling / I/O stall</a:t>
            </a:r>
          </a:p>
        </p:txBody>
      </p:sp>
      <p:sp>
        <p:nvSpPr>
          <p:cNvPr id="63" name="scenario-footer-0669">
            <a:extLst xmlns:a="http://schemas.openxmlformats.org/drawingml/2006/main">
              <a:ext uri="{FF2B5EF4-FFF2-40B4-BE49-F238E27FC236}">
                <a16:creationId xmlns:a16="http://schemas.microsoft.com/office/drawing/2014/main" id="{43ADB649-2CCF-4C40-A4A3-9E60BBB8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48350"/>
            <a:ext cx="99822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0A1424"/>
          </a:solidFill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64" name="scenario-footer-text-0670">
            <a:extLst xmlns:a="http://schemas.openxmlformats.org/drawingml/2006/main">
              <a:ext uri="{FF2B5EF4-FFF2-40B4-BE49-F238E27FC236}">
                <a16:creationId xmlns:a16="http://schemas.microsoft.com/office/drawing/2014/main" id="{8A1111AE-6F31-4D13-9EAA-C0334CDE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0"/>
            <a:ext cx="967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先看空间分布（行 / 列 / 全局），再拆排队与执行，最后叠加时间事件。</a:t>
            </a:r>
          </a:p>
        </p:txBody>
      </p:sp>
    </p:spTree>
    <p:extLst>
      <p:ext uri="{BB962C8B-B14F-4D97-AF65-F5344CB8AC3E}">
        <p14:creationId xmlns:p14="http://schemas.microsoft.com/office/powerpoint/2010/main" val="6464293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9713FAB-CC2F-4E66-BA58-5D4851EF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6"/>
          </a:solidFill>
          <a:ln xmlns:a="http://schemas.openxmlformats.org/drawingml/2006/main" w="12700">
            <a:solidFill>
              <a:srgbClr val="070B1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31B701D-5B69-43C1-8541-AE3D4ABC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BE1EC82-F2D1-4740-9CCC-586B36C7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"/>
            <a:ext cx="1219169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5" name="section-0671">
            <a:extLst xmlns:a="http://schemas.openxmlformats.org/drawingml/2006/main">
              <a:ext uri="{FF2B5EF4-FFF2-40B4-BE49-F238E27FC236}">
                <a16:creationId xmlns:a16="http://schemas.microsoft.com/office/drawing/2014/main" id="{C6D7C227-0EC4-488B-9D90-C92C6823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PART 4 · 典型场景</a:t>
            </a:r>
          </a:p>
        </p:txBody>
      </p:sp>
      <p:sp>
        <p:nvSpPr>
          <p:cNvPr id="6" name="page-top-0672">
            <a:extLst xmlns:a="http://schemas.openxmlformats.org/drawingml/2006/main">
              <a:ext uri="{FF2B5EF4-FFF2-40B4-BE49-F238E27FC236}">
                <a16:creationId xmlns:a16="http://schemas.microsoft.com/office/drawing/2014/main" id="{82942B53-0B6A-4965-89ED-F6405F988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  <p:sp>
        <p:nvSpPr>
          <p:cNvPr id="7" name="title-0673">
            <a:extLst xmlns:a="http://schemas.openxmlformats.org/drawingml/2006/main">
              <a:ext uri="{FF2B5EF4-FFF2-40B4-BE49-F238E27FC236}">
                <a16:creationId xmlns:a16="http://schemas.microsoft.com/office/drawing/2014/main" id="{43974BD7-6796-4802-9883-487494E4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业务使用侧：六类常见触发方式</a:t>
            </a:r>
          </a:p>
        </p:txBody>
      </p:sp>
      <p:sp>
        <p:nvSpPr>
          <p:cNvPr id="8" name="line-0674">
            <a:extLst xmlns:a="http://schemas.openxmlformats.org/drawingml/2006/main">
              <a:ext uri="{FF2B5EF4-FFF2-40B4-BE49-F238E27FC236}">
                <a16:creationId xmlns:a16="http://schemas.microsoft.com/office/drawing/2014/main" id="{796EA290-319F-4403-A686-5C82DDE5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9" name="scenario-card-0675">
            <a:extLst xmlns:a="http://schemas.openxmlformats.org/drawingml/2006/main">
              <a:ext uri="{FF2B5EF4-FFF2-40B4-BE49-F238E27FC236}">
                <a16:creationId xmlns:a16="http://schemas.microsoft.com/office/drawing/2014/main" id="{B485DBD8-4B1D-42DD-A910-9A21F3F9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505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1430">
            <a:solidFill>
              <a:srgbClr val="263750"/>
            </a:solidFill>
            <a:prstDash val="solid"/>
          </a:ln>
        </p:spPr>
      </p:sp>
      <p:sp>
        <p:nvSpPr>
          <p:cNvPr id="10" name="card-top-rule-0676">
            <a:extLst xmlns:a="http://schemas.openxmlformats.org/drawingml/2006/main">
              <a:ext uri="{FF2B5EF4-FFF2-40B4-BE49-F238E27FC236}">
                <a16:creationId xmlns:a16="http://schemas.microsoft.com/office/drawing/2014/main" id="{55E53EDF-AFEF-4A37-8C31-9C21790A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4763">
            <a:solidFill>
              <a:srgbClr val="F59E0B"/>
            </a:solidFill>
            <a:prstDash val="solid"/>
          </a:ln>
        </p:spPr>
      </p:sp>
      <p:sp>
        <p:nvSpPr>
          <p:cNvPr id="11" name="pill-0677">
            <a:extLst xmlns:a="http://schemas.openxmlformats.org/drawingml/2006/main">
              <a:ext uri="{FF2B5EF4-FFF2-40B4-BE49-F238E27FC236}">
                <a16:creationId xmlns:a16="http://schemas.microsoft.com/office/drawing/2014/main" id="{109DFC21-2B1A-4CE5-B3BC-F1E12E39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220A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2" name="pill-label-0678">
            <a:extLst xmlns:a="http://schemas.openxmlformats.org/drawingml/2006/main">
              <a:ext uri="{FF2B5EF4-FFF2-40B4-BE49-F238E27FC236}">
                <a16:creationId xmlns:a16="http://schemas.microsoft.com/office/drawing/2014/main" id="{BB05135D-ADB4-4EC1-BF41-E21A2852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621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大对象</a:t>
            </a:r>
          </a:p>
        </p:txBody>
      </p:sp>
      <p:sp>
        <p:nvSpPr>
          <p:cNvPr id="13" name="card-title-0679">
            <a:extLst xmlns:a="http://schemas.openxmlformats.org/drawingml/2006/main">
              <a:ext uri="{FF2B5EF4-FFF2-40B4-BE49-F238E27FC236}">
                <a16:creationId xmlns:a16="http://schemas.microsoft.com/office/drawing/2014/main" id="{EF819029-2F5A-40B2-8B3B-1A8BC48E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543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复杂命令 / 大对象</a:t>
            </a:r>
          </a:p>
        </p:txBody>
      </p:sp>
      <p:sp>
        <p:nvSpPr>
          <p:cNvPr id="14" name="card-label-0680">
            <a:extLst xmlns:a="http://schemas.openxmlformats.org/drawingml/2006/main">
              <a:ext uri="{FF2B5EF4-FFF2-40B4-BE49-F238E27FC236}">
                <a16:creationId xmlns:a16="http://schemas.microsoft.com/office/drawing/2014/main" id="{F50C3154-2723-4365-A7B6-E66171E7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形态</a:t>
            </a:r>
          </a:p>
        </p:txBody>
      </p:sp>
      <p:sp>
        <p:nvSpPr>
          <p:cNvPr id="15" name="card-shape-0681">
            <a:extLst xmlns:a="http://schemas.openxmlformats.org/drawingml/2006/main">
              <a:ext uri="{FF2B5EF4-FFF2-40B4-BE49-F238E27FC236}">
                <a16:creationId xmlns:a16="http://schemas.microsoft.com/office/drawing/2014/main" id="{F4618D50-6689-491A-938D-60F4E731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大范围读取、长 Lua、大 Value / 响应</a:t>
            </a:r>
          </a:p>
        </p:txBody>
      </p:sp>
      <p:sp>
        <p:nvSpPr>
          <p:cNvPr id="16" name="card-label-0682">
            <a:extLst xmlns:a="http://schemas.openxmlformats.org/drawingml/2006/main">
              <a:ext uri="{FF2B5EF4-FFF2-40B4-BE49-F238E27FC236}">
                <a16:creationId xmlns:a16="http://schemas.microsoft.com/office/drawing/2014/main" id="{CB97A9EC-DA0B-4EA5-A494-34FE28DC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17" name="card-action-0683">
            <a:extLst xmlns:a="http://schemas.openxmlformats.org/drawingml/2006/main">
              <a:ext uri="{FF2B5EF4-FFF2-40B4-BE49-F238E27FC236}">
                <a16:creationId xmlns:a16="http://schemas.microsoft.com/office/drawing/2014/main" id="{13AF6EBF-6FB8-4D70-8CAA-738B9E30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分页 / 拆分 / 限制单次返回</a:t>
            </a:r>
          </a:p>
        </p:txBody>
      </p:sp>
      <p:sp>
        <p:nvSpPr>
          <p:cNvPr id="18" name="scenario-card-0684">
            <a:extLst xmlns:a="http://schemas.openxmlformats.org/drawingml/2006/main">
              <a:ext uri="{FF2B5EF4-FFF2-40B4-BE49-F238E27FC236}">
                <a16:creationId xmlns:a16="http://schemas.microsoft.com/office/drawing/2014/main" id="{81782CF1-59A8-4904-A454-565B107A2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3505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1430">
            <a:solidFill>
              <a:srgbClr val="263750"/>
            </a:solidFill>
            <a:prstDash val="solid"/>
          </a:ln>
        </p:spPr>
      </p:sp>
      <p:sp>
        <p:nvSpPr>
          <p:cNvPr id="19" name="card-top-rule-0685">
            <a:extLst xmlns:a="http://schemas.openxmlformats.org/drawingml/2006/main">
              <a:ext uri="{FF2B5EF4-FFF2-40B4-BE49-F238E27FC236}">
                <a16:creationId xmlns:a16="http://schemas.microsoft.com/office/drawing/2014/main" id="{19CF603B-5311-41B4-936E-B38B77E6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4763">
            <a:solidFill>
              <a:srgbClr val="EF4444"/>
            </a:solidFill>
            <a:prstDash val="solid"/>
          </a:ln>
        </p:spPr>
      </p:sp>
      <p:sp>
        <p:nvSpPr>
          <p:cNvPr id="20" name="pill-0686">
            <a:extLst xmlns:a="http://schemas.openxmlformats.org/drawingml/2006/main">
              <a:ext uri="{FF2B5EF4-FFF2-40B4-BE49-F238E27FC236}">
                <a16:creationId xmlns:a16="http://schemas.microsoft.com/office/drawing/2014/main" id="{EDDF458C-C3DA-4FAB-A288-CD119EB9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430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31B"/>
          </a:solidFill>
          <a:ln xmlns:a="http://schemas.openxmlformats.org/drawingml/2006/main" w="11430">
            <a:solidFill>
              <a:srgbClr val="EF4444"/>
            </a:solidFill>
            <a:prstDash val="solid"/>
          </a:ln>
        </p:spPr>
      </p:sp>
      <p:sp>
        <p:nvSpPr>
          <p:cNvPr id="21" name="pill-label-0687">
            <a:extLst xmlns:a="http://schemas.openxmlformats.org/drawingml/2006/main">
              <a:ext uri="{FF2B5EF4-FFF2-40B4-BE49-F238E27FC236}">
                <a16:creationId xmlns:a16="http://schemas.microsoft.com/office/drawing/2014/main" id="{7E8702F3-B374-4D9D-918E-598ACAD0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621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热点</a:t>
            </a:r>
          </a:p>
        </p:txBody>
      </p:sp>
      <p:sp>
        <p:nvSpPr>
          <p:cNvPr id="22" name="card-title-0688">
            <a:extLst xmlns:a="http://schemas.openxmlformats.org/drawingml/2006/main">
              <a:ext uri="{FF2B5EF4-FFF2-40B4-BE49-F238E27FC236}">
                <a16:creationId xmlns:a16="http://schemas.microsoft.com/office/drawing/2014/main" id="{9BB11FA3-2179-4667-A569-15883B59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543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热 Key / 数据倾斜</a:t>
            </a:r>
          </a:p>
        </p:txBody>
      </p:sp>
      <p:sp>
        <p:nvSpPr>
          <p:cNvPr id="23" name="card-label-0689">
            <a:extLst xmlns:a="http://schemas.openxmlformats.org/drawingml/2006/main">
              <a:ext uri="{FF2B5EF4-FFF2-40B4-BE49-F238E27FC236}">
                <a16:creationId xmlns:a16="http://schemas.microsoft.com/office/drawing/2014/main" id="{0A0BBAFE-0694-4DA7-BD30-4B350F7C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95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形态</a:t>
            </a:r>
          </a:p>
        </p:txBody>
      </p:sp>
      <p:sp>
        <p:nvSpPr>
          <p:cNvPr id="24" name="card-shape-0690">
            <a:extLst xmlns:a="http://schemas.openxmlformats.org/drawingml/2006/main">
              <a:ext uri="{FF2B5EF4-FFF2-40B4-BE49-F238E27FC236}">
                <a16:creationId xmlns:a16="http://schemas.microsoft.com/office/drawing/2014/main" id="{ACF320E8-F398-4C60-BFBE-586853CF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764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少量 Key 或前缀集中访问</a:t>
            </a:r>
          </a:p>
        </p:txBody>
      </p:sp>
      <p:sp>
        <p:nvSpPr>
          <p:cNvPr id="25" name="card-label-0691">
            <a:extLst xmlns:a="http://schemas.openxmlformats.org/drawingml/2006/main">
              <a:ext uri="{FF2B5EF4-FFF2-40B4-BE49-F238E27FC236}">
                <a16:creationId xmlns:a16="http://schemas.microsoft.com/office/drawing/2014/main" id="{15E554FA-23FE-4B47-8FCA-898B6A1D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47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26" name="card-action-0692">
            <a:extLst xmlns:a="http://schemas.openxmlformats.org/drawingml/2006/main">
              <a:ext uri="{FF2B5EF4-FFF2-40B4-BE49-F238E27FC236}">
                <a16:creationId xmlns:a16="http://schemas.microsoft.com/office/drawing/2014/main" id="{98EE2358-CC0E-4181-9794-C8A7D924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289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拆热点 / 本地缓存 / 分散 Key</a:t>
            </a:r>
          </a:p>
        </p:txBody>
      </p:sp>
      <p:sp>
        <p:nvSpPr>
          <p:cNvPr id="27" name="scenario-card-0693">
            <a:extLst xmlns:a="http://schemas.openxmlformats.org/drawingml/2006/main">
              <a:ext uri="{FF2B5EF4-FFF2-40B4-BE49-F238E27FC236}">
                <a16:creationId xmlns:a16="http://schemas.microsoft.com/office/drawing/2014/main" id="{58557FCB-FB42-4A9A-BCC6-A852439A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52550"/>
            <a:ext cx="3505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1430">
            <a:solidFill>
              <a:srgbClr val="263750"/>
            </a:solidFill>
            <a:prstDash val="solid"/>
          </a:ln>
        </p:spPr>
      </p:sp>
      <p:sp>
        <p:nvSpPr>
          <p:cNvPr id="28" name="card-top-rule-0694">
            <a:extLst xmlns:a="http://schemas.openxmlformats.org/drawingml/2006/main">
              <a:ext uri="{FF2B5EF4-FFF2-40B4-BE49-F238E27FC236}">
                <a16:creationId xmlns:a16="http://schemas.microsoft.com/office/drawing/2014/main" id="{AA2591A4-CFC0-4A10-B9DC-FC926279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5255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4763">
            <a:solidFill>
              <a:srgbClr val="22D3EE"/>
            </a:solidFill>
            <a:prstDash val="solid"/>
          </a:ln>
        </p:spPr>
      </p:sp>
      <p:sp>
        <p:nvSpPr>
          <p:cNvPr id="29" name="pill-0695">
            <a:extLst xmlns:a="http://schemas.openxmlformats.org/drawingml/2006/main">
              <a:ext uri="{FF2B5EF4-FFF2-40B4-BE49-F238E27FC236}">
                <a16:creationId xmlns:a16="http://schemas.microsoft.com/office/drawing/2014/main" id="{D5DC62E2-63F6-4A16-B2F9-5AEC7A24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A31"/>
          </a:solidFill>
          <a:ln xmlns:a="http://schemas.openxmlformats.org/drawingml/2006/main" w="11430">
            <a:solidFill>
              <a:srgbClr val="22D3EE"/>
            </a:solidFill>
            <a:prstDash val="solid"/>
          </a:ln>
        </p:spPr>
      </p:sp>
      <p:sp>
        <p:nvSpPr>
          <p:cNvPr id="30" name="pill-label-0696">
            <a:extLst xmlns:a="http://schemas.openxmlformats.org/drawingml/2006/main">
              <a:ext uri="{FF2B5EF4-FFF2-40B4-BE49-F238E27FC236}">
                <a16:creationId xmlns:a16="http://schemas.microsoft.com/office/drawing/2014/main" id="{B24009BD-20CC-4432-BF46-0790F125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621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连接</a:t>
            </a:r>
          </a:p>
        </p:txBody>
      </p:sp>
      <p:sp>
        <p:nvSpPr>
          <p:cNvPr id="31" name="card-title-0697">
            <a:extLst xmlns:a="http://schemas.openxmlformats.org/drawingml/2006/main">
              <a:ext uri="{FF2B5EF4-FFF2-40B4-BE49-F238E27FC236}">
                <a16:creationId xmlns:a16="http://schemas.microsoft.com/office/drawing/2014/main" id="{5739912D-91D6-4788-9152-02391AF8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543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短连接 / 连接池不足</a:t>
            </a:r>
          </a:p>
        </p:txBody>
      </p:sp>
      <p:sp>
        <p:nvSpPr>
          <p:cNvPr id="32" name="card-label-0698">
            <a:extLst xmlns:a="http://schemas.openxmlformats.org/drawingml/2006/main">
              <a:ext uri="{FF2B5EF4-FFF2-40B4-BE49-F238E27FC236}">
                <a16:creationId xmlns:a16="http://schemas.microsoft.com/office/drawing/2014/main" id="{0A2E06EB-1763-408C-AA8E-EC0E5793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形态</a:t>
            </a:r>
          </a:p>
        </p:txBody>
      </p:sp>
      <p:sp>
        <p:nvSpPr>
          <p:cNvPr id="33" name="card-shape-0699">
            <a:extLst xmlns:a="http://schemas.openxmlformats.org/drawingml/2006/main">
              <a:ext uri="{FF2B5EF4-FFF2-40B4-BE49-F238E27FC236}">
                <a16:creationId xmlns:a16="http://schemas.microsoft.com/office/drawing/2014/main" id="{0ADF8440-6D36-4314-ACC8-35C12348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764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握手频繁或业务线程等待连接</a:t>
            </a:r>
          </a:p>
        </p:txBody>
      </p:sp>
      <p:sp>
        <p:nvSpPr>
          <p:cNvPr id="34" name="card-label-0700">
            <a:extLst xmlns:a="http://schemas.openxmlformats.org/drawingml/2006/main">
              <a:ext uri="{FF2B5EF4-FFF2-40B4-BE49-F238E27FC236}">
                <a16:creationId xmlns:a16="http://schemas.microsoft.com/office/drawing/2014/main" id="{B4533DD7-CEE3-44E5-B26F-24409FD9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2D3EE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35" name="card-action-0701">
            <a:extLst xmlns:a="http://schemas.openxmlformats.org/drawingml/2006/main">
              <a:ext uri="{FF2B5EF4-FFF2-40B4-BE49-F238E27FC236}">
                <a16:creationId xmlns:a16="http://schemas.microsoft.com/office/drawing/2014/main" id="{A6E48B4F-6DAA-4D81-A274-80222210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289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连接复用 / 调整连接池</a:t>
            </a:r>
          </a:p>
        </p:txBody>
      </p:sp>
      <p:sp>
        <p:nvSpPr>
          <p:cNvPr id="36" name="scenario-card-0702">
            <a:extLst xmlns:a="http://schemas.openxmlformats.org/drawingml/2006/main">
              <a:ext uri="{FF2B5EF4-FFF2-40B4-BE49-F238E27FC236}">
                <a16:creationId xmlns:a16="http://schemas.microsoft.com/office/drawing/2014/main" id="{5EB0690C-0300-468C-A8F8-2FA657C6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3505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1430">
            <a:solidFill>
              <a:srgbClr val="263750"/>
            </a:solidFill>
            <a:prstDash val="solid"/>
          </a:ln>
        </p:spPr>
      </p:sp>
      <p:sp>
        <p:nvSpPr>
          <p:cNvPr id="37" name="card-top-rule-0703">
            <a:extLst xmlns:a="http://schemas.openxmlformats.org/drawingml/2006/main">
              <a:ext uri="{FF2B5EF4-FFF2-40B4-BE49-F238E27FC236}">
                <a16:creationId xmlns:a16="http://schemas.microsoft.com/office/drawing/2014/main" id="{29262CB3-57DF-42DC-A652-ACB27641D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4763">
            <a:solidFill>
              <a:srgbClr val="7C3AED"/>
            </a:solidFill>
            <a:prstDash val="solid"/>
          </a:ln>
        </p:spPr>
      </p:sp>
      <p:sp>
        <p:nvSpPr>
          <p:cNvPr id="38" name="pill-0704">
            <a:extLst xmlns:a="http://schemas.openxmlformats.org/drawingml/2006/main">
              <a:ext uri="{FF2B5EF4-FFF2-40B4-BE49-F238E27FC236}">
                <a16:creationId xmlns:a16="http://schemas.microsoft.com/office/drawing/2014/main" id="{C90BF504-C13C-42C0-AE77-4DC9DE20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1642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</p:sp>
      <p:sp>
        <p:nvSpPr>
          <p:cNvPr id="39" name="pill-label-0705">
            <a:extLst xmlns:a="http://schemas.openxmlformats.org/drawingml/2006/main">
              <a:ext uri="{FF2B5EF4-FFF2-40B4-BE49-F238E27FC236}">
                <a16:creationId xmlns:a16="http://schemas.microsoft.com/office/drawing/2014/main" id="{F6D9E826-BBC4-42AB-A48E-37D6098F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批量</a:t>
            </a:r>
          </a:p>
        </p:txBody>
      </p:sp>
      <p:sp>
        <p:nvSpPr>
          <p:cNvPr id="40" name="card-title-0706">
            <a:extLst xmlns:a="http://schemas.openxmlformats.org/drawingml/2006/main">
              <a:ext uri="{FF2B5EF4-FFF2-40B4-BE49-F238E27FC236}">
                <a16:creationId xmlns:a16="http://schemas.microsoft.com/office/drawing/2014/main" id="{D205ECAF-0738-4D94-B06E-DED2CF52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29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大 Pipeline / Fan-out</a:t>
            </a:r>
          </a:p>
        </p:txBody>
      </p:sp>
      <p:sp>
        <p:nvSpPr>
          <p:cNvPr id="41" name="card-label-0707">
            <a:extLst xmlns:a="http://schemas.openxmlformats.org/drawingml/2006/main">
              <a:ext uri="{FF2B5EF4-FFF2-40B4-BE49-F238E27FC236}">
                <a16:creationId xmlns:a16="http://schemas.microsoft.com/office/drawing/2014/main" id="{A40D06E4-EF0B-4D76-873A-A2B79E70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形态</a:t>
            </a:r>
          </a:p>
        </p:txBody>
      </p:sp>
      <p:sp>
        <p:nvSpPr>
          <p:cNvPr id="42" name="card-shape-0708">
            <a:extLst xmlns:a="http://schemas.openxmlformats.org/drawingml/2006/main">
              <a:ext uri="{FF2B5EF4-FFF2-40B4-BE49-F238E27FC236}">
                <a16:creationId xmlns:a16="http://schemas.microsoft.com/office/drawing/2014/main" id="{1F8D120F-504F-4166-84FA-C0C56F6B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批次过大，等待最慢分片</a:t>
            </a:r>
          </a:p>
        </p:txBody>
      </p:sp>
      <p:sp>
        <p:nvSpPr>
          <p:cNvPr id="43" name="card-label-0709">
            <a:extLst xmlns:a="http://schemas.openxmlformats.org/drawingml/2006/main">
              <a:ext uri="{FF2B5EF4-FFF2-40B4-BE49-F238E27FC236}">
                <a16:creationId xmlns:a16="http://schemas.microsoft.com/office/drawing/2014/main" id="{99BDFB0F-63F6-4E61-8DAC-11592EBC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C3AED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44" name="card-action-0710">
            <a:extLst xmlns:a="http://schemas.openxmlformats.org/drawingml/2006/main">
              <a:ext uri="{FF2B5EF4-FFF2-40B4-BE49-F238E27FC236}">
                <a16:creationId xmlns:a16="http://schemas.microsoft.com/office/drawing/2014/main" id="{AB7B8486-E15F-4E1D-89A3-0EB47500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批量上限 / 减少 fan-out</a:t>
            </a:r>
          </a:p>
        </p:txBody>
      </p:sp>
      <p:sp>
        <p:nvSpPr>
          <p:cNvPr id="45" name="scenario-card-0711">
            <a:extLst xmlns:a="http://schemas.openxmlformats.org/drawingml/2006/main">
              <a:ext uri="{FF2B5EF4-FFF2-40B4-BE49-F238E27FC236}">
                <a16:creationId xmlns:a16="http://schemas.microsoft.com/office/drawing/2014/main" id="{58E8E5C6-4BDC-42B0-A7A8-A75E38C8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505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1430">
            <a:solidFill>
              <a:srgbClr val="263750"/>
            </a:solidFill>
            <a:prstDash val="solid"/>
          </a:ln>
        </p:spPr>
      </p:sp>
      <p:sp>
        <p:nvSpPr>
          <p:cNvPr id="46" name="card-top-rule-0712">
            <a:extLst xmlns:a="http://schemas.openxmlformats.org/drawingml/2006/main">
              <a:ext uri="{FF2B5EF4-FFF2-40B4-BE49-F238E27FC236}">
                <a16:creationId xmlns:a16="http://schemas.microsoft.com/office/drawing/2014/main" id="{94F8FC7D-9BCF-478F-B5D2-B8B42669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3855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4763">
            <a:solidFill>
              <a:srgbClr val="EF4444"/>
            </a:solidFill>
            <a:prstDash val="solid"/>
          </a:ln>
        </p:spPr>
      </p:sp>
      <p:sp>
        <p:nvSpPr>
          <p:cNvPr id="47" name="pill-0713">
            <a:extLst xmlns:a="http://schemas.openxmlformats.org/drawingml/2006/main">
              <a:ext uri="{FF2B5EF4-FFF2-40B4-BE49-F238E27FC236}">
                <a16:creationId xmlns:a16="http://schemas.microsoft.com/office/drawing/2014/main" id="{45475204-73F3-4A4C-814B-4F9179AB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290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131B"/>
          </a:solidFill>
          <a:ln xmlns:a="http://schemas.openxmlformats.org/drawingml/2006/main" w="11430">
            <a:solidFill>
              <a:srgbClr val="EF4444"/>
            </a:solidFill>
            <a:prstDash val="solid"/>
          </a:ln>
        </p:spPr>
      </p:sp>
      <p:sp>
        <p:nvSpPr>
          <p:cNvPr id="48" name="pill-label-0714">
            <a:extLst xmlns:a="http://schemas.openxmlformats.org/drawingml/2006/main">
              <a:ext uri="{FF2B5EF4-FFF2-40B4-BE49-F238E27FC236}">
                <a16:creationId xmlns:a16="http://schemas.microsoft.com/office/drawing/2014/main" id="{346D5084-E57D-40DE-9D20-1766B32D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481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重试</a:t>
            </a:r>
          </a:p>
        </p:txBody>
      </p:sp>
      <p:sp>
        <p:nvSpPr>
          <p:cNvPr id="49" name="card-title-0715">
            <a:extLst xmlns:a="http://schemas.openxmlformats.org/drawingml/2006/main">
              <a:ext uri="{FF2B5EF4-FFF2-40B4-BE49-F238E27FC236}">
                <a16:creationId xmlns:a16="http://schemas.microsoft.com/office/drawing/2014/main" id="{656086A4-3917-4B58-8A6F-5A8F9C48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29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短超时 / 高频重试</a:t>
            </a:r>
          </a:p>
        </p:txBody>
      </p:sp>
      <p:sp>
        <p:nvSpPr>
          <p:cNvPr id="50" name="card-label-0716">
            <a:extLst xmlns:a="http://schemas.openxmlformats.org/drawingml/2006/main">
              <a:ext uri="{FF2B5EF4-FFF2-40B4-BE49-F238E27FC236}">
                <a16:creationId xmlns:a16="http://schemas.microsoft.com/office/drawing/2014/main" id="{3C939D67-0AF0-4532-BB38-83806650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81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形态</a:t>
            </a:r>
          </a:p>
        </p:txBody>
      </p:sp>
      <p:sp>
        <p:nvSpPr>
          <p:cNvPr id="51" name="card-shape-0717">
            <a:extLst xmlns:a="http://schemas.openxmlformats.org/drawingml/2006/main">
              <a:ext uri="{FF2B5EF4-FFF2-40B4-BE49-F238E27FC236}">
                <a16:creationId xmlns:a16="http://schemas.microsoft.com/office/drawing/2014/main" id="{A3CA37D8-5681-45A5-B507-6F3F385B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624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失败流量形成重试放大</a:t>
            </a:r>
          </a:p>
        </p:txBody>
      </p:sp>
      <p:sp>
        <p:nvSpPr>
          <p:cNvPr id="52" name="card-label-0718">
            <a:extLst xmlns:a="http://schemas.openxmlformats.org/drawingml/2006/main">
              <a:ext uri="{FF2B5EF4-FFF2-40B4-BE49-F238E27FC236}">
                <a16:creationId xmlns:a16="http://schemas.microsoft.com/office/drawing/2014/main" id="{4B93E4CF-433F-40E5-A9D4-52353E1E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933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53" name="card-action-0719">
            <a:extLst xmlns:a="http://schemas.openxmlformats.org/drawingml/2006/main">
              <a:ext uri="{FF2B5EF4-FFF2-40B4-BE49-F238E27FC236}">
                <a16:creationId xmlns:a16="http://schemas.microsoft.com/office/drawing/2014/main" id="{E6C2760E-47D5-478C-8AE2-AD7A104C5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9149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退避 / 抖动 / 限制重试</a:t>
            </a:r>
          </a:p>
        </p:txBody>
      </p:sp>
      <p:sp>
        <p:nvSpPr>
          <p:cNvPr id="54" name="scenario-card-0720">
            <a:extLst xmlns:a="http://schemas.openxmlformats.org/drawingml/2006/main">
              <a:ext uri="{FF2B5EF4-FFF2-40B4-BE49-F238E27FC236}">
                <a16:creationId xmlns:a16="http://schemas.microsoft.com/office/drawing/2014/main" id="{882110E7-F3D4-40CD-A4CD-ACEB64B5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505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1430">
            <a:solidFill>
              <a:srgbClr val="263750"/>
            </a:solidFill>
            <a:prstDash val="solid"/>
          </a:ln>
        </p:spPr>
      </p:sp>
      <p:sp>
        <p:nvSpPr>
          <p:cNvPr id="55" name="card-top-rule-0721">
            <a:extLst xmlns:a="http://schemas.openxmlformats.org/drawingml/2006/main">
              <a:ext uri="{FF2B5EF4-FFF2-40B4-BE49-F238E27FC236}">
                <a16:creationId xmlns:a16="http://schemas.microsoft.com/office/drawing/2014/main" id="{EF1FEC35-2AC3-4B08-ADFA-207AD171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505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CC15"/>
          </a:solidFill>
          <a:ln xmlns:a="http://schemas.openxmlformats.org/drawingml/2006/main" w="4763">
            <a:solidFill>
              <a:srgbClr val="FACC15"/>
            </a:solidFill>
            <a:prstDash val="solid"/>
          </a:ln>
        </p:spPr>
      </p:sp>
      <p:sp>
        <p:nvSpPr>
          <p:cNvPr id="56" name="pill-0722">
            <a:extLst xmlns:a="http://schemas.openxmlformats.org/drawingml/2006/main">
              <a:ext uri="{FF2B5EF4-FFF2-40B4-BE49-F238E27FC236}">
                <a16:creationId xmlns:a16="http://schemas.microsoft.com/office/drawing/2014/main" id="{33E3087C-91EB-4984-824B-2C36D923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29050"/>
            <a:ext cx="819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2908"/>
          </a:solidFill>
          <a:ln xmlns:a="http://schemas.openxmlformats.org/drawingml/2006/main" w="11430">
            <a:solidFill>
              <a:srgbClr val="FACC15"/>
            </a:solidFill>
            <a:prstDash val="solid"/>
          </a:ln>
        </p:spPr>
      </p:sp>
      <p:sp>
        <p:nvSpPr>
          <p:cNvPr id="57" name="pill-label-0723">
            <a:extLst xmlns:a="http://schemas.openxmlformats.org/drawingml/2006/main">
              <a:ext uri="{FF2B5EF4-FFF2-40B4-BE49-F238E27FC236}">
                <a16:creationId xmlns:a16="http://schemas.microsoft.com/office/drawing/2014/main" id="{DF625CA7-310F-498B-9CC3-ED662BA1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481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FACC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ACC15"/>
                </a:solidFill>
                <a:latin typeface="Microsoft YaHei"/>
                <a:ea typeface="Microsoft YaHei"/>
                <a:cs typeface="Microsoft YaHei"/>
              </a:rPr>
              <a:t>TTL</a:t>
            </a:r>
          </a:p>
        </p:txBody>
      </p:sp>
      <p:sp>
        <p:nvSpPr>
          <p:cNvPr id="58" name="card-title-0724">
            <a:extLst xmlns:a="http://schemas.openxmlformats.org/drawingml/2006/main">
              <a:ext uri="{FF2B5EF4-FFF2-40B4-BE49-F238E27FC236}">
                <a16:creationId xmlns:a16="http://schemas.microsoft.com/office/drawing/2014/main" id="{4828D80C-6D70-4158-A015-27312EB8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29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集中 TTL / 缓存重建</a:t>
            </a:r>
          </a:p>
        </p:txBody>
      </p:sp>
      <p:sp>
        <p:nvSpPr>
          <p:cNvPr id="59" name="card-label-0725">
            <a:extLst xmlns:a="http://schemas.openxmlformats.org/drawingml/2006/main">
              <a:ext uri="{FF2B5EF4-FFF2-40B4-BE49-F238E27FC236}">
                <a16:creationId xmlns:a16="http://schemas.microsoft.com/office/drawing/2014/main" id="{BDB016E7-F018-492D-8BD7-CD9B49C1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81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形态</a:t>
            </a:r>
          </a:p>
        </p:txBody>
      </p:sp>
      <p:sp>
        <p:nvSpPr>
          <p:cNvPr id="60" name="card-shape-0726">
            <a:extLst xmlns:a="http://schemas.openxmlformats.org/drawingml/2006/main">
              <a:ext uri="{FF2B5EF4-FFF2-40B4-BE49-F238E27FC236}">
                <a16:creationId xmlns:a16="http://schemas.microsoft.com/office/drawing/2014/main" id="{5C50F552-D3E5-4D4A-A165-81BF77F8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6245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统一过期、回源和写入洪峰</a:t>
            </a:r>
          </a:p>
        </p:txBody>
      </p:sp>
      <p:sp>
        <p:nvSpPr>
          <p:cNvPr id="61" name="card-label-0727">
            <a:extLst xmlns:a="http://schemas.openxmlformats.org/drawingml/2006/main">
              <a:ext uri="{FF2B5EF4-FFF2-40B4-BE49-F238E27FC236}">
                <a16:creationId xmlns:a16="http://schemas.microsoft.com/office/drawing/2014/main" id="{F4A2EBC5-07C4-4769-9987-28BBB59D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9339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FACC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ACC15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62" name="card-action-0728">
            <a:extLst xmlns:a="http://schemas.openxmlformats.org/drawingml/2006/main">
              <a:ext uri="{FF2B5EF4-FFF2-40B4-BE49-F238E27FC236}">
                <a16:creationId xmlns:a16="http://schemas.microsoft.com/office/drawing/2014/main" id="{D56944D6-F009-42E0-AEC9-2C7AF644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14900"/>
            <a:ext cx="2495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TTL 随机化 / 合并重建</a:t>
            </a:r>
          </a:p>
        </p:txBody>
      </p:sp>
      <p:sp>
        <p:nvSpPr>
          <p:cNvPr id="63" name="scenario-footer-0729">
            <a:extLst xmlns:a="http://schemas.openxmlformats.org/drawingml/2006/main">
              <a:ext uri="{FF2B5EF4-FFF2-40B4-BE49-F238E27FC236}">
                <a16:creationId xmlns:a16="http://schemas.microsoft.com/office/drawing/2014/main" id="{12CCA413-A9B1-472D-A98D-8F84FFAD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48350"/>
            <a:ext cx="998220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0A1424"/>
          </a:solidFill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64" name="scenario-footer-text-0730">
            <a:extLst xmlns:a="http://schemas.openxmlformats.org/drawingml/2006/main">
              <a:ext uri="{FF2B5EF4-FFF2-40B4-BE49-F238E27FC236}">
                <a16:creationId xmlns:a16="http://schemas.microsoft.com/office/drawing/2014/main" id="{05DE35F4-E2BF-4B45-AE41-47C03D1D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0"/>
            <a:ext cx="967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同时关注：跨地域访问 · 业务客户端读取慢 · 生产环境高开销诊断</a:t>
            </a:r>
          </a:p>
        </p:txBody>
      </p:sp>
    </p:spTree>
    <p:extLst>
      <p:ext uri="{BB962C8B-B14F-4D97-AF65-F5344CB8AC3E}">
        <p14:creationId xmlns:p14="http://schemas.microsoft.com/office/powerpoint/2010/main" val="8796165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8B8BB0-6C16-4F55-BD7B-EEED4DF0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6"/>
          </a:solidFill>
          <a:ln xmlns:a="http://schemas.openxmlformats.org/drawingml/2006/main" w="12700">
            <a:solidFill>
              <a:srgbClr val="070B16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2E0EBCE-31FC-438B-9538-48ED6F34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12700">
            <a:solidFill>
              <a:srgbClr val="3B82F6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08C9D35-3497-40DE-A383-C70CC478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3152"/>
            <a:ext cx="12191695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5" name="section-0731">
            <a:extLst xmlns:a="http://schemas.openxmlformats.org/drawingml/2006/main">
              <a:ext uri="{FF2B5EF4-FFF2-40B4-BE49-F238E27FC236}">
                <a16:creationId xmlns:a16="http://schemas.microsoft.com/office/drawing/2014/main" id="{5E154D23-EE64-45E5-86E7-4EBB4557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PART 5 · 综合练习</a:t>
            </a:r>
          </a:p>
        </p:txBody>
      </p:sp>
      <p:sp>
        <p:nvSpPr>
          <p:cNvPr id="6" name="page-top-0732">
            <a:extLst xmlns:a="http://schemas.openxmlformats.org/drawingml/2006/main">
              <a:ext uri="{FF2B5EF4-FFF2-40B4-BE49-F238E27FC236}">
                <a16:creationId xmlns:a16="http://schemas.microsoft.com/office/drawing/2014/main" id="{3095FBF5-F43E-4ED5-8B2C-43324DE4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955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  <p:sp>
        <p:nvSpPr>
          <p:cNvPr id="7" name="title-0733">
            <a:extLst xmlns:a="http://schemas.openxmlformats.org/drawingml/2006/main">
              <a:ext uri="{FF2B5EF4-FFF2-40B4-BE49-F238E27FC236}">
                <a16:creationId xmlns:a16="http://schemas.microsoft.com/office/drawing/2014/main" id="{1CD27D1A-8408-46FD-ADEE-7F6E1351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114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根据两侧证据定位 P99 问题</a:t>
            </a:r>
          </a:p>
        </p:txBody>
      </p:sp>
      <p:sp>
        <p:nvSpPr>
          <p:cNvPr id="8" name="line-0734">
            <a:extLst xmlns:a="http://schemas.openxmlformats.org/drawingml/2006/main">
              <a:ext uri="{FF2B5EF4-FFF2-40B4-BE49-F238E27FC236}">
                <a16:creationId xmlns:a16="http://schemas.microsoft.com/office/drawing/2014/main" id="{9FC7355D-2F99-4A15-9327-AD7EC44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11353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50"/>
            </a:solidFill>
            <a:prstDash val="solid"/>
          </a:ln>
        </p:spPr>
      </p:sp>
      <p:sp>
        <p:nvSpPr>
          <p:cNvPr id="9" name="practice-left-0735">
            <a:extLst xmlns:a="http://schemas.openxmlformats.org/drawingml/2006/main">
              <a:ext uri="{FF2B5EF4-FFF2-40B4-BE49-F238E27FC236}">
                <a16:creationId xmlns:a16="http://schemas.microsoft.com/office/drawing/2014/main" id="{B9292BA6-BC3A-42CA-8BA4-D215E123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57300"/>
            <a:ext cx="550545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2383">
            <a:solidFill>
              <a:srgbClr val="3B82F6"/>
            </a:solidFill>
            <a:prstDash val="solid"/>
          </a:ln>
        </p:spPr>
      </p:sp>
      <p:sp>
        <p:nvSpPr>
          <p:cNvPr id="10" name="practice-right-0736">
            <a:extLst xmlns:a="http://schemas.openxmlformats.org/drawingml/2006/main">
              <a:ext uri="{FF2B5EF4-FFF2-40B4-BE49-F238E27FC236}">
                <a16:creationId xmlns:a16="http://schemas.microsoft.com/office/drawing/2014/main" id="{B0F11ED2-D998-4035-BDF8-144BE0F3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57300"/>
            <a:ext cx="550545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D1628"/>
          </a:solidFill>
          <a:ln xmlns:a="http://schemas.openxmlformats.org/drawingml/2006/main" w="12383">
            <a:solidFill>
              <a:srgbClr val="7C3AED"/>
            </a:solidFill>
            <a:prstDash val="solid"/>
          </a:ln>
        </p:spPr>
      </p:sp>
      <p:sp>
        <p:nvSpPr>
          <p:cNvPr id="11" name="pill-0737">
            <a:extLst xmlns:a="http://schemas.openxmlformats.org/drawingml/2006/main">
              <a:ext uri="{FF2B5EF4-FFF2-40B4-BE49-F238E27FC236}">
                <a16:creationId xmlns:a16="http://schemas.microsoft.com/office/drawing/2014/main" id="{4754C1CC-C8A9-45C5-A46D-5E397DC75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895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A4A"/>
          </a:solidFill>
          <a:ln xmlns:a="http://schemas.openxmlformats.org/drawingml/2006/main" w="11430">
            <a:solidFill>
              <a:srgbClr val="60A5FA"/>
            </a:solidFill>
            <a:prstDash val="solid"/>
          </a:ln>
        </p:spPr>
      </p:sp>
      <p:sp>
        <p:nvSpPr>
          <p:cNvPr id="12" name="pill-label-0738">
            <a:extLst xmlns:a="http://schemas.openxmlformats.org/drawingml/2006/main">
              <a:ext uri="{FF2B5EF4-FFF2-40B4-BE49-F238E27FC236}">
                <a16:creationId xmlns:a16="http://schemas.microsoft.com/office/drawing/2014/main" id="{CE2C6A4B-4E2E-43EF-9DEE-AC84CE01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4780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练习 1</a:t>
            </a:r>
          </a:p>
        </p:txBody>
      </p:sp>
      <p:sp>
        <p:nvSpPr>
          <p:cNvPr id="13" name="practice-title-0739">
            <a:extLst xmlns:a="http://schemas.openxmlformats.org/drawingml/2006/main">
              <a:ext uri="{FF2B5EF4-FFF2-40B4-BE49-F238E27FC236}">
                <a16:creationId xmlns:a16="http://schemas.microsoft.com/office/drawing/2014/main" id="{1DF29DDF-92DD-42C9-B2AB-E939F147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287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低 QPS 与慢命令混合</a:t>
            </a:r>
          </a:p>
        </p:txBody>
      </p:sp>
      <p:sp>
        <p:nvSpPr>
          <p:cNvPr id="14" name="practice-description-0740">
            <a:extLst xmlns:a="http://schemas.openxmlformats.org/drawingml/2006/main">
              <a:ext uri="{FF2B5EF4-FFF2-40B4-BE49-F238E27FC236}">
                <a16:creationId xmlns:a16="http://schemas.microsoft.com/office/drawing/2014/main" id="{D72EC5EF-331B-476D-8C83-AE0212BC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后台服务每分钟约 60 次请求，单分钟 P99 经常为 80 ms。</a:t>
            </a:r>
          </a:p>
        </p:txBody>
      </p:sp>
      <p:sp>
        <p:nvSpPr>
          <p:cNvPr id="15" name="dot-0741">
            <a:extLst xmlns:a="http://schemas.openxmlformats.org/drawingml/2006/main">
              <a:ext uri="{FF2B5EF4-FFF2-40B4-BE49-F238E27FC236}">
                <a16:creationId xmlns:a16="http://schemas.microsoft.com/office/drawing/2014/main" id="{7F3B8337-F809-4C90-85BB-0C99B2FC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417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6" name="dot-0742">
            <a:extLst xmlns:a="http://schemas.openxmlformats.org/drawingml/2006/main">
              <a:ext uri="{FF2B5EF4-FFF2-40B4-BE49-F238E27FC236}">
                <a16:creationId xmlns:a16="http://schemas.microsoft.com/office/drawing/2014/main" id="{5CBEEB51-0EF4-4742-BDA6-143BB6E6B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417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7" name="dot-0743">
            <a:extLst xmlns:a="http://schemas.openxmlformats.org/drawingml/2006/main">
              <a:ext uri="{FF2B5EF4-FFF2-40B4-BE49-F238E27FC236}">
                <a16:creationId xmlns:a16="http://schemas.microsoft.com/office/drawing/2014/main" id="{E775FA65-B751-492D-B9F6-37AF2DCF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" y="2417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8" name="dot-0744">
            <a:extLst xmlns:a="http://schemas.openxmlformats.org/drawingml/2006/main">
              <a:ext uri="{FF2B5EF4-FFF2-40B4-BE49-F238E27FC236}">
                <a16:creationId xmlns:a16="http://schemas.microsoft.com/office/drawing/2014/main" id="{AD6AAB31-EFFF-436F-B171-DADF62AD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" y="2417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19" name="dot-0745">
            <a:extLst xmlns:a="http://schemas.openxmlformats.org/drawingml/2006/main">
              <a:ext uri="{FF2B5EF4-FFF2-40B4-BE49-F238E27FC236}">
                <a16:creationId xmlns:a16="http://schemas.microsoft.com/office/drawing/2014/main" id="{1A4245B5-2570-4770-B81C-A4A7C6C8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" y="2417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0" name="dot-0746">
            <a:extLst xmlns:a="http://schemas.openxmlformats.org/drawingml/2006/main">
              <a:ext uri="{FF2B5EF4-FFF2-40B4-BE49-F238E27FC236}">
                <a16:creationId xmlns:a16="http://schemas.microsoft.com/office/drawing/2014/main" id="{7BC538AC-BE18-459B-ACB6-EC51889F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" y="2417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1" name="dot-0747">
            <a:extLst xmlns:a="http://schemas.openxmlformats.org/drawingml/2006/main">
              <a:ext uri="{FF2B5EF4-FFF2-40B4-BE49-F238E27FC236}">
                <a16:creationId xmlns:a16="http://schemas.microsoft.com/office/drawing/2014/main" id="{1469CCF6-C407-42DA-831F-6E0981CC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145" y="2417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2" name="dot-0748">
            <a:extLst xmlns:a="http://schemas.openxmlformats.org/drawingml/2006/main">
              <a:ext uri="{FF2B5EF4-FFF2-40B4-BE49-F238E27FC236}">
                <a16:creationId xmlns:a16="http://schemas.microsoft.com/office/drawing/2014/main" id="{6EF04537-3BF9-4778-9C83-AC4C6EFC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645" y="2417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3" name="dot-0749">
            <a:extLst xmlns:a="http://schemas.openxmlformats.org/drawingml/2006/main">
              <a:ext uri="{FF2B5EF4-FFF2-40B4-BE49-F238E27FC236}">
                <a16:creationId xmlns:a16="http://schemas.microsoft.com/office/drawing/2014/main" id="{E53CEB28-033E-4844-86A7-AB70608B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145" y="2417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4" name="dot-0750">
            <a:extLst xmlns:a="http://schemas.openxmlformats.org/drawingml/2006/main">
              <a:ext uri="{FF2B5EF4-FFF2-40B4-BE49-F238E27FC236}">
                <a16:creationId xmlns:a16="http://schemas.microsoft.com/office/drawing/2014/main" id="{40E7D297-178C-4859-B53C-12F81162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45" y="2417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5" name="dot-0751">
            <a:extLst xmlns:a="http://schemas.openxmlformats.org/drawingml/2006/main">
              <a:ext uri="{FF2B5EF4-FFF2-40B4-BE49-F238E27FC236}">
                <a16:creationId xmlns:a16="http://schemas.microsoft.com/office/drawing/2014/main" id="{1F854494-93D8-4EE5-A04C-E3B13A54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607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6" name="dot-0752">
            <a:extLst xmlns:a="http://schemas.openxmlformats.org/drawingml/2006/main">
              <a:ext uri="{FF2B5EF4-FFF2-40B4-BE49-F238E27FC236}">
                <a16:creationId xmlns:a16="http://schemas.microsoft.com/office/drawing/2014/main" id="{4C479330-A803-4AE3-9D9B-8D147598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607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7" name="dot-0753">
            <a:extLst xmlns:a="http://schemas.openxmlformats.org/drawingml/2006/main">
              <a:ext uri="{FF2B5EF4-FFF2-40B4-BE49-F238E27FC236}">
                <a16:creationId xmlns:a16="http://schemas.microsoft.com/office/drawing/2014/main" id="{86004ACC-6FC5-43C7-9D3F-B521F63D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" y="2607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8" name="dot-0754">
            <a:extLst xmlns:a="http://schemas.openxmlformats.org/drawingml/2006/main">
              <a:ext uri="{FF2B5EF4-FFF2-40B4-BE49-F238E27FC236}">
                <a16:creationId xmlns:a16="http://schemas.microsoft.com/office/drawing/2014/main" id="{78C60BDE-0C3B-4889-9137-747DD0E1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" y="2607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29" name="dot-0755">
            <a:extLst xmlns:a="http://schemas.openxmlformats.org/drawingml/2006/main">
              <a:ext uri="{FF2B5EF4-FFF2-40B4-BE49-F238E27FC236}">
                <a16:creationId xmlns:a16="http://schemas.microsoft.com/office/drawing/2014/main" id="{3D253645-AF66-4AB9-AB6A-4A5DEBCA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" y="2607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30" name="dot-0756">
            <a:extLst xmlns:a="http://schemas.openxmlformats.org/drawingml/2006/main">
              <a:ext uri="{FF2B5EF4-FFF2-40B4-BE49-F238E27FC236}">
                <a16:creationId xmlns:a16="http://schemas.microsoft.com/office/drawing/2014/main" id="{219D9845-4A10-4C8E-8E2B-B9E41D81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" y="2607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31" name="dot-0757">
            <a:extLst xmlns:a="http://schemas.openxmlformats.org/drawingml/2006/main">
              <a:ext uri="{FF2B5EF4-FFF2-40B4-BE49-F238E27FC236}">
                <a16:creationId xmlns:a16="http://schemas.microsoft.com/office/drawing/2014/main" id="{9D5E02EB-DCE6-4C46-B522-84E96D83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145" y="2607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32" name="dot-0758">
            <a:extLst xmlns:a="http://schemas.openxmlformats.org/drawingml/2006/main">
              <a:ext uri="{FF2B5EF4-FFF2-40B4-BE49-F238E27FC236}">
                <a16:creationId xmlns:a16="http://schemas.microsoft.com/office/drawing/2014/main" id="{BA75F21D-6D36-4B31-A561-DB8FF340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645" y="2607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33" name="dot-0759">
            <a:extLst xmlns:a="http://schemas.openxmlformats.org/drawingml/2006/main">
              <a:ext uri="{FF2B5EF4-FFF2-40B4-BE49-F238E27FC236}">
                <a16:creationId xmlns:a16="http://schemas.microsoft.com/office/drawing/2014/main" id="{51BA8301-9338-4C90-AF9D-1EC12E94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145" y="2607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34" name="dot-0760">
            <a:extLst xmlns:a="http://schemas.openxmlformats.org/drawingml/2006/main">
              <a:ext uri="{FF2B5EF4-FFF2-40B4-BE49-F238E27FC236}">
                <a16:creationId xmlns:a16="http://schemas.microsoft.com/office/drawing/2014/main" id="{0BC48129-4557-4056-8E22-B32328EB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45" y="2607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35" name="dot-0761">
            <a:extLst xmlns:a="http://schemas.openxmlformats.org/drawingml/2006/main">
              <a:ext uri="{FF2B5EF4-FFF2-40B4-BE49-F238E27FC236}">
                <a16:creationId xmlns:a16="http://schemas.microsoft.com/office/drawing/2014/main" id="{D3A97ED1-06DC-4C4B-A15D-95199DCE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798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36" name="dot-0762">
            <a:extLst xmlns:a="http://schemas.openxmlformats.org/drawingml/2006/main">
              <a:ext uri="{FF2B5EF4-FFF2-40B4-BE49-F238E27FC236}">
                <a16:creationId xmlns:a16="http://schemas.microsoft.com/office/drawing/2014/main" id="{6134F8D4-1E08-4627-BA76-3F3AAA2D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798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37" name="dot-0763">
            <a:extLst xmlns:a="http://schemas.openxmlformats.org/drawingml/2006/main">
              <a:ext uri="{FF2B5EF4-FFF2-40B4-BE49-F238E27FC236}">
                <a16:creationId xmlns:a16="http://schemas.microsoft.com/office/drawing/2014/main" id="{032D41BD-ED95-4A07-94F6-6F6D1863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" y="2798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38" name="dot-0764">
            <a:extLst xmlns:a="http://schemas.openxmlformats.org/drawingml/2006/main">
              <a:ext uri="{FF2B5EF4-FFF2-40B4-BE49-F238E27FC236}">
                <a16:creationId xmlns:a16="http://schemas.microsoft.com/office/drawing/2014/main" id="{6BEBE702-505E-4920-A4C0-6EA99036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" y="2798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39" name="dot-0765">
            <a:extLst xmlns:a="http://schemas.openxmlformats.org/drawingml/2006/main">
              <a:ext uri="{FF2B5EF4-FFF2-40B4-BE49-F238E27FC236}">
                <a16:creationId xmlns:a16="http://schemas.microsoft.com/office/drawing/2014/main" id="{4440EEBE-C578-4306-B999-DE546642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" y="2798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40" name="dot-0766">
            <a:extLst xmlns:a="http://schemas.openxmlformats.org/drawingml/2006/main">
              <a:ext uri="{FF2B5EF4-FFF2-40B4-BE49-F238E27FC236}">
                <a16:creationId xmlns:a16="http://schemas.microsoft.com/office/drawing/2014/main" id="{57A8A6C7-868D-4606-B0B7-387E60F6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" y="2798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41" name="dot-0767">
            <a:extLst xmlns:a="http://schemas.openxmlformats.org/drawingml/2006/main">
              <a:ext uri="{FF2B5EF4-FFF2-40B4-BE49-F238E27FC236}">
                <a16:creationId xmlns:a16="http://schemas.microsoft.com/office/drawing/2014/main" id="{052E64A9-BFCB-4077-81EF-0774F17A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145" y="2798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42" name="dot-0768">
            <a:extLst xmlns:a="http://schemas.openxmlformats.org/drawingml/2006/main">
              <a:ext uri="{FF2B5EF4-FFF2-40B4-BE49-F238E27FC236}">
                <a16:creationId xmlns:a16="http://schemas.microsoft.com/office/drawing/2014/main" id="{A7C86A66-4AF5-4E12-96D9-A38267AD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645" y="2798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43" name="dot-0769">
            <a:extLst xmlns:a="http://schemas.openxmlformats.org/drawingml/2006/main">
              <a:ext uri="{FF2B5EF4-FFF2-40B4-BE49-F238E27FC236}">
                <a16:creationId xmlns:a16="http://schemas.microsoft.com/office/drawing/2014/main" id="{86B14DF0-3862-4AA5-BF46-0DD87DAA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145" y="2798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44" name="dot-0770">
            <a:extLst xmlns:a="http://schemas.openxmlformats.org/drawingml/2006/main">
              <a:ext uri="{FF2B5EF4-FFF2-40B4-BE49-F238E27FC236}">
                <a16:creationId xmlns:a16="http://schemas.microsoft.com/office/drawing/2014/main" id="{99E196C8-2D27-425F-ADAB-0D40FE36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45" y="2798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45" name="dot-0771">
            <a:extLst xmlns:a="http://schemas.openxmlformats.org/drawingml/2006/main">
              <a:ext uri="{FF2B5EF4-FFF2-40B4-BE49-F238E27FC236}">
                <a16:creationId xmlns:a16="http://schemas.microsoft.com/office/drawing/2014/main" id="{704C2F07-EE97-4209-8D0C-412A36EC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2988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46" name="dot-0772">
            <a:extLst xmlns:a="http://schemas.openxmlformats.org/drawingml/2006/main">
              <a:ext uri="{FF2B5EF4-FFF2-40B4-BE49-F238E27FC236}">
                <a16:creationId xmlns:a16="http://schemas.microsoft.com/office/drawing/2014/main" id="{66F1041C-D0B6-4AD9-9951-5E3E5087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988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47" name="dot-0773">
            <a:extLst xmlns:a="http://schemas.openxmlformats.org/drawingml/2006/main">
              <a:ext uri="{FF2B5EF4-FFF2-40B4-BE49-F238E27FC236}">
                <a16:creationId xmlns:a16="http://schemas.microsoft.com/office/drawing/2014/main" id="{AD4ACAF9-909A-426A-92A2-BE46810B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" y="2988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48" name="dot-0774">
            <a:extLst xmlns:a="http://schemas.openxmlformats.org/drawingml/2006/main">
              <a:ext uri="{FF2B5EF4-FFF2-40B4-BE49-F238E27FC236}">
                <a16:creationId xmlns:a16="http://schemas.microsoft.com/office/drawing/2014/main" id="{EBDC6757-0EF8-4B53-97AA-332E1743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" y="2988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49" name="dot-0775">
            <a:extLst xmlns:a="http://schemas.openxmlformats.org/drawingml/2006/main">
              <a:ext uri="{FF2B5EF4-FFF2-40B4-BE49-F238E27FC236}">
                <a16:creationId xmlns:a16="http://schemas.microsoft.com/office/drawing/2014/main" id="{B2B8BE40-8A2C-4103-9327-C101E735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" y="2988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50" name="dot-0776">
            <a:extLst xmlns:a="http://schemas.openxmlformats.org/drawingml/2006/main">
              <a:ext uri="{FF2B5EF4-FFF2-40B4-BE49-F238E27FC236}">
                <a16:creationId xmlns:a16="http://schemas.microsoft.com/office/drawing/2014/main" id="{0CE58CB8-9858-4010-964A-D7FE9718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" y="2988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51" name="dot-0777">
            <a:extLst xmlns:a="http://schemas.openxmlformats.org/drawingml/2006/main">
              <a:ext uri="{FF2B5EF4-FFF2-40B4-BE49-F238E27FC236}">
                <a16:creationId xmlns:a16="http://schemas.microsoft.com/office/drawing/2014/main" id="{4101B009-9EC5-4022-90B0-8A405CDA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145" y="2988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52" name="dot-0778">
            <a:extLst xmlns:a="http://schemas.openxmlformats.org/drawingml/2006/main">
              <a:ext uri="{FF2B5EF4-FFF2-40B4-BE49-F238E27FC236}">
                <a16:creationId xmlns:a16="http://schemas.microsoft.com/office/drawing/2014/main" id="{F7229E4F-6AE5-44A8-B327-87AF4C85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645" y="2988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53" name="dot-0779">
            <a:extLst xmlns:a="http://schemas.openxmlformats.org/drawingml/2006/main">
              <a:ext uri="{FF2B5EF4-FFF2-40B4-BE49-F238E27FC236}">
                <a16:creationId xmlns:a16="http://schemas.microsoft.com/office/drawing/2014/main" id="{51C9EC3A-1554-4444-A49B-62262D2A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145" y="2988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54" name="dot-0780">
            <a:extLst xmlns:a="http://schemas.openxmlformats.org/drawingml/2006/main">
              <a:ext uri="{FF2B5EF4-FFF2-40B4-BE49-F238E27FC236}">
                <a16:creationId xmlns:a16="http://schemas.microsoft.com/office/drawing/2014/main" id="{CBDDA174-A413-470B-AFBF-BF1409B9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45" y="2988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55" name="dot-0781">
            <a:extLst xmlns:a="http://schemas.openxmlformats.org/drawingml/2006/main">
              <a:ext uri="{FF2B5EF4-FFF2-40B4-BE49-F238E27FC236}">
                <a16:creationId xmlns:a16="http://schemas.microsoft.com/office/drawing/2014/main" id="{92F6AA6D-E3F4-4874-8B4E-5D1163A6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3179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56" name="dot-0782">
            <a:extLst xmlns:a="http://schemas.openxmlformats.org/drawingml/2006/main">
              <a:ext uri="{FF2B5EF4-FFF2-40B4-BE49-F238E27FC236}">
                <a16:creationId xmlns:a16="http://schemas.microsoft.com/office/drawing/2014/main" id="{5AA828F3-CF70-4B68-806F-9576E6F0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179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57" name="dot-0783">
            <a:extLst xmlns:a="http://schemas.openxmlformats.org/drawingml/2006/main">
              <a:ext uri="{FF2B5EF4-FFF2-40B4-BE49-F238E27FC236}">
                <a16:creationId xmlns:a16="http://schemas.microsoft.com/office/drawing/2014/main" id="{D5DA91B4-B9A2-4555-9DE8-61BB245D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" y="3179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58" name="dot-0784">
            <a:extLst xmlns:a="http://schemas.openxmlformats.org/drawingml/2006/main">
              <a:ext uri="{FF2B5EF4-FFF2-40B4-BE49-F238E27FC236}">
                <a16:creationId xmlns:a16="http://schemas.microsoft.com/office/drawing/2014/main" id="{0389CDE9-F30F-479D-929C-CD9168F3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" y="3179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59" name="dot-0785">
            <a:extLst xmlns:a="http://schemas.openxmlformats.org/drawingml/2006/main">
              <a:ext uri="{FF2B5EF4-FFF2-40B4-BE49-F238E27FC236}">
                <a16:creationId xmlns:a16="http://schemas.microsoft.com/office/drawing/2014/main" id="{6DEA4695-F31E-4F18-B7D8-CAE813AD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" y="3179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60" name="dot-0786">
            <a:extLst xmlns:a="http://schemas.openxmlformats.org/drawingml/2006/main">
              <a:ext uri="{FF2B5EF4-FFF2-40B4-BE49-F238E27FC236}">
                <a16:creationId xmlns:a16="http://schemas.microsoft.com/office/drawing/2014/main" id="{734C5CD6-0DBE-4AA5-984F-E288595C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" y="3179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61" name="dot-0787">
            <a:extLst xmlns:a="http://schemas.openxmlformats.org/drawingml/2006/main">
              <a:ext uri="{FF2B5EF4-FFF2-40B4-BE49-F238E27FC236}">
                <a16:creationId xmlns:a16="http://schemas.microsoft.com/office/drawing/2014/main" id="{6E499C19-B59E-43D1-97DC-B045CFD9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145" y="3179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62" name="dot-0788">
            <a:extLst xmlns:a="http://schemas.openxmlformats.org/drawingml/2006/main">
              <a:ext uri="{FF2B5EF4-FFF2-40B4-BE49-F238E27FC236}">
                <a16:creationId xmlns:a16="http://schemas.microsoft.com/office/drawing/2014/main" id="{991EA2C5-A5C7-4631-98B4-82BE93A9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645" y="3179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63" name="dot-0789">
            <a:extLst xmlns:a="http://schemas.openxmlformats.org/drawingml/2006/main">
              <a:ext uri="{FF2B5EF4-FFF2-40B4-BE49-F238E27FC236}">
                <a16:creationId xmlns:a16="http://schemas.microsoft.com/office/drawing/2014/main" id="{B9E5D804-021E-4267-AF1E-F8F85E2F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145" y="3179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64" name="dot-0790">
            <a:extLst xmlns:a="http://schemas.openxmlformats.org/drawingml/2006/main">
              <a:ext uri="{FF2B5EF4-FFF2-40B4-BE49-F238E27FC236}">
                <a16:creationId xmlns:a16="http://schemas.microsoft.com/office/drawing/2014/main" id="{FC95B062-498A-4FA4-AE95-0BB6041D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45" y="31794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65" name="dot-0791">
            <a:extLst xmlns:a="http://schemas.openxmlformats.org/drawingml/2006/main">
              <a:ext uri="{FF2B5EF4-FFF2-40B4-BE49-F238E27FC236}">
                <a16:creationId xmlns:a16="http://schemas.microsoft.com/office/drawing/2014/main" id="{71306509-AA5E-4E53-988A-A3F64BB9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" y="3369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66" name="dot-0792">
            <a:extLst xmlns:a="http://schemas.openxmlformats.org/drawingml/2006/main">
              <a:ext uri="{FF2B5EF4-FFF2-40B4-BE49-F238E27FC236}">
                <a16:creationId xmlns:a16="http://schemas.microsoft.com/office/drawing/2014/main" id="{3FB5BB9C-CCC8-435B-A3AF-B33108B7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3369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67" name="dot-0793">
            <a:extLst xmlns:a="http://schemas.openxmlformats.org/drawingml/2006/main">
              <a:ext uri="{FF2B5EF4-FFF2-40B4-BE49-F238E27FC236}">
                <a16:creationId xmlns:a16="http://schemas.microsoft.com/office/drawing/2014/main" id="{24237EF5-E92D-41BB-B8A2-551471CF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" y="3369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68" name="dot-0794">
            <a:extLst xmlns:a="http://schemas.openxmlformats.org/drawingml/2006/main">
              <a:ext uri="{FF2B5EF4-FFF2-40B4-BE49-F238E27FC236}">
                <a16:creationId xmlns:a16="http://schemas.microsoft.com/office/drawing/2014/main" id="{5801C5E0-2C50-40BF-803F-0D90B9FE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" y="3369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69" name="dot-0795">
            <a:extLst xmlns:a="http://schemas.openxmlformats.org/drawingml/2006/main">
              <a:ext uri="{FF2B5EF4-FFF2-40B4-BE49-F238E27FC236}">
                <a16:creationId xmlns:a16="http://schemas.microsoft.com/office/drawing/2014/main" id="{0D7E37E6-B41F-43DD-85CA-F0A356AE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" y="3369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70" name="dot-0796">
            <a:extLst xmlns:a="http://schemas.openxmlformats.org/drawingml/2006/main">
              <a:ext uri="{FF2B5EF4-FFF2-40B4-BE49-F238E27FC236}">
                <a16:creationId xmlns:a16="http://schemas.microsoft.com/office/drawing/2014/main" id="{9DFB0CB5-C170-487F-83E8-F375571A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" y="3369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71" name="dot-0797">
            <a:extLst xmlns:a="http://schemas.openxmlformats.org/drawingml/2006/main">
              <a:ext uri="{FF2B5EF4-FFF2-40B4-BE49-F238E27FC236}">
                <a16:creationId xmlns:a16="http://schemas.microsoft.com/office/drawing/2014/main" id="{67A2EA83-E4B3-4715-95BE-6604AD30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145" y="3369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72" name="dot-0798">
            <a:extLst xmlns:a="http://schemas.openxmlformats.org/drawingml/2006/main">
              <a:ext uri="{FF2B5EF4-FFF2-40B4-BE49-F238E27FC236}">
                <a16:creationId xmlns:a16="http://schemas.microsoft.com/office/drawing/2014/main" id="{C8ADB844-A9E1-46A1-93CA-E273A227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645" y="3369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73" name="dot-0799">
            <a:extLst xmlns:a="http://schemas.openxmlformats.org/drawingml/2006/main">
              <a:ext uri="{FF2B5EF4-FFF2-40B4-BE49-F238E27FC236}">
                <a16:creationId xmlns:a16="http://schemas.microsoft.com/office/drawing/2014/main" id="{980972EB-1396-4372-A72C-643AD2B4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145" y="3369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74" name="dot-0800">
            <a:extLst xmlns:a="http://schemas.openxmlformats.org/drawingml/2006/main">
              <a:ext uri="{FF2B5EF4-FFF2-40B4-BE49-F238E27FC236}">
                <a16:creationId xmlns:a16="http://schemas.microsoft.com/office/drawing/2014/main" id="{9738D8B7-34B1-4875-9060-12F472CD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645" y="3369945"/>
            <a:ext cx="80010" cy="800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75" name="practice-evidence-0801">
            <a:extLst xmlns:a="http://schemas.openxmlformats.org/drawingml/2006/main">
              <a:ext uri="{FF2B5EF4-FFF2-40B4-BE49-F238E27FC236}">
                <a16:creationId xmlns:a16="http://schemas.microsoft.com/office/drawing/2014/main" id="{9C5F5746-79AA-4735-A4A3-63E19C9A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622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59 × GET：1 ms</a:t>
            </a:r>
          </a:p>
        </p:txBody>
      </p:sp>
      <p:sp>
        <p:nvSpPr>
          <p:cNvPr id="76" name="practice-evidence-0802">
            <a:extLst xmlns:a="http://schemas.openxmlformats.org/drawingml/2006/main">
              <a:ext uri="{FF2B5EF4-FFF2-40B4-BE49-F238E27FC236}">
                <a16:creationId xmlns:a16="http://schemas.microsoft.com/office/drawing/2014/main" id="{A35DFD2A-A197-434F-8D4A-A7CA2737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860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87171"/>
                </a:solidFill>
                <a:latin typeface="Microsoft YaHei"/>
                <a:ea typeface="Microsoft YaHei"/>
                <a:cs typeface="Microsoft YaHei"/>
              </a:rPr>
              <a:t>1 × HGETALL：80 ms / 4 MB</a:t>
            </a:r>
          </a:p>
        </p:txBody>
      </p:sp>
      <p:sp>
        <p:nvSpPr>
          <p:cNvPr id="77" name="practice-result-0803">
            <a:extLst xmlns:a="http://schemas.openxmlformats.org/drawingml/2006/main">
              <a:ext uri="{FF2B5EF4-FFF2-40B4-BE49-F238E27FC236}">
                <a16:creationId xmlns:a16="http://schemas.microsoft.com/office/drawing/2014/main" id="{2E29B40A-2A58-41DB-9BB8-8AF4F5B0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50482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5131B"/>
          </a:solidFill>
          <a:ln xmlns:a="http://schemas.openxmlformats.org/drawingml/2006/main" w="9525">
            <a:solidFill>
              <a:srgbClr val="EF4444"/>
            </a:solidFill>
            <a:prstDash val="solid"/>
          </a:ln>
        </p:spPr>
      </p:sp>
      <p:sp>
        <p:nvSpPr>
          <p:cNvPr id="78" name="practice-result-text-0804">
            <a:extLst xmlns:a="http://schemas.openxmlformats.org/drawingml/2006/main">
              <a:ext uri="{FF2B5EF4-FFF2-40B4-BE49-F238E27FC236}">
                <a16:creationId xmlns:a16="http://schemas.microsoft.com/office/drawing/2014/main" id="{65CA672A-9B2B-485A-95A1-B2260D4F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4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Average 2.32 ms   ｜   P99 = Max = 80 ms</a:t>
            </a:r>
          </a:p>
        </p:txBody>
      </p:sp>
      <p:sp>
        <p:nvSpPr>
          <p:cNvPr id="79" name="practice-task-label-0805">
            <a:extLst xmlns:a="http://schemas.openxmlformats.org/drawingml/2006/main">
              <a:ext uri="{FF2B5EF4-FFF2-40B4-BE49-F238E27FC236}">
                <a16:creationId xmlns:a16="http://schemas.microsoft.com/office/drawing/2014/main" id="{013CFBB6-0D13-4328-868E-45EF42C2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0A5FA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80" name="dot-0806">
            <a:extLst xmlns:a="http://schemas.openxmlformats.org/drawingml/2006/main">
              <a:ext uri="{FF2B5EF4-FFF2-40B4-BE49-F238E27FC236}">
                <a16:creationId xmlns:a16="http://schemas.microsoft.com/office/drawing/2014/main" id="{D96A3C04-517B-424B-9BE8-66DC7FF1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81" name="bullet-0807">
            <a:extLst xmlns:a="http://schemas.openxmlformats.org/drawingml/2006/main">
              <a:ext uri="{FF2B5EF4-FFF2-40B4-BE49-F238E27FC236}">
                <a16:creationId xmlns:a16="http://schemas.microsoft.com/office/drawing/2014/main" id="{07AFAFA6-D8F3-41EA-B690-88CA5ACB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给出准确结论，并说明 P99 与 Max 的关系</a:t>
            </a:r>
          </a:p>
        </p:txBody>
      </p:sp>
      <p:sp>
        <p:nvSpPr>
          <p:cNvPr id="82" name="dot-0808">
            <a:extLst xmlns:a="http://schemas.openxmlformats.org/drawingml/2006/main">
              <a:ext uri="{FF2B5EF4-FFF2-40B4-BE49-F238E27FC236}">
                <a16:creationId xmlns:a16="http://schemas.microsoft.com/office/drawing/2014/main" id="{73812EB4-C5EA-4540-AC53-89146CB0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482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9525">
            <a:solidFill>
              <a:srgbClr val="3B82F6"/>
            </a:solidFill>
            <a:prstDash val="solid"/>
          </a:ln>
        </p:spPr>
      </p:sp>
      <p:sp>
        <p:nvSpPr>
          <p:cNvPr id="83" name="bullet-0809">
            <a:extLst xmlns:a="http://schemas.openxmlformats.org/drawingml/2006/main">
              <a:ext uri="{FF2B5EF4-FFF2-40B4-BE49-F238E27FC236}">
                <a16:creationId xmlns:a16="http://schemas.microsoft.com/office/drawing/2014/main" id="{60D6626C-BAAE-4B5B-B0F8-165AB83A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提出首要治理动作</a:t>
            </a:r>
          </a:p>
        </p:txBody>
      </p:sp>
      <p:sp>
        <p:nvSpPr>
          <p:cNvPr id="84" name="pill-0810">
            <a:extLst xmlns:a="http://schemas.openxmlformats.org/drawingml/2006/main">
              <a:ext uri="{FF2B5EF4-FFF2-40B4-BE49-F238E27FC236}">
                <a16:creationId xmlns:a16="http://schemas.microsoft.com/office/drawing/2014/main" id="{204B8E4E-C553-42F1-84B0-A4DFE8B7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895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1642"/>
          </a:solidFill>
          <a:ln xmlns:a="http://schemas.openxmlformats.org/drawingml/2006/main" w="11430">
            <a:solidFill>
              <a:srgbClr val="A78BFA"/>
            </a:solidFill>
            <a:prstDash val="solid"/>
          </a:ln>
        </p:spPr>
      </p:sp>
      <p:sp>
        <p:nvSpPr>
          <p:cNvPr id="85" name="pill-label-0811">
            <a:extLst xmlns:a="http://schemas.openxmlformats.org/drawingml/2006/main">
              <a:ext uri="{FF2B5EF4-FFF2-40B4-BE49-F238E27FC236}">
                <a16:creationId xmlns:a16="http://schemas.microsoft.com/office/drawing/2014/main" id="{C5934F4C-3721-4167-A856-24241A76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47800"/>
            <a:ext cx="742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练习 2</a:t>
            </a:r>
          </a:p>
        </p:txBody>
      </p:sp>
      <p:sp>
        <p:nvSpPr>
          <p:cNvPr id="86" name="practice-title-0812">
            <a:extLst xmlns:a="http://schemas.openxmlformats.org/drawingml/2006/main">
              <a:ext uri="{FF2B5EF4-FFF2-40B4-BE49-F238E27FC236}">
                <a16:creationId xmlns:a16="http://schemas.microsoft.com/office/drawing/2014/main" id="{D9A95A83-83A7-4C01-8F1D-C69841C5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28750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单 Shard 热点与非 EXEC 区间</a:t>
            </a:r>
          </a:p>
        </p:txBody>
      </p:sp>
      <p:sp>
        <p:nvSpPr>
          <p:cNvPr id="87" name="practice-description-0813">
            <a:extLst xmlns:a="http://schemas.openxmlformats.org/drawingml/2006/main">
              <a:ext uri="{FF2B5EF4-FFF2-40B4-BE49-F238E27FC236}">
                <a16:creationId xmlns:a16="http://schemas.microsoft.com/office/drawing/2014/main" id="{841ACF28-5B32-4780-B50B-DAE23672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活动后部分请求间歇性变慢；总 QPS +20%，集群平均 CPU 45%。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Shard 7 进入 QPS 是其他 Shard 的 7 倍。</a:t>
            </a:r>
          </a:p>
        </p:txBody>
      </p:sp>
      <p:sp>
        <p:nvSpPr>
          <p:cNvPr id="88" name="practice-heat-title-0814">
            <a:extLst xmlns:a="http://schemas.openxmlformats.org/drawingml/2006/main">
              <a:ext uri="{FF2B5EF4-FFF2-40B4-BE49-F238E27FC236}">
                <a16:creationId xmlns:a16="http://schemas.microsoft.com/office/drawing/2014/main" id="{9C7F87DE-9595-4955-A753-C2D5E087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4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Proxy × Shard 阶段二 P99</a:t>
            </a:r>
          </a:p>
        </p:txBody>
      </p:sp>
      <p:sp>
        <p:nvSpPr>
          <p:cNvPr id="89" name="practice-heat-cell-0815">
            <a:extLst xmlns:a="http://schemas.openxmlformats.org/drawingml/2006/main">
              <a:ext uri="{FF2B5EF4-FFF2-40B4-BE49-F238E27FC236}">
                <a16:creationId xmlns:a16="http://schemas.microsoft.com/office/drawing/2014/main" id="{14B7C4C3-8D2B-407B-B785-767A8C5C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90" name="practice-heat-cell-0816">
            <a:extLst xmlns:a="http://schemas.openxmlformats.org/drawingml/2006/main">
              <a:ext uri="{FF2B5EF4-FFF2-40B4-BE49-F238E27FC236}">
                <a16:creationId xmlns:a16="http://schemas.microsoft.com/office/drawing/2014/main" id="{C09F829C-0D7F-423B-9D05-998D475D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7175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91" name="practice-heat-cell-0817">
            <a:extLst xmlns:a="http://schemas.openxmlformats.org/drawingml/2006/main">
              <a:ext uri="{FF2B5EF4-FFF2-40B4-BE49-F238E27FC236}">
                <a16:creationId xmlns:a16="http://schemas.microsoft.com/office/drawing/2014/main" id="{4561C328-02FC-4F02-B617-73B2649A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92" name="practice-heat-cell-0818">
            <a:extLst xmlns:a="http://schemas.openxmlformats.org/drawingml/2006/main">
              <a:ext uri="{FF2B5EF4-FFF2-40B4-BE49-F238E27FC236}">
                <a16:creationId xmlns:a16="http://schemas.microsoft.com/office/drawing/2014/main" id="{8CA04543-B622-4A02-AF81-993B77E4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7175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93" name="practice-heat-cell-0819">
            <a:extLst xmlns:a="http://schemas.openxmlformats.org/drawingml/2006/main">
              <a:ext uri="{FF2B5EF4-FFF2-40B4-BE49-F238E27FC236}">
                <a16:creationId xmlns:a16="http://schemas.microsoft.com/office/drawing/2014/main" id="{65081588-9AF8-4A84-B099-B7586C7CD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94" name="practice-heat-cell-0820">
            <a:extLst xmlns:a="http://schemas.openxmlformats.org/drawingml/2006/main">
              <a:ext uri="{FF2B5EF4-FFF2-40B4-BE49-F238E27FC236}">
                <a16:creationId xmlns:a16="http://schemas.microsoft.com/office/drawing/2014/main" id="{BD2E9E93-5203-417D-A446-F0DBA11AE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9560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95" name="practice-heat-cell-0821">
            <a:extLst xmlns:a="http://schemas.openxmlformats.org/drawingml/2006/main">
              <a:ext uri="{FF2B5EF4-FFF2-40B4-BE49-F238E27FC236}">
                <a16:creationId xmlns:a16="http://schemas.microsoft.com/office/drawing/2014/main" id="{69027652-EBAB-4F14-9DD7-9875CD05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96" name="practice-heat-cell-0822">
            <a:extLst xmlns:a="http://schemas.openxmlformats.org/drawingml/2006/main">
              <a:ext uri="{FF2B5EF4-FFF2-40B4-BE49-F238E27FC236}">
                <a16:creationId xmlns:a16="http://schemas.microsoft.com/office/drawing/2014/main" id="{EF8DC98D-84AA-478C-9D93-389E65DF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9560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97" name="practice-heat-cell-0823">
            <a:extLst xmlns:a="http://schemas.openxmlformats.org/drawingml/2006/main">
              <a:ext uri="{FF2B5EF4-FFF2-40B4-BE49-F238E27FC236}">
                <a16:creationId xmlns:a16="http://schemas.microsoft.com/office/drawing/2014/main" id="{8080EAA6-C786-4C4E-8838-96FCB2F8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98" name="practice-heat-cell-0824">
            <a:extLst xmlns:a="http://schemas.openxmlformats.org/drawingml/2006/main">
              <a:ext uri="{FF2B5EF4-FFF2-40B4-BE49-F238E27FC236}">
                <a16:creationId xmlns:a16="http://schemas.microsoft.com/office/drawing/2014/main" id="{5E26867B-3E3F-4EC3-978C-369B0152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1945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99" name="practice-heat-cell-0825">
            <a:extLst xmlns:a="http://schemas.openxmlformats.org/drawingml/2006/main">
              <a:ext uri="{FF2B5EF4-FFF2-40B4-BE49-F238E27FC236}">
                <a16:creationId xmlns:a16="http://schemas.microsoft.com/office/drawing/2014/main" id="{6EE4475C-C15D-49FC-9A87-55119E6A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1945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100" name="practice-heat-cell-0826">
            <a:extLst xmlns:a="http://schemas.openxmlformats.org/drawingml/2006/main">
              <a:ext uri="{FF2B5EF4-FFF2-40B4-BE49-F238E27FC236}">
                <a16:creationId xmlns:a16="http://schemas.microsoft.com/office/drawing/2014/main" id="{2751B485-3F96-4738-961F-212998F0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1945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01" name="practice-heat-cell-0827">
            <a:extLst xmlns:a="http://schemas.openxmlformats.org/drawingml/2006/main">
              <a:ext uri="{FF2B5EF4-FFF2-40B4-BE49-F238E27FC236}">
                <a16:creationId xmlns:a16="http://schemas.microsoft.com/office/drawing/2014/main" id="{2B1C11BF-9297-481B-9976-109B0577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02" name="practice-heat-cell-0828">
            <a:extLst xmlns:a="http://schemas.openxmlformats.org/drawingml/2006/main">
              <a:ext uri="{FF2B5EF4-FFF2-40B4-BE49-F238E27FC236}">
                <a16:creationId xmlns:a16="http://schemas.microsoft.com/office/drawing/2014/main" id="{B0721833-7F16-4484-9484-FC9C7DA0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4330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03" name="practice-heat-cell-0829">
            <a:extLst xmlns:a="http://schemas.openxmlformats.org/drawingml/2006/main">
              <a:ext uri="{FF2B5EF4-FFF2-40B4-BE49-F238E27FC236}">
                <a16:creationId xmlns:a16="http://schemas.microsoft.com/office/drawing/2014/main" id="{762F9F6A-E938-45F0-8143-AF1F4EA4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4330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104" name="practice-heat-cell-0830">
            <a:extLst xmlns:a="http://schemas.openxmlformats.org/drawingml/2006/main">
              <a:ext uri="{FF2B5EF4-FFF2-40B4-BE49-F238E27FC236}">
                <a16:creationId xmlns:a16="http://schemas.microsoft.com/office/drawing/2014/main" id="{BECED2DD-1079-4756-A115-7CB500B3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43300"/>
            <a:ext cx="295275" cy="295275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172237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05" name="practice-heat-result-0831">
            <a:extLst xmlns:a="http://schemas.openxmlformats.org/drawingml/2006/main">
              <a:ext uri="{FF2B5EF4-FFF2-40B4-BE49-F238E27FC236}">
                <a16:creationId xmlns:a16="http://schemas.microsoft.com/office/drawing/2014/main" id="{64EC0A3B-BCF2-4316-AA9C-6AA5E9F9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62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Shard 7≈55 ms；其他≈2 ms</a:t>
            </a:r>
          </a:p>
        </p:txBody>
      </p:sp>
      <p:sp>
        <p:nvSpPr>
          <p:cNvPr id="106" name="bar-compare-title-0832">
            <a:extLst xmlns:a="http://schemas.openxmlformats.org/drawingml/2006/main">
              <a:ext uri="{FF2B5EF4-FFF2-40B4-BE49-F238E27FC236}">
                <a16:creationId xmlns:a16="http://schemas.microsoft.com/office/drawing/2014/main" id="{077D4842-30F4-4634-B5F4-18034BD3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4315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同一纵轴，并列对照</a:t>
            </a:r>
          </a:p>
        </p:txBody>
      </p:sp>
      <p:sp>
        <p:nvSpPr>
          <p:cNvPr id="107" name="bar-label-0833">
            <a:extLst xmlns:a="http://schemas.openxmlformats.org/drawingml/2006/main">
              <a:ext uri="{FF2B5EF4-FFF2-40B4-BE49-F238E27FC236}">
                <a16:creationId xmlns:a16="http://schemas.microsoft.com/office/drawing/2014/main" id="{26AA03B7-3DBF-423B-BF01-93B04292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479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TOTAL P99</a:t>
            </a:r>
          </a:p>
        </p:txBody>
      </p:sp>
      <p:sp>
        <p:nvSpPr>
          <p:cNvPr id="108" name="bar-track-0834">
            <a:extLst xmlns:a="http://schemas.openxmlformats.org/drawingml/2006/main">
              <a:ext uri="{FF2B5EF4-FFF2-40B4-BE49-F238E27FC236}">
                <a16:creationId xmlns:a16="http://schemas.microsoft.com/office/drawing/2014/main" id="{B37508EC-A5DD-4A76-A689-E329ECE0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09850"/>
            <a:ext cx="125730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B2A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09" name="bar-total-0835">
            <a:extLst xmlns:a="http://schemas.openxmlformats.org/drawingml/2006/main">
              <a:ext uri="{FF2B5EF4-FFF2-40B4-BE49-F238E27FC236}">
                <a16:creationId xmlns:a16="http://schemas.microsoft.com/office/drawing/2014/main" id="{05C633DE-5E66-4D5D-956B-D153C4F9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09850"/>
            <a:ext cx="1110615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6668">
            <a:solidFill>
              <a:srgbClr val="FBBF24"/>
            </a:solidFill>
            <a:prstDash val="solid"/>
          </a:ln>
        </p:spPr>
      </p:sp>
      <p:sp>
        <p:nvSpPr>
          <p:cNvPr id="110" name="bar-value-0836">
            <a:extLst xmlns:a="http://schemas.openxmlformats.org/drawingml/2006/main">
              <a:ext uri="{FF2B5EF4-FFF2-40B4-BE49-F238E27FC236}">
                <a16:creationId xmlns:a16="http://schemas.microsoft.com/office/drawing/2014/main" id="{D07F0E6F-947A-4E34-8D51-A2B400D9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38425"/>
            <a:ext cx="111061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53 ms</a:t>
            </a:r>
          </a:p>
        </p:txBody>
      </p:sp>
      <p:sp>
        <p:nvSpPr>
          <p:cNvPr id="111" name="bar-label-0837">
            <a:extLst xmlns:a="http://schemas.openxmlformats.org/drawingml/2006/main">
              <a:ext uri="{FF2B5EF4-FFF2-40B4-BE49-F238E27FC236}">
                <a16:creationId xmlns:a16="http://schemas.microsoft.com/office/drawing/2014/main" id="{4024F64D-C0D2-4054-8DA3-A33A99CD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861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EXEC P99</a:t>
            </a:r>
          </a:p>
        </p:txBody>
      </p:sp>
      <p:sp>
        <p:nvSpPr>
          <p:cNvPr id="112" name="bar-track-0838">
            <a:extLst xmlns:a="http://schemas.openxmlformats.org/drawingml/2006/main">
              <a:ext uri="{FF2B5EF4-FFF2-40B4-BE49-F238E27FC236}">
                <a16:creationId xmlns:a16="http://schemas.microsoft.com/office/drawing/2014/main" id="{7956203E-7B98-4A4B-A6EC-00CB1E4D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48000"/>
            <a:ext cx="1257300" cy="2667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41B2A"/>
          </a:solidFill>
          <a:ln xmlns:a="http://schemas.openxmlformats.org/drawingml/2006/main" w="6668">
            <a:solidFill>
              <a:srgbClr val="334766"/>
            </a:solidFill>
            <a:prstDash val="solid"/>
          </a:ln>
        </p:spPr>
      </p:sp>
      <p:sp>
        <p:nvSpPr>
          <p:cNvPr id="113" name="bar-exec-0839">
            <a:extLst xmlns:a="http://schemas.openxmlformats.org/drawingml/2006/main">
              <a:ext uri="{FF2B5EF4-FFF2-40B4-BE49-F238E27FC236}">
                <a16:creationId xmlns:a16="http://schemas.microsoft.com/office/drawing/2014/main" id="{F13D07D9-F355-476B-B379-1971FDE7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48000"/>
            <a:ext cx="104775" cy="2667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6668">
            <a:solidFill>
              <a:srgbClr val="A78BFA"/>
            </a:solidFill>
            <a:prstDash val="solid"/>
          </a:ln>
        </p:spPr>
      </p:sp>
      <p:sp>
        <p:nvSpPr>
          <p:cNvPr id="114" name="bar-value-0840">
            <a:extLst xmlns:a="http://schemas.openxmlformats.org/drawingml/2006/main">
              <a:ext uri="{FF2B5EF4-FFF2-40B4-BE49-F238E27FC236}">
                <a16:creationId xmlns:a16="http://schemas.microsoft.com/office/drawing/2014/main" id="{CBE4EEC3-5FCE-439F-BB4F-ABA19C03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528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5 ms</a:t>
            </a:r>
          </a:p>
        </p:txBody>
      </p:sp>
      <p:sp>
        <p:nvSpPr>
          <p:cNvPr id="115" name="exec-baseline-0841">
            <a:extLst xmlns:a="http://schemas.openxmlformats.org/drawingml/2006/main">
              <a:ext uri="{FF2B5EF4-FFF2-40B4-BE49-F238E27FC236}">
                <a16:creationId xmlns:a16="http://schemas.microsoft.com/office/drawing/2014/main" id="{C0E23CB6-8539-4861-A054-100A57F5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3855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EABC0"/>
                </a:solidFill>
                <a:latin typeface="Microsoft YaHei"/>
                <a:ea typeface="Microsoft YaHei"/>
                <a:cs typeface="Microsoft YaHei"/>
              </a:rPr>
              <a:t>EXEC 与基线接近</a:t>
            </a:r>
          </a:p>
        </p:txBody>
      </p:sp>
      <p:sp>
        <p:nvSpPr>
          <p:cNvPr id="116" name="practice-boundary-0842">
            <a:extLst xmlns:a="http://schemas.openxmlformats.org/drawingml/2006/main">
              <a:ext uri="{FF2B5EF4-FFF2-40B4-BE49-F238E27FC236}">
                <a16:creationId xmlns:a16="http://schemas.microsoft.com/office/drawing/2014/main" id="{EA4BF271-02BC-492B-9764-30D9150A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10050"/>
            <a:ext cx="5048250" cy="4191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33220A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7" name="practice-boundary-text-0843">
            <a:extLst xmlns:a="http://schemas.openxmlformats.org/drawingml/2006/main">
              <a:ext uri="{FF2B5EF4-FFF2-40B4-BE49-F238E27FC236}">
                <a16:creationId xmlns:a16="http://schemas.microsoft.com/office/drawing/2014/main" id="{B8EA5B0E-3F07-46EF-9E24-73C07A90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28625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非 EXEC 区间是重点排查方向；不能用 53 − 5 得出排队 P99</a:t>
            </a:r>
          </a:p>
        </p:txBody>
      </p:sp>
      <p:sp>
        <p:nvSpPr>
          <p:cNvPr id="118" name="practice-task-label-0844">
            <a:extLst xmlns:a="http://schemas.openxmlformats.org/drawingml/2006/main">
              <a:ext uri="{FF2B5EF4-FFF2-40B4-BE49-F238E27FC236}">
                <a16:creationId xmlns:a16="http://schemas.microsoft.com/office/drawing/2014/main" id="{B9AECBA7-0270-4C6F-8DB2-7429224D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053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A78BFA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19" name="dot-0845">
            <a:extLst xmlns:a="http://schemas.openxmlformats.org/drawingml/2006/main">
              <a:ext uri="{FF2B5EF4-FFF2-40B4-BE49-F238E27FC236}">
                <a16:creationId xmlns:a16="http://schemas.microsoft.com/office/drawing/2014/main" id="{218CA4FB-FDCB-4E94-89D0-4868F9B3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958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20" name="bullet-0846">
            <a:extLst xmlns:a="http://schemas.openxmlformats.org/drawingml/2006/main">
              <a:ext uri="{FF2B5EF4-FFF2-40B4-BE49-F238E27FC236}">
                <a16:creationId xmlns:a16="http://schemas.microsoft.com/office/drawing/2014/main" id="{613E821A-93CB-4819-8E45-AC9276B0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101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定位空间范围和异常时延区间</a:t>
            </a:r>
          </a:p>
        </p:txBody>
      </p:sp>
      <p:sp>
        <p:nvSpPr>
          <p:cNvPr id="121" name="dot-0847">
            <a:extLst xmlns:a="http://schemas.openxmlformats.org/drawingml/2006/main">
              <a:ext uri="{FF2B5EF4-FFF2-40B4-BE49-F238E27FC236}">
                <a16:creationId xmlns:a16="http://schemas.microsoft.com/office/drawing/2014/main" id="{6A5CA343-FDDB-4216-BC84-0BF6F366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00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22" name="bullet-0848">
            <a:extLst xmlns:a="http://schemas.openxmlformats.org/drawingml/2006/main">
              <a:ext uri="{FF2B5EF4-FFF2-40B4-BE49-F238E27FC236}">
                <a16:creationId xmlns:a16="http://schemas.microsoft.com/office/drawing/2014/main" id="{FD69E1E1-E2B4-4FC7-9BB5-2632A4B6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14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说明已确认 / 待验证，并给出两个后续检查项</a:t>
            </a:r>
          </a:p>
        </p:txBody>
      </p:sp>
      <p:sp>
        <p:nvSpPr>
          <p:cNvPr id="123" name="dot-0849">
            <a:extLst xmlns:a="http://schemas.openxmlformats.org/drawingml/2006/main">
              <a:ext uri="{FF2B5EF4-FFF2-40B4-BE49-F238E27FC236}">
                <a16:creationId xmlns:a16="http://schemas.microsoft.com/office/drawing/2014/main" id="{6FE13605-5D47-40A9-922F-FD9241A9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05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24" name="bullet-0850">
            <a:extLst xmlns:a="http://schemas.openxmlformats.org/drawingml/2006/main">
              <a:ext uri="{FF2B5EF4-FFF2-40B4-BE49-F238E27FC236}">
                <a16:creationId xmlns:a16="http://schemas.microsoft.com/office/drawing/2014/main" id="{BD52EAD9-FE35-4D01-809C-C6FD1C2B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619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AF0FA"/>
                </a:solidFill>
                <a:latin typeface="Microsoft YaHei"/>
                <a:ea typeface="Microsoft YaHei"/>
                <a:cs typeface="Microsoft YaHei"/>
              </a:rPr>
              <a:t>用客户可理解的语言给出一句结论</a:t>
            </a:r>
          </a:p>
        </p:txBody>
      </p:sp>
      <p:sp>
        <p:nvSpPr>
          <p:cNvPr id="125" name="practice-flow-0851">
            <a:extLst xmlns:a="http://schemas.openxmlformats.org/drawingml/2006/main">
              <a:ext uri="{FF2B5EF4-FFF2-40B4-BE49-F238E27FC236}">
                <a16:creationId xmlns:a16="http://schemas.microsoft.com/office/drawing/2014/main" id="{47DDEC38-8786-4939-9803-C209BCF3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076950"/>
            <a:ext cx="6743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2B25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26" name="practice-flow-text-0852">
            <a:extLst xmlns:a="http://schemas.openxmlformats.org/drawingml/2006/main">
              <a:ext uri="{FF2B5EF4-FFF2-40B4-BE49-F238E27FC236}">
                <a16:creationId xmlns:a16="http://schemas.microsoft.com/office/drawing/2014/main" id="{A8FAE800-2EE0-4BC7-BAFA-7F9DBF11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6115050"/>
            <a:ext cx="6400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分段  →  定范围  →  验证原因  →  处理复测</a:t>
            </a:r>
          </a:p>
        </p:txBody>
      </p:sp>
    </p:spTree>
    <p:extLst>
      <p:ext uri="{BB962C8B-B14F-4D97-AF65-F5344CB8AC3E}">
        <p14:creationId xmlns:p14="http://schemas.microsoft.com/office/powerpoint/2010/main" val="2637911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2026-07-21T07:55:30.5410000Z</dcterms:created>
  <dcterms:modified xsi:type="dcterms:W3CDTF">2026-07-21T07:55:30.5410000Z</dcterms:modified>
</coreProperties>
</file>